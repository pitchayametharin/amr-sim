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ecf025ec75b4d78" /><Relationship Type="http://schemas.openxmlformats.org/officeDocument/2006/relationships/extended-properties" Target="/docProps/app.xml" Id="Rf4fe0bfec8a14f09" /><Relationship Type="http://schemas.openxmlformats.org/officeDocument/2006/relationships/officeDocument" Target="/ppt/presentation.xml" Id="Rfa0054d326514a0e" /></Relationships>
</file>

<file path=ppt/presentation.xml><?xml version="1.0" encoding="utf-8"?>
<p:presentation xmlns:p="http://schemas.openxmlformats.org/presentationml/2006/main">
  <p:sldMasterIdLst>
    <p:sldMasterId xmlns:r="http://schemas.openxmlformats.org/officeDocument/2006/relationships" id="2147483648" r:id="Rab5932a396e648cb"/>
  </p:sldMasterIdLst>
  <p:notesMasterIdLst>
    <p:notesMasterId xmlns:r="http://schemas.openxmlformats.org/officeDocument/2006/relationships" r:id="Rb81543ac719644c5"/>
  </p:notesMasterIdLst>
  <p:sldIdLst>
    <p:sldId xmlns:r="http://schemas.openxmlformats.org/officeDocument/2006/relationships" id="256" r:id="R66e23a32f7e140a8"/>
    <p:sldId xmlns:r="http://schemas.openxmlformats.org/officeDocument/2006/relationships" id="257" r:id="Rf6d7017aa29d4336"/>
    <p:sldId xmlns:r="http://schemas.openxmlformats.org/officeDocument/2006/relationships" id="258" r:id="Rf4defa3178b04963"/>
    <p:sldId xmlns:r="http://schemas.openxmlformats.org/officeDocument/2006/relationships" id="259" r:id="R8b9e2c8a73124b5a"/>
    <p:sldId xmlns:r="http://schemas.openxmlformats.org/officeDocument/2006/relationships" id="260" r:id="R662d91bda3c24542"/>
    <p:sldId xmlns:r="http://schemas.openxmlformats.org/officeDocument/2006/relationships" id="261" r:id="Rfaec0184e1c54825"/>
    <p:sldId xmlns:r="http://schemas.openxmlformats.org/officeDocument/2006/relationships" id="262" r:id="R79c292539ea34b0d"/>
    <p:sldId xmlns:r="http://schemas.openxmlformats.org/officeDocument/2006/relationships" id="263" r:id="R941b8b9e71e94302"/>
    <p:sldId xmlns:r="http://schemas.openxmlformats.org/officeDocument/2006/relationships" id="264" r:id="R6303b568304d4f3e"/>
    <p:sldId xmlns:r="http://schemas.openxmlformats.org/officeDocument/2006/relationships" id="265" r:id="R07236d4e145a45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385cb29ef5f42f3" /><Relationship Type="http://schemas.openxmlformats.org/officeDocument/2006/relationships/slideMaster" Target="/ppt/slideMasters/slideMaster1.xml" Id="Rab5932a396e648cb" /><Relationship Type="http://schemas.openxmlformats.org/officeDocument/2006/relationships/notesMaster" Target="/ppt/notesMasters/notesMaster1.xml" Id="Rb81543ac719644c5" /><Relationship Type="http://schemas.openxmlformats.org/officeDocument/2006/relationships/presProps" Target="/ppt/presProps.xml" Id="R9627b3d589f64d07" /><Relationship Type="http://schemas.openxmlformats.org/officeDocument/2006/relationships/tableStyles" Target="/ppt/tableStyles.xml" Id="Ra97a3af6ae994ae8" /><Relationship Type="http://schemas.openxmlformats.org/officeDocument/2006/relationships/slide" Target="/ppt/slides/slide1.xml" Id="R66e23a32f7e140a8" /><Relationship Type="http://schemas.openxmlformats.org/officeDocument/2006/relationships/slide" Target="/ppt/slides/slide2.xml" Id="Rf6d7017aa29d4336" /><Relationship Type="http://schemas.openxmlformats.org/officeDocument/2006/relationships/slide" Target="/ppt/slides/slide3.xml" Id="Rf4defa3178b04963" /><Relationship Type="http://schemas.openxmlformats.org/officeDocument/2006/relationships/slide" Target="/ppt/slides/slide4.xml" Id="R8b9e2c8a73124b5a" /><Relationship Type="http://schemas.openxmlformats.org/officeDocument/2006/relationships/slide" Target="/ppt/slides/slide5.xml" Id="R662d91bda3c24542" /><Relationship Type="http://schemas.openxmlformats.org/officeDocument/2006/relationships/slide" Target="/ppt/slides/slide6.xml" Id="Rfaec0184e1c54825" /><Relationship Type="http://schemas.openxmlformats.org/officeDocument/2006/relationships/slide" Target="/ppt/slides/slide7.xml" Id="R79c292539ea34b0d" /><Relationship Type="http://schemas.openxmlformats.org/officeDocument/2006/relationships/slide" Target="/ppt/slides/slide8.xml" Id="R941b8b9e71e94302" /><Relationship Type="http://schemas.openxmlformats.org/officeDocument/2006/relationships/slide" Target="/ppt/slides/slide9.xml" Id="R6303b568304d4f3e" /><Relationship Type="http://schemas.openxmlformats.org/officeDocument/2006/relationships/slide" Target="/ppt/slides/slide10.xml" Id="R07236d4e145a45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21c90f88e74d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329a9751e342af" /><Relationship Type="http://schemas.openxmlformats.org/officeDocument/2006/relationships/notesMaster" Target="/ppt/notesMasters/notesMaster1.xml" Id="R2094dc444c284b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dd029034654add" /><Relationship Type="http://schemas.openxmlformats.org/officeDocument/2006/relationships/notesMaster" Target="/ppt/notesMasters/notesMaster1.xml" Id="Rf74754339c3949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cc30a6f49054744" /><Relationship Type="http://schemas.openxmlformats.org/officeDocument/2006/relationships/notesMaster" Target="/ppt/notesMasters/notesMaster1.xml" Id="R17fd01b9b8bf44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065c60a15d4b7d" /><Relationship Type="http://schemas.openxmlformats.org/officeDocument/2006/relationships/notesMaster" Target="/ppt/notesMasters/notesMaster1.xml" Id="R8c4762ee337d4d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fa210ea5ad749df" /><Relationship Type="http://schemas.openxmlformats.org/officeDocument/2006/relationships/notesMaster" Target="/ppt/notesMasters/notesMaster1.xml" Id="R7f7404623a644b4d"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d27d5b1a5c494b" /><Relationship Type="http://schemas.openxmlformats.org/officeDocument/2006/relationships/notesMaster" Target="/ppt/notesMasters/notesMaster1.xml" Id="R56188bc8aaa649d1"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45eaf56ccf4ed9" /><Relationship Type="http://schemas.openxmlformats.org/officeDocument/2006/relationships/notesMaster" Target="/ppt/notesMasters/notesMaster1.xml" Id="R031486cbe6c4459d" /></Relationships>
</file>

<file path=ppt/notesSlides/_rels/notesSlide8.xml.rels>&#65279;<?xml version="1.0" encoding="utf-8"?><Relationships xmlns="http://schemas.openxmlformats.org/package/2006/relationships"><Relationship Type="http://schemas.openxmlformats.org/officeDocument/2006/relationships/slide" Target="/ppt/slides/slide8.xml" Id="R184c8e0ebe894a64" /><Relationship Type="http://schemas.openxmlformats.org/officeDocument/2006/relationships/notesMaster" Target="/ppt/notesMasters/notesMaster1.xml" Id="R35955e8aebca41b8" /></Relationships>
</file>

<file path=ppt/notesSlides/_rels/notesSlide9.xml.rels>&#65279;<?xml version="1.0" encoding="utf-8"?><Relationships xmlns="http://schemas.openxmlformats.org/package/2006/relationships"><Relationship Type="http://schemas.openxmlformats.org/officeDocument/2006/relationships/slide" Target="/ppt/slides/slide9.xml" Id="R2c76a302e43d495c" /><Relationship Type="http://schemas.openxmlformats.org/officeDocument/2006/relationships/notesMaster" Target="/ppt/notesMasters/notesMaster1.xml" Id="R7c2162c922a24a1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a8912d932dc4409" /><Relationship Type="http://schemas.openxmlformats.org/officeDocument/2006/relationships/notesMaster" Target="/ppt/notesMasters/notesMaster1.xml" Id="Rab3a3984206d49a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defining the software scope. The project uses ROS 2 as a typed distributed graph. Navigation and manipulation request work, while one gated command path decides whether base motion reaches the simulator. Hardware and mechanical design are outside this presentation.</a:t>
            </a:r>
          </a:p>
          <a:p xmlns:a="http://schemas.openxmlformats.org/drawingml/2006/main">
            <a:r>
              <a:t/>
            </a:r>
          </a:p>
          <a:p xmlns:a="http://schemas.openxmlformats.org/drawingml/2006/main">
            <a:r>
              <a:t>Sources:</a:t>
            </a:r>
          </a:p>
          <a:p xmlns:a="http://schemas.openxmlformats.org/drawingml/2006/main">
            <a:r>
              <a:t>- docs/ROS2_SOFTWARE_PRESENTATION_REPORT.md</a:t>
            </a:r>
          </a:p>
          <a:p xmlns:a="http://schemas.openxmlformats.org/drawingml/2006/main">
            <a:r>
              <a:t>- src/README.md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layers to connect package names to responsibilities. Packages either define project code and interfaces or configure external ROS 2 components. The orphan amr_machine_controller source has no package manifest or CMake entry, so it does not belong to the active graph.</a:t>
            </a:r>
          </a:p>
          <a:p xmlns:a="http://schemas.openxmlformats.org/drawingml/2006/main">
            <a:r>
              <a:t/>
            </a:r>
          </a:p>
          <a:p xmlns:a="http://schemas.openxmlformats.org/drawingml/2006/main">
            <a:r>
              <a:t>Sources:</a:t>
            </a:r>
          </a:p>
          <a:p xmlns:a="http://schemas.openxmlformats.org/drawingml/2006/main">
            <a:r>
              <a:t>- src/README.md</a:t>
            </a:r>
          </a:p>
          <a:p xmlns:a="http://schemas.openxmlformats.org/drawingml/2006/main">
            <a:r>
              <a:t>- src/amr_bringup/config/interface_ownership.yaml</a:t>
            </a:r>
          </a:p>
          <a:p xmlns:a="http://schemas.openxmlformats.org/drawingml/2006/main">
            <a:r>
              <a:t>- docs/ROS2_SOFTWARE_PRESENTATION_REPORT.md sections 4, 5, and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the project uses each interface style. Topics carry streams, services handle short requests, and actions retain state for long-running work. DDS matches endpoint names and types, while QoS controls reliability, durability, queue depth, deadline and lifespan. Status messages also carry boot IDs, sequences and validity so consumers can reject stale evidence.</a:t>
            </a:r>
          </a:p>
          <a:p xmlns:a="http://schemas.openxmlformats.org/drawingml/2006/main">
            <a:r>
              <a:t/>
            </a:r>
          </a:p>
          <a:p xmlns:a="http://schemas.openxmlformats.org/drawingml/2006/main">
            <a:r>
              <a:t>Sources:</a:t>
            </a:r>
          </a:p>
          <a:p xmlns:a="http://schemas.openxmlformats.org/drawingml/2006/main">
            <a:r>
              <a:t>- src/amr_interfaces</a:t>
            </a:r>
          </a:p>
          <a:p xmlns:a="http://schemas.openxmlformats.org/drawingml/2006/main">
            <a:r>
              <a:t>- src/amr_interfaces/include/amr_interfaces/qos_profiles.hpp</a:t>
            </a:r>
          </a:p>
          <a:p xmlns:a="http://schemas.openxmlformats.org/drawingml/2006/main">
            <a:r>
              <a:t>- src/amr_bringup/config/interface_ownership.yaml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Gazebo publishes native simulation endpoints. ros_gz_bridge converts them into ROS 2 messages. The project adapters then create stable names under /amr so downstream nodes do not depend on the simulator's native names. RViz2 subscribes to graph data for inspection and has no accepted velocity authority.</a:t>
            </a:r>
          </a:p>
          <a:p xmlns:a="http://schemas.openxmlformats.org/drawingml/2006/main">
            <a:r>
              <a:t/>
            </a:r>
          </a:p>
          <a:p xmlns:a="http://schemas.openxmlformats.org/drawingml/2006/main">
            <a:r>
              <a:t>Sources:</a:t>
            </a:r>
          </a:p>
          <a:p xmlns:a="http://schemas.openxmlformats.org/drawingml/2006/main">
            <a:r>
              <a:t>- src/amr_simulation/launch/amr_simulation.launch.py</a:t>
            </a:r>
          </a:p>
          <a:p xmlns:a="http://schemas.openxmlformats.org/drawingml/2006/main">
            <a:r>
              <a:t>- src/amr_simulation/rviz/sensors.rviz</a:t>
            </a:r>
          </a:p>
          <a:p xmlns:a="http://schemas.openxmlformats.org/drawingml/2006/main">
            <a:r>
              <a:t>- src/amr_sensor_adapters</a:t>
            </a:r>
          </a:p>
          <a:p xmlns:a="http://schemas.openxmlformats.org/drawingml/2006/main">
            <a:r>
              <a:t>- src/amr_factory/launch/factory_localization.launch.py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Wheel odometry integrates named wheel joint positions, while the EKF fuses wheel velocity and IMU information. The EKF is the only owner of odom to base_footprint. Mapping mode uses SLAM Toolbox for map to odom; factory localization uses AMCL. robot_state_publisher creates the fixed body and sensor tree from URDF.</a:t>
            </a:r>
          </a:p>
          <a:p xmlns:a="http://schemas.openxmlformats.org/drawingml/2006/main">
            <a:r>
              <a:t/>
            </a:r>
          </a:p>
          <a:p xmlns:a="http://schemas.openxmlformats.org/drawingml/2006/main">
            <a:r>
              <a:t>Sources:</a:t>
            </a:r>
          </a:p>
          <a:p xmlns:a="http://schemas.openxmlformats.org/drawingml/2006/main">
            <a:r>
              <a:t>- src/amr_localization/src/wheel_odometry_node.cpp</a:t>
            </a:r>
          </a:p>
          <a:p xmlns:a="http://schemas.openxmlformats.org/drawingml/2006/main">
            <a:r>
              <a:t>- src/amr_localization/config/ekf.yaml</a:t>
            </a:r>
          </a:p>
          <a:p xmlns:a="http://schemas.openxmlformats.org/drawingml/2006/main">
            <a:r>
              <a:t>- src/amr_description/urdf/amr.urdf.xacro</a:t>
            </a:r>
          </a:p>
          <a:p xmlns:a="http://schemas.openxmlformats.org/drawingml/2006/main">
            <a:r>
              <a:t>- src/amr_bringup/config/interface_ownership.yaml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mission supervisor exposes the project navigation actions and coordinates Nav2 clients. NavFn computes the path, Simple Smoother refines it, and RPP produces the upstream Twist request. Costmaps combine the map, robot footprint and front/rear perception data. This is a request path, not the final authority path.</a:t>
            </a:r>
          </a:p>
          <a:p xmlns:a="http://schemas.openxmlformats.org/drawingml/2006/main">
            <a:r>
              <a:t/>
            </a:r>
          </a:p>
          <a:p xmlns:a="http://schemas.openxmlformats.org/drawingml/2006/main">
            <a:r>
              <a:t>Sources:</a:t>
            </a:r>
          </a:p>
          <a:p xmlns:a="http://schemas.openxmlformats.org/drawingml/2006/main">
            <a:r>
              <a:t>- src/amr_mission/src/mission_supervisor_node.cpp</a:t>
            </a:r>
          </a:p>
          <a:p xmlns:a="http://schemas.openxmlformats.org/drawingml/2006/main">
            <a:r>
              <a:t>- src/amr_navigation/config/planner.yaml</a:t>
            </a:r>
          </a:p>
          <a:p xmlns:a="http://schemas.openxmlformats.org/drawingml/2006/main">
            <a:r>
              <a:t>- src/amr_mpc_controller/config/controller.yaml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factory supervisor loads the product and station registries, validates them and owns the high-level action results. Navigation reaches stations through the mission boundary. The cycle supervisor coordinates the manipulation stage, and MoveIt plans arm trajectories. Evidence gates prevent a cycle from accepting inconsistent tag, contact, pose or attachment data.</a:t>
            </a:r>
          </a:p>
          <a:p xmlns:a="http://schemas.openxmlformats.org/drawingml/2006/main">
            <a:r>
              <a:t/>
            </a:r>
          </a:p>
          <a:p xmlns:a="http://schemas.openxmlformats.org/drawingml/2006/main">
            <a:r>
              <a:t>Sources:</a:t>
            </a:r>
          </a:p>
          <a:p xmlns:a="http://schemas.openxmlformats.org/drawingml/2006/main">
            <a:r>
              <a:t>- src/amr_factory/src/factory_supervisor_node.cpp</a:t>
            </a:r>
          </a:p>
          <a:p xmlns:a="http://schemas.openxmlformats.org/drawingml/2006/main">
            <a:r>
              <a:t>- src/amr_factory/config/products.yaml</a:t>
            </a:r>
          </a:p>
          <a:p xmlns:a="http://schemas.openxmlformats.org/drawingml/2006/main">
            <a:r>
              <a:t>- src/amr_factory/config/stations.yaml</a:t>
            </a:r>
          </a:p>
          <a:p xmlns:a="http://schemas.openxmlformats.org/drawingml/2006/main">
            <a:r>
              <a:t>- src/amr_manipulation/scripts/cycle_manipulation_supervisor.py</a:t>
            </a:r>
          </a:p>
          <a:p xmlns:a="http://schemas.openxmlformats.org/drawingml/2006/main">
            <a:r>
              <a:t>- src/amr_manipulation/launch/move_group.launch.py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planning from authority. Nav2 publishes an upstream request. The arbitration node checks freshness, semantics, interlocks and rate limits, then publishes the only project-owned accepted base velocity. The base adapter performs another finite and planar check. The Gazebo watchdog provides independent native command expiry. Health status only reports observations and cannot enable motion.</a:t>
            </a:r>
          </a:p>
          <a:p xmlns:a="http://schemas.openxmlformats.org/drawingml/2006/main">
            <a:r>
              <a:t/>
            </a:r>
          </a:p>
          <a:p xmlns:a="http://schemas.openxmlformats.org/drawingml/2006/main">
            <a:r>
              <a:t>Sources:</a:t>
            </a:r>
          </a:p>
          <a:p xmlns:a="http://schemas.openxmlformats.org/drawingml/2006/main">
            <a:r>
              <a:t>- src/amr_control/src/command_arbitration_node.cpp</a:t>
            </a:r>
          </a:p>
          <a:p xmlns:a="http://schemas.openxmlformats.org/drawingml/2006/main">
            <a:r>
              <a:t>- src/amr_base_adapter/src/base_adapter_node.cpp</a:t>
            </a:r>
          </a:p>
          <a:p xmlns:a="http://schemas.openxmlformats.org/drawingml/2006/main">
            <a:r>
              <a:t>- src/amr_simulation/src/command_watchdog_system.cpp</a:t>
            </a:r>
          </a:p>
          <a:p xmlns:a="http://schemas.openxmlformats.org/drawingml/2006/main">
            <a:r>
              <a:t>- src/amr_interfaces/include/amr_interfaces/qos_profiles.hpp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each equation to a software component. Differential-drive midpoint integration produces wheel odometry. Costmap resolution determines memory geometry and inflation width. RPP scales lookahead with speed. The arbitration timer and acceleration limit determine the nominal per-tick command change. These are explanatory calculations from current parameters, not new thresholds.</a:t>
            </a:r>
          </a:p>
          <a:p xmlns:a="http://schemas.openxmlformats.org/drawingml/2006/main">
            <a:r>
              <a:t/>
            </a:r>
          </a:p>
          <a:p xmlns:a="http://schemas.openxmlformats.org/drawingml/2006/main">
            <a:r>
              <a:t>Sources:</a:t>
            </a:r>
          </a:p>
          <a:p xmlns:a="http://schemas.openxmlformats.org/drawingml/2006/main">
            <a:r>
              <a:t>- src/amr_localization/include/amr_localization/diff_drive.hpp</a:t>
            </a:r>
          </a:p>
          <a:p xmlns:a="http://schemas.openxmlformats.org/drawingml/2006/main">
            <a:r>
              <a:t>- src/amr_navigation/config/planner.yaml</a:t>
            </a:r>
          </a:p>
          <a:p xmlns:a="http://schemas.openxmlformats.org/drawingml/2006/main">
            <a:r>
              <a:t>- src/amr_mpc_controller/config/controller.yaml</a:t>
            </a:r>
          </a:p>
          <a:p xmlns:a="http://schemas.openxmlformats.org/drawingml/2006/main">
            <a:r>
              <a:t>- src/amr_control/src/command_arbitration_node.cpp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distinguishing implementation from runtime proof. The source tree contains the architecture and current Product 101/102 factory scope. Phase 15 still needs a fresh runtime mapping run, per-edge TF evidence, map-quality acceptance and explicit promotion. The ownership registry also needs the source-defined retreat action. Do not claim hardware or functional-safety acceptance.</a:t>
            </a:r>
          </a:p>
          <a:p xmlns:a="http://schemas.openxmlformats.org/drawingml/2006/main">
            <a:r>
              <a:t/>
            </a:r>
          </a:p>
          <a:p xmlns:a="http://schemas.openxmlformats.org/drawingml/2006/main">
            <a:r>
              <a:t>Sources:</a:t>
            </a:r>
          </a:p>
          <a:p xmlns:a="http://schemas.openxmlformats.org/drawingml/2006/main">
            <a:r>
              <a:t>- SESSION_HANDOFF.md</a:t>
            </a:r>
          </a:p>
          <a:p xmlns:a="http://schemas.openxmlformats.org/drawingml/2006/main">
            <a:r>
              <a:t>- docs/PHASE_15_FACTORY_SLAM_COMMISSIONING.md</a:t>
            </a:r>
          </a:p>
          <a:p xmlns:a="http://schemas.openxmlformats.org/drawingml/2006/main">
            <a:r>
              <a:t>- src/amr_bringup/config/interface_ownership.yaml</a:t>
            </a:r>
          </a:p>
          <a:p xmlns:a="http://schemas.openxmlformats.org/drawingml/2006/main">
            <a:r>
              <a:t>- src/amr_mission/src/mission_supervisor_node.cpp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02c943bc3546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726bb7471348fa" /><Relationship Type="http://schemas.openxmlformats.org/officeDocument/2006/relationships/slideLayout" Target="/ppt/slideLayouts/slideLayout1.xml" Id="R86c35b15434643e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c35b15434643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fde926d508646e1" /><Relationship Type="http://schemas.openxmlformats.org/officeDocument/2006/relationships/notesSlide" Target="/ppt/notesSlides/notesSlide1.xml" Id="R2017132444f34b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f4bbbb5a116499e" /><Relationship Type="http://schemas.openxmlformats.org/officeDocument/2006/relationships/notesSlide" Target="/ppt/notesSlides/notesSlide2.xml" Id="Rdea7dc3924844c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b1cc996030472c" /><Relationship Type="http://schemas.openxmlformats.org/officeDocument/2006/relationships/notesSlide" Target="/ppt/notesSlides/notesSlide3.xml" Id="R261c6c86bc3f43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d7aeadb9c0844f5" /><Relationship Type="http://schemas.openxmlformats.org/officeDocument/2006/relationships/notesSlide" Target="/ppt/notesSlides/notesSlide4.xml" Id="R682d19ceaa1b48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d1c813fb14248a9" /><Relationship Type="http://schemas.openxmlformats.org/officeDocument/2006/relationships/notesSlide" Target="/ppt/notesSlides/notesSlide5.xml" Id="Rb70917ad4a2a43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5a3275fb85f4f76" /><Relationship Type="http://schemas.openxmlformats.org/officeDocument/2006/relationships/notesSlide" Target="/ppt/notesSlides/notesSlide6.xml" Id="Rb167208c1a6f41e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1563a4852d944db" /><Relationship Type="http://schemas.openxmlformats.org/officeDocument/2006/relationships/notesSlide" Target="/ppt/notesSlides/notesSlide7.xml" Id="Rae2b503a221e43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0600eb973bd4214" /><Relationship Type="http://schemas.openxmlformats.org/officeDocument/2006/relationships/notesSlide" Target="/ppt/notesSlides/notesSlide8.xml" Id="Ra902df6d2a7a47b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a7423c1c6e84b35" /><Relationship Type="http://schemas.openxmlformats.org/officeDocument/2006/relationships/notesSlide" Target="/ppt/notesSlides/notesSlide9.xml" Id="Rbc521380fee24fe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60d2c9200304aa2" /><Relationship Type="http://schemas.openxmlformats.org/officeDocument/2006/relationships/notesSlide" Target="/ppt/notesSlides/notesSlide10.xml" Id="R1b2c41655a9e4de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6A759F5-7CE8-4A8F-8A12-509F500E221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EEDDAEC-ACED-46E0-9CFF-A080BE520700}"/>
              </a:ext>
            </a:extLst>
          </p:cNvPr>
          <p:cNvSpPr>
            <a:spLocks xmlns:a="http://schemas.openxmlformats.org/drawingml/2006/main" noGrp="1"/>
          </p:cNvSpPr>
          <p:nvPr/>
        </p:nvSpPr>
        <p:spPr>
          <a:xfrm xmlns:a="http://schemas.openxmlformats.org/drawingml/2006/main">
            <a:off x="876300" y="1000125"/>
            <a:ext cx="971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4350" b="1">
                <a:solidFill>
                  <a:srgbClr val="102A43"/>
                </a:solidFill>
                <a:latin typeface="DejaVu Sans"/>
                <a:ea typeface="DejaVu Sans"/>
                <a:cs typeface="DejaVu Sans"/>
              </a:defRPr>
            </a:pPr>
            <a:r>
              <a:rPr sz="4350" b="1">
                <a:solidFill>
                  <a:srgbClr val="102A43"/>
                </a:solidFill>
                <a:latin typeface="DejaVu Sans"/>
                <a:ea typeface="DejaVu Sans"/>
                <a:cs typeface="DejaVu Sans"/>
              </a:rPr>
              <a:t>ROS 2 Software Architecture</a:t>
            </a:r>
          </a:p>
        </p:txBody>
      </p:sp>
      <p:sp>
        <p:nvSpPr>
          <p:cNvPr id="3" name="">
            <a:extLst xmlns:a="http://schemas.openxmlformats.org/drawingml/2006/main">
              <a:ext uri="{FF2B5EF4-FFF2-40B4-BE49-F238E27FC236}">
                <a16:creationId xmlns:a16="http://schemas.microsoft.com/office/drawing/2014/main" id="{6C9D1868-9B61-4C03-AFE5-C20C84560167}"/>
              </a:ext>
            </a:extLst>
          </p:cNvPr>
          <p:cNvSpPr>
            <a:spLocks xmlns:a="http://schemas.openxmlformats.org/drawingml/2006/main" noGrp="1"/>
          </p:cNvSpPr>
          <p:nvPr/>
        </p:nvSpPr>
        <p:spPr>
          <a:xfrm xmlns:a="http://schemas.openxmlformats.org/drawingml/2006/main">
            <a:off x="914400" y="195262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2100" b="0">
                <a:solidFill>
                  <a:srgbClr val="0077B6"/>
                </a:solidFill>
                <a:latin typeface="DejaVu Sans"/>
                <a:ea typeface="DejaVu Sans"/>
                <a:cs typeface="DejaVu Sans"/>
              </a:defRPr>
            </a:pPr>
            <a:r>
              <a:rPr sz="2100" b="0">
                <a:solidFill>
                  <a:srgbClr val="0077B6"/>
                </a:solidFill>
                <a:latin typeface="DejaVu Sans"/>
                <a:ea typeface="DejaVu Sans"/>
                <a:cs typeface="DejaVu Sans"/>
              </a:rPr>
              <a:t>Autonomous mobile manipulator software stack</a:t>
            </a:r>
          </a:p>
        </p:txBody>
      </p:sp>
      <p:sp>
        <p:nvSpPr>
          <p:cNvPr id="4" name="">
            <a:extLst xmlns:a="http://schemas.openxmlformats.org/drawingml/2006/main">
              <a:ext uri="{FF2B5EF4-FFF2-40B4-BE49-F238E27FC236}">
                <a16:creationId xmlns:a16="http://schemas.microsoft.com/office/drawing/2014/main" id="{8EA09DE1-B519-4468-B65A-F978A466B542}"/>
              </a:ext>
            </a:extLst>
          </p:cNvPr>
          <p:cNvSpPr>
            <a:spLocks xmlns:a="http://schemas.openxmlformats.org/drawingml/2006/main" noGrp="1"/>
          </p:cNvSpPr>
          <p:nvPr/>
        </p:nvSpPr>
        <p:spPr>
          <a:xfrm xmlns:a="http://schemas.openxmlformats.org/drawingml/2006/main">
            <a:off x="914400" y="2571750"/>
            <a:ext cx="885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725" b="0">
                <a:solidFill>
                  <a:srgbClr val="334E68"/>
                </a:solidFill>
                <a:latin typeface="DejaVu Sans"/>
                <a:ea typeface="DejaVu Sans"/>
                <a:cs typeface="DejaVu Sans"/>
              </a:defRPr>
            </a:pPr>
            <a:r>
              <a:rPr sz="1725" b="0">
                <a:solidFill>
                  <a:srgbClr val="334E68"/>
                </a:solidFill>
                <a:latin typeface="DejaVu Sans"/>
                <a:ea typeface="DejaVu Sans"/>
                <a:cs typeface="DejaVu Sans"/>
              </a:rPr>
              <a:t>ROS 2 Humble  |  Gazebo Harmonic  |  Nav2  |  MoveIt</a:t>
            </a:r>
          </a:p>
        </p:txBody>
      </p:sp>
      <p:sp>
        <p:nvSpPr>
          <p:cNvPr id="5" name="">
            <a:extLst xmlns:a="http://schemas.openxmlformats.org/drawingml/2006/main">
              <a:ext uri="{FF2B5EF4-FFF2-40B4-BE49-F238E27FC236}">
                <a16:creationId xmlns:a16="http://schemas.microsoft.com/office/drawing/2014/main" id="{5AB54B3A-F2AB-4451-82AD-629ACDA18303}"/>
              </a:ext>
            </a:extLst>
          </p:cNvPr>
          <p:cNvSpPr>
            <a:spLocks xmlns:a="http://schemas.openxmlformats.org/drawingml/2006/main" noGrp="1"/>
          </p:cNvSpPr>
          <p:nvPr/>
        </p:nvSpPr>
        <p:spPr>
          <a:xfrm xmlns:a="http://schemas.openxmlformats.org/drawingml/2006/main">
            <a:off x="914400" y="31051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00" b="1">
                <a:solidFill>
                  <a:srgbClr val="536575"/>
                </a:solidFill>
                <a:latin typeface="DejaVu Sans"/>
                <a:ea typeface="DejaVu Sans"/>
                <a:cs typeface="DejaVu Sans"/>
              </a:defRPr>
            </a:pPr>
            <a:r>
              <a:rPr sz="1500" b="1">
                <a:solidFill>
                  <a:srgbClr val="536575"/>
                </a:solidFill>
                <a:latin typeface="DejaVu Sans"/>
                <a:ea typeface="DejaVu Sans"/>
                <a:cs typeface="DejaVu Sans"/>
              </a:rPr>
              <a:t>Software scope only</a:t>
            </a:r>
          </a:p>
        </p:txBody>
      </p:sp>
      <p:sp>
        <p:nvSpPr>
          <p:cNvPr id="6" name="">
            <a:extLst xmlns:a="http://schemas.openxmlformats.org/drawingml/2006/main">
              <a:ext uri="{FF2B5EF4-FFF2-40B4-BE49-F238E27FC236}">
                <a16:creationId xmlns:a16="http://schemas.microsoft.com/office/drawing/2014/main" id="{4D92A774-9F76-40F9-B107-7AC2F80C588E}"/>
              </a:ext>
            </a:extLst>
          </p:cNvPr>
          <p:cNvSpPr>
            <a:spLocks xmlns:a="http://schemas.openxmlformats.org/drawingml/2006/main" noGrp="1"/>
          </p:cNvSpPr>
          <p:nvPr/>
        </p:nvSpPr>
        <p:spPr>
          <a:xfrm xmlns:a="http://schemas.openxmlformats.org/drawingml/2006/main">
            <a:off x="914400" y="4810125"/>
            <a:ext cx="1619250" cy="552450"/>
          </a:xfrm>
          <a:prstGeom xmlns:a="http://schemas.openxmlformats.org/drawingml/2006/main" prst="roundRect">
            <a:avLst>
              <a:gd name="adj" fmla="val 17241"/>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650" b="0">
                <a:solidFill>
                  <a:srgbClr val="102A43"/>
                </a:solidFill>
                <a:latin typeface="DejaVu Sans"/>
                <a:ea typeface="DejaVu Sans"/>
                <a:cs typeface="DejaVu Sans"/>
              </a:defRPr>
            </a:pPr>
            <a:r>
              <a:rPr sz="1650" b="0">
                <a:solidFill>
                  <a:srgbClr val="102A43"/>
                </a:solidFill>
                <a:latin typeface="DejaVu Sans"/>
                <a:ea typeface="DejaVu Sans"/>
                <a:cs typeface="DejaVu Sans"/>
              </a:rPr>
              <a:t>Sensing</a:t>
            </a:r>
          </a:p>
        </p:txBody>
      </p:sp>
      <p:sp>
        <p:nvSpPr>
          <p:cNvPr id="7" name="">
            <a:extLst xmlns:a="http://schemas.openxmlformats.org/drawingml/2006/main">
              <a:ext uri="{FF2B5EF4-FFF2-40B4-BE49-F238E27FC236}">
                <a16:creationId xmlns:a16="http://schemas.microsoft.com/office/drawing/2014/main" id="{0C4827E0-7F48-47DA-BF15-E7DF5A3063C0}"/>
              </a:ext>
            </a:extLst>
          </p:cNvPr>
          <p:cNvSpPr>
            <a:spLocks xmlns:a="http://schemas.openxmlformats.org/drawingml/2006/main" noGrp="1"/>
          </p:cNvSpPr>
          <p:nvPr/>
        </p:nvSpPr>
        <p:spPr>
          <a:xfrm xmlns:a="http://schemas.openxmlformats.org/drawingml/2006/main">
            <a:off x="3009900" y="4810125"/>
            <a:ext cx="1619250" cy="552450"/>
          </a:xfrm>
          <a:prstGeom xmlns:a="http://schemas.openxmlformats.org/drawingml/2006/main" prst="roundRect">
            <a:avLst>
              <a:gd name="adj" fmla="val 17241"/>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650" b="0">
                <a:solidFill>
                  <a:srgbClr val="102A43"/>
                </a:solidFill>
                <a:latin typeface="DejaVu Sans"/>
                <a:ea typeface="DejaVu Sans"/>
                <a:cs typeface="DejaVu Sans"/>
              </a:defRPr>
            </a:pPr>
            <a:r>
              <a:rPr sz="1650" b="0">
                <a:solidFill>
                  <a:srgbClr val="102A43"/>
                </a:solidFill>
                <a:latin typeface="DejaVu Sans"/>
                <a:ea typeface="DejaVu Sans"/>
                <a:cs typeface="DejaVu Sans"/>
              </a:rPr>
              <a:t>State</a:t>
            </a:r>
          </a:p>
        </p:txBody>
      </p:sp>
      <p:sp>
        <p:nvSpPr>
          <p:cNvPr id="8" name="">
            <a:extLst xmlns:a="http://schemas.openxmlformats.org/drawingml/2006/main">
              <a:ext uri="{FF2B5EF4-FFF2-40B4-BE49-F238E27FC236}">
                <a16:creationId xmlns:a16="http://schemas.microsoft.com/office/drawing/2014/main" id="{CE7543F8-8DAB-4F1F-93D4-95DC52F9B086}"/>
              </a:ext>
            </a:extLst>
          </p:cNvPr>
          <p:cNvSpPr>
            <a:spLocks xmlns:a="http://schemas.openxmlformats.org/drawingml/2006/main" noGrp="1"/>
          </p:cNvSpPr>
          <p:nvPr/>
        </p:nvSpPr>
        <p:spPr>
          <a:xfrm xmlns:a="http://schemas.openxmlformats.org/drawingml/2006/main">
            <a:off x="5105400" y="4810125"/>
            <a:ext cx="1619250" cy="552450"/>
          </a:xfrm>
          <a:prstGeom xmlns:a="http://schemas.openxmlformats.org/drawingml/2006/main" prst="roundRect">
            <a:avLst>
              <a:gd name="adj" fmla="val 17241"/>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650" b="0">
                <a:solidFill>
                  <a:srgbClr val="102A43"/>
                </a:solidFill>
                <a:latin typeface="DejaVu Sans"/>
                <a:ea typeface="DejaVu Sans"/>
                <a:cs typeface="DejaVu Sans"/>
              </a:defRPr>
            </a:pPr>
            <a:r>
              <a:rPr sz="1650" b="0">
                <a:solidFill>
                  <a:srgbClr val="102A43"/>
                </a:solidFill>
                <a:latin typeface="DejaVu Sans"/>
                <a:ea typeface="DejaVu Sans"/>
                <a:cs typeface="DejaVu Sans"/>
              </a:rPr>
              <a:t>Planning</a:t>
            </a:r>
          </a:p>
        </p:txBody>
      </p:sp>
      <p:sp>
        <p:nvSpPr>
          <p:cNvPr id="9" name="">
            <a:extLst xmlns:a="http://schemas.openxmlformats.org/drawingml/2006/main">
              <a:ext uri="{FF2B5EF4-FFF2-40B4-BE49-F238E27FC236}">
                <a16:creationId xmlns:a16="http://schemas.microsoft.com/office/drawing/2014/main" id="{0656FE98-E56A-48D2-A1F9-143BF621EF23}"/>
              </a:ext>
            </a:extLst>
          </p:cNvPr>
          <p:cNvSpPr>
            <a:spLocks xmlns:a="http://schemas.openxmlformats.org/drawingml/2006/main" noGrp="1"/>
          </p:cNvSpPr>
          <p:nvPr/>
        </p:nvSpPr>
        <p:spPr>
          <a:xfrm xmlns:a="http://schemas.openxmlformats.org/drawingml/2006/main">
            <a:off x="7200900" y="4810125"/>
            <a:ext cx="1619250" cy="552450"/>
          </a:xfrm>
          <a:prstGeom xmlns:a="http://schemas.openxmlformats.org/drawingml/2006/main" prst="roundRect">
            <a:avLst>
              <a:gd name="adj" fmla="val 17241"/>
            </a:avLst>
          </a:prstGeom>
          <a:solidFill xmlns:a="http://schemas.openxmlformats.org/drawingml/2006/main">
            <a:srgbClr val="EAF6FC"/>
          </a:solidFill>
          <a:ln xmlns:a="http://schemas.openxmlformats.org/drawingml/2006/main" w="14288">
            <a:solidFill>
              <a:srgbClr val="0077B6"/>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650" b="1">
                <a:solidFill>
                  <a:srgbClr val="0077B6"/>
                </a:solidFill>
                <a:latin typeface="DejaVu Sans"/>
                <a:ea typeface="DejaVu Sans"/>
                <a:cs typeface="DejaVu Sans"/>
              </a:defRPr>
            </a:pPr>
            <a:r>
              <a:rPr sz="1650" b="1">
                <a:solidFill>
                  <a:srgbClr val="0077B6"/>
                </a:solidFill>
                <a:latin typeface="DejaVu Sans"/>
                <a:ea typeface="DejaVu Sans"/>
                <a:cs typeface="DejaVu Sans"/>
              </a:rPr>
              <a:t>Authority</a:t>
            </a:r>
          </a:p>
        </p:txBody>
      </p:sp>
      <p:sp>
        <p:nvSpPr>
          <p:cNvPr id="10" name="">
            <a:extLst xmlns:a="http://schemas.openxmlformats.org/drawingml/2006/main">
              <a:ext uri="{FF2B5EF4-FFF2-40B4-BE49-F238E27FC236}">
                <a16:creationId xmlns:a16="http://schemas.microsoft.com/office/drawing/2014/main" id="{391AED0C-4158-4468-9093-8F2BF4794AFC}"/>
              </a:ext>
            </a:extLst>
          </p:cNvPr>
          <p:cNvSpPr>
            <a:spLocks xmlns:a="http://schemas.openxmlformats.org/drawingml/2006/main" noGrp="1"/>
          </p:cNvSpPr>
          <p:nvPr/>
        </p:nvSpPr>
        <p:spPr>
          <a:xfrm xmlns:a="http://schemas.openxmlformats.org/drawingml/2006/main">
            <a:off x="9296400" y="4810125"/>
            <a:ext cx="1619250" cy="552450"/>
          </a:xfrm>
          <a:prstGeom xmlns:a="http://schemas.openxmlformats.org/drawingml/2006/main" prst="roundRect">
            <a:avLst>
              <a:gd name="adj" fmla="val 17241"/>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650" b="0">
                <a:solidFill>
                  <a:srgbClr val="102A43"/>
                </a:solidFill>
                <a:latin typeface="DejaVu Sans"/>
                <a:ea typeface="DejaVu Sans"/>
                <a:cs typeface="DejaVu Sans"/>
              </a:defRPr>
            </a:pPr>
            <a:r>
              <a:rPr sz="1650" b="0">
                <a:solidFill>
                  <a:srgbClr val="102A43"/>
                </a:solidFill>
                <a:latin typeface="DejaVu Sans"/>
                <a:ea typeface="DejaVu Sans"/>
                <a:cs typeface="DejaVu Sans"/>
              </a:rPr>
              <a:t>Motion</a:t>
            </a:r>
          </a:p>
        </p:txBody>
      </p:sp>
      <p:cxnSp>
        <p:nvCxnSpPr>
          <p:cNvPr id="26" name=""/>
          <p:cNvCxnSpPr>
            <a:stCxn xmlns:a="http://schemas.openxmlformats.org/drawingml/2006/main" id="6" idx="3"/>
            <a:endCxn xmlns:a="http://schemas.openxmlformats.org/drawingml/2006/main" id="7" idx="1"/>
          </p:cNvCxnSpPr>
          <p:nvPr/>
        </p:nvCxnSpPr>
        <p:spPr>
          <a:xfrm xmlns:a="http://schemas.openxmlformats.org/drawingml/2006/main">
            <a:off x="2533650" y="5086350"/>
            <a:ext cx="476250" cy="0"/>
          </a:xfrm>
          <a:prstGeom xmlns:a="http://schemas.openxmlformats.org/drawingml/2006/main" prst="straightConnector1">
            <a:avLst/>
          </a:prstGeom>
          <a:ln xmlns:a="http://schemas.openxmlformats.org/drawingml/2006/main" w="23813">
            <a:solidFill>
              <a:srgbClr val="0077B6"/>
            </a:solidFill>
            <a:prstDash val="solid"/>
            <a:tailEnd type="triangle" w="sm" len="sm"/>
          </a:ln>
        </p:spPr>
      </p:cxnSp>
      <p:cxnSp>
        <p:nvCxnSpPr>
          <p:cNvPr id="27" name=""/>
          <p:cNvCxnSpPr>
            <a:stCxn xmlns:a="http://schemas.openxmlformats.org/drawingml/2006/main" id="7" idx="3"/>
            <a:endCxn xmlns:a="http://schemas.openxmlformats.org/drawingml/2006/main" id="8" idx="1"/>
          </p:cNvCxnSpPr>
          <p:nvPr/>
        </p:nvCxnSpPr>
        <p:spPr>
          <a:xfrm xmlns:a="http://schemas.openxmlformats.org/drawingml/2006/main">
            <a:off x="4629150" y="5086350"/>
            <a:ext cx="476250" cy="0"/>
          </a:xfrm>
          <a:prstGeom xmlns:a="http://schemas.openxmlformats.org/drawingml/2006/main" prst="straightConnector1">
            <a:avLst/>
          </a:prstGeom>
          <a:ln xmlns:a="http://schemas.openxmlformats.org/drawingml/2006/main" w="23813">
            <a:solidFill>
              <a:srgbClr val="0077B6"/>
            </a:solidFill>
            <a:prstDash val="solid"/>
            <a:tailEnd type="triangle" w="sm" len="sm"/>
          </a:ln>
        </p:spPr>
      </p:cxnSp>
      <p:cxnSp>
        <p:nvCxnSpPr>
          <p:cNvPr id="28" name=""/>
          <p:cNvCxnSpPr>
            <a:stCxn xmlns:a="http://schemas.openxmlformats.org/drawingml/2006/main" id="8" idx="3"/>
            <a:endCxn xmlns:a="http://schemas.openxmlformats.org/drawingml/2006/main" id="9" idx="1"/>
          </p:cNvCxnSpPr>
          <p:nvPr/>
        </p:nvCxnSpPr>
        <p:spPr>
          <a:xfrm xmlns:a="http://schemas.openxmlformats.org/drawingml/2006/main">
            <a:off x="6724650" y="5086350"/>
            <a:ext cx="476250" cy="0"/>
          </a:xfrm>
          <a:prstGeom xmlns:a="http://schemas.openxmlformats.org/drawingml/2006/main" prst="straightConnector1">
            <a:avLst/>
          </a:prstGeom>
          <a:ln xmlns:a="http://schemas.openxmlformats.org/drawingml/2006/main" w="23813">
            <a:solidFill>
              <a:srgbClr val="0077B6"/>
            </a:solidFill>
            <a:prstDash val="solid"/>
            <a:tailEnd type="triangle" w="sm" len="sm"/>
          </a:ln>
        </p:spPr>
      </p:cxnSp>
      <p:cxnSp>
        <p:nvCxnSpPr>
          <p:cNvPr id="29" name=""/>
          <p:cNvCxnSpPr>
            <a:stCxn xmlns:a="http://schemas.openxmlformats.org/drawingml/2006/main" id="9" idx="3"/>
            <a:endCxn xmlns:a="http://schemas.openxmlformats.org/drawingml/2006/main" id="10" idx="1"/>
          </p:cNvCxnSpPr>
          <p:nvPr/>
        </p:nvCxnSpPr>
        <p:spPr>
          <a:xfrm xmlns:a="http://schemas.openxmlformats.org/drawingml/2006/main">
            <a:off x="8820150" y="5086350"/>
            <a:ext cx="476250" cy="0"/>
          </a:xfrm>
          <a:prstGeom xmlns:a="http://schemas.openxmlformats.org/drawingml/2006/main" prst="straightConnector1">
            <a:avLst/>
          </a:prstGeom>
          <a:ln xmlns:a="http://schemas.openxmlformats.org/drawingml/2006/main" w="23813">
            <a:solidFill>
              <a:srgbClr val="0077B6"/>
            </a:solidFill>
            <a:prstDash val="solid"/>
            <a:tailEnd type="triangle" w="sm" len="sm"/>
          </a:ln>
        </p:spPr>
      </p:cxnSp>
      <p:sp>
        <p:nvSpPr>
          <p:cNvPr id="15" name="">
            <a:extLst xmlns:a="http://schemas.openxmlformats.org/drawingml/2006/main">
              <a:ext uri="{FF2B5EF4-FFF2-40B4-BE49-F238E27FC236}">
                <a16:creationId xmlns:a16="http://schemas.microsoft.com/office/drawing/2014/main" id="{914AD79C-FA0D-4313-87AA-C0B2727CD0DD}"/>
              </a:ext>
            </a:extLst>
          </p:cNvPr>
          <p:cNvSpPr>
            <a:spLocks xmlns:a="http://schemas.openxmlformats.org/drawingml/2006/main" noGrp="1"/>
          </p:cNvSpPr>
          <p:nvPr/>
        </p:nvSpPr>
        <p:spPr>
          <a:xfrm xmlns:a="http://schemas.openxmlformats.org/drawingml/2006/main">
            <a:off x="914400" y="5667375"/>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800" b="0">
                <a:solidFill>
                  <a:srgbClr val="536575"/>
                </a:solidFill>
                <a:latin typeface="DejaVu Sans"/>
                <a:ea typeface="DejaVu Sans"/>
                <a:cs typeface="DejaVu Sans"/>
              </a:defRPr>
            </a:pPr>
            <a:r>
              <a:rPr sz="1800" b="0">
                <a:solidFill>
                  <a:srgbClr val="536575"/>
                </a:solidFill>
                <a:latin typeface="DejaVu Sans"/>
                <a:ea typeface="DejaVu Sans"/>
                <a:cs typeface="DejaVu Sans"/>
              </a:rPr>
              <a:t>Typed interfaces connect intent to controlled execution</a:t>
            </a:r>
          </a:p>
        </p:txBody>
      </p:sp>
    </p:spTree>
    <p:extLst>
      <p:ext uri="{BB962C8B-B14F-4D97-AF65-F5344CB8AC3E}">
        <p14:creationId xmlns:p14="http://schemas.microsoft.com/office/powerpoint/2010/main" val="19021128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B1C88AB-B8B0-448C-BCF5-2EE222F44AC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65D83B7-E464-4D0D-9D59-986D11CB03EB}"/>
              </a:ext>
            </a:extLst>
          </p:cNvPr>
          <p:cNvSpPr>
            <a:spLocks xmlns:a="http://schemas.openxmlformats.org/drawingml/2006/main" noGrp="1"/>
          </p:cNvSpPr>
          <p:nvPr/>
        </p:nvSpPr>
        <p:spPr>
          <a:xfrm xmlns:a="http://schemas.openxmlformats.org/drawingml/2006/main">
            <a:off x="609600" y="323850"/>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3150" b="1">
                <a:solidFill>
                  <a:srgbClr val="102A43"/>
                </a:solidFill>
                <a:latin typeface="DejaVu Sans"/>
                <a:ea typeface="DejaVu Sans"/>
                <a:cs typeface="DejaVu Sans"/>
              </a:defRPr>
            </a:pPr>
            <a:r>
              <a:rPr sz="3150" b="1">
                <a:solidFill>
                  <a:srgbClr val="102A43"/>
                </a:solidFill>
                <a:latin typeface="DejaVu Sans"/>
                <a:ea typeface="DejaVu Sans"/>
                <a:cs typeface="DejaVu Sans"/>
              </a:rPr>
              <a:t>System structure and package ownership</a:t>
            </a:r>
          </a:p>
        </p:txBody>
      </p:sp>
      <p:sp>
        <p:nvSpPr>
          <p:cNvPr id="3" name="">
            <a:extLst xmlns:a="http://schemas.openxmlformats.org/drawingml/2006/main">
              <a:ext uri="{FF2B5EF4-FFF2-40B4-BE49-F238E27FC236}">
                <a16:creationId xmlns:a16="http://schemas.microsoft.com/office/drawing/2014/main" id="{4FEB59A7-77E3-429A-BDDA-8DF48A7EAAA1}"/>
              </a:ext>
            </a:extLst>
          </p:cNvPr>
          <p:cNvSpPr>
            <a:spLocks xmlns:a="http://schemas.openxmlformats.org/drawingml/2006/main" noGrp="1"/>
          </p:cNvSpPr>
          <p:nvPr/>
        </p:nvSpPr>
        <p:spPr>
          <a:xfrm xmlns:a="http://schemas.openxmlformats.org/drawingml/2006/main">
            <a:off x="628650" y="87630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75" b="0">
                <a:solidFill>
                  <a:srgbClr val="536575"/>
                </a:solidFill>
                <a:latin typeface="DejaVu Sans"/>
                <a:ea typeface="DejaVu Sans"/>
                <a:cs typeface="DejaVu Sans"/>
              </a:defRPr>
            </a:pPr>
            <a:r>
              <a:rPr sz="1575" b="0">
                <a:solidFill>
                  <a:srgbClr val="536575"/>
                </a:solidFill>
                <a:latin typeface="DejaVu Sans"/>
                <a:ea typeface="DejaVu Sans"/>
                <a:cs typeface="DejaVu Sans"/>
              </a:rPr>
              <a:t>17 ROS 2 packages grouped by software responsibility</a:t>
            </a:r>
          </a:p>
        </p:txBody>
      </p:sp>
      <p:sp>
        <p:nvSpPr>
          <p:cNvPr id="4" name="">
            <a:extLst xmlns:a="http://schemas.openxmlformats.org/drawingml/2006/main">
              <a:ext uri="{FF2B5EF4-FFF2-40B4-BE49-F238E27FC236}">
                <a16:creationId xmlns:a16="http://schemas.microsoft.com/office/drawing/2014/main" id="{8766726C-41A3-4002-A3E7-BAE779C5B0B5}"/>
              </a:ext>
            </a:extLst>
          </p:cNvPr>
          <p:cNvSpPr>
            <a:spLocks xmlns:a="http://schemas.openxmlformats.org/drawingml/2006/main" noGrp="1"/>
          </p:cNvSpPr>
          <p:nvPr/>
        </p:nvSpPr>
        <p:spPr>
          <a:xfrm xmlns:a="http://schemas.openxmlformats.org/drawingml/2006/main">
            <a:off x="11144250" y="400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r">
              <a:lnSpc>
                <a:spcPct val="100000"/>
              </a:lnSpc>
              <a:buNone/>
              <a:defRPr sz="1350" b="1">
                <a:solidFill>
                  <a:srgbClr val="0077B6"/>
                </a:solidFill>
                <a:latin typeface="DejaVu Sans"/>
                <a:ea typeface="DejaVu Sans"/>
                <a:cs typeface="DejaVu Sans"/>
              </a:defRPr>
            </a:pPr>
            <a:r>
              <a:rPr sz="1350" b="1">
                <a:solidFill>
                  <a:srgbClr val="0077B6"/>
                </a:solidFill>
                <a:latin typeface="DejaVu Sans"/>
                <a:ea typeface="DejaVu Sans"/>
                <a:cs typeface="DejaVu Sans"/>
              </a:rPr>
              <a:t>02</a:t>
            </a:r>
          </a:p>
        </p:txBody>
      </p:sp>
      <p:sp>
        <p:nvSpPr>
          <p:cNvPr id="5" name="">
            <a:extLst xmlns:a="http://schemas.openxmlformats.org/drawingml/2006/main">
              <a:ext uri="{FF2B5EF4-FFF2-40B4-BE49-F238E27FC236}">
                <a16:creationId xmlns:a16="http://schemas.microsoft.com/office/drawing/2014/main" id="{1B911848-695E-423D-BA1D-1503C8FE7E5D}"/>
              </a:ext>
            </a:extLst>
          </p:cNvPr>
          <p:cNvSpPr>
            <a:spLocks xmlns:a="http://schemas.openxmlformats.org/drawingml/2006/main" noGrp="1"/>
          </p:cNvSpPr>
          <p:nvPr/>
        </p:nvSpPr>
        <p:spPr>
          <a:xfrm xmlns:a="http://schemas.openxmlformats.org/drawingml/2006/main">
            <a:off x="666750" y="1381125"/>
            <a:ext cx="2428875" cy="647700"/>
          </a:xfrm>
          <a:prstGeom xmlns:a="http://schemas.openxmlformats.org/drawingml/2006/main" prst="roundRect">
            <a:avLst>
              <a:gd name="adj" fmla="val 14706"/>
            </a:avLst>
          </a:prstGeom>
          <a:solidFill xmlns:a="http://schemas.openxmlformats.org/drawingml/2006/main">
            <a:srgbClr val="102A43"/>
          </a:solidFill>
          <a:ln xmlns:a="http://schemas.openxmlformats.org/drawingml/2006/main" w="14288">
            <a:solidFill>
              <a:srgbClr val="102A43"/>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Contracts + policy</a:t>
            </a:r>
          </a:p>
        </p:txBody>
      </p:sp>
      <p:sp>
        <p:nvSpPr>
          <p:cNvPr id="6" name="">
            <a:extLst xmlns:a="http://schemas.openxmlformats.org/drawingml/2006/main">
              <a:ext uri="{FF2B5EF4-FFF2-40B4-BE49-F238E27FC236}">
                <a16:creationId xmlns:a16="http://schemas.microsoft.com/office/drawing/2014/main" id="{835FD9AA-27DA-4A68-BE3D-D131B4BF7A20}"/>
              </a:ext>
            </a:extLst>
          </p:cNvPr>
          <p:cNvSpPr>
            <a:spLocks xmlns:a="http://schemas.openxmlformats.org/drawingml/2006/main" noGrp="1"/>
          </p:cNvSpPr>
          <p:nvPr/>
        </p:nvSpPr>
        <p:spPr>
          <a:xfrm xmlns:a="http://schemas.openxmlformats.org/drawingml/2006/main">
            <a:off x="3257550" y="1381125"/>
            <a:ext cx="5810250" cy="647700"/>
          </a:xfrm>
          <a:prstGeom xmlns:a="http://schemas.openxmlformats.org/drawingml/2006/main" prst="roundRect">
            <a:avLst>
              <a:gd name="adj" fmla="val 14706"/>
            </a:avLst>
          </a:prstGeom>
          <a:solidFill xmlns:a="http://schemas.openxmlformats.org/drawingml/2006/main">
            <a:srgbClr val="EAF6FC"/>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lnSpc>
                <a:spcPct val="95000"/>
              </a:lnSpc>
              <a:buNone/>
              <a:defRPr sz="1500" b="0">
                <a:solidFill>
                  <a:srgbClr val="102A43"/>
                </a:solidFill>
                <a:latin typeface="DejaVu Sans"/>
                <a:ea typeface="DejaVu Sans"/>
                <a:cs typeface="DejaVu Sans"/>
              </a:defRPr>
            </a:pPr>
            <a:r>
              <a:rPr sz="1500" b="0">
                <a:solidFill>
                  <a:srgbClr val="102A43"/>
                </a:solidFill>
                <a:latin typeface="DejaVu Sans"/>
                <a:ea typeface="DejaVu Sans"/>
                <a:cs typeface="DejaVu Sans"/>
              </a:rPr>
              <a:t>amr_interfaces  |  amr_bringup</a:t>
            </a:r>
          </a:p>
        </p:txBody>
      </p:sp>
      <p:sp>
        <p:nvSpPr>
          <p:cNvPr id="7" name="">
            <a:extLst xmlns:a="http://schemas.openxmlformats.org/drawingml/2006/main">
              <a:ext uri="{FF2B5EF4-FFF2-40B4-BE49-F238E27FC236}">
                <a16:creationId xmlns:a16="http://schemas.microsoft.com/office/drawing/2014/main" id="{70E86D59-95BC-44CB-BB22-F3A9FA6F0BAE}"/>
              </a:ext>
            </a:extLst>
          </p:cNvPr>
          <p:cNvSpPr>
            <a:spLocks xmlns:a="http://schemas.openxmlformats.org/drawingml/2006/main" noGrp="1"/>
          </p:cNvSpPr>
          <p:nvPr/>
        </p:nvSpPr>
        <p:spPr>
          <a:xfrm xmlns:a="http://schemas.openxmlformats.org/drawingml/2006/main">
            <a:off x="666750" y="2257425"/>
            <a:ext cx="2428875" cy="647700"/>
          </a:xfrm>
          <a:prstGeom xmlns:a="http://schemas.openxmlformats.org/drawingml/2006/main" prst="roundRect">
            <a:avLst>
              <a:gd name="adj" fmla="val 14706"/>
            </a:avLst>
          </a:prstGeom>
          <a:solidFill xmlns:a="http://schemas.openxmlformats.org/drawingml/2006/main">
            <a:srgbClr val="102A43"/>
          </a:solidFill>
          <a:ln xmlns:a="http://schemas.openxmlformats.org/drawingml/2006/main" w="14288">
            <a:solidFill>
              <a:srgbClr val="102A43"/>
            </a:solidFill>
            <a:prstDash val="solid"/>
          </a:ln>
        </p:spPr>
        <p:txBody>
          <a:bodyPr xmlns:a="http://schemas.openxmlformats.org/drawingml/2006/main" lIns="95250" tIns="76200" rIns="95250" bIns="76200" anchor="ctr">
            <a:normAutofit fontScale="91990"/>
          </a:bodyPr>
          <a:lstStyle xmlns:a="http://schemas.openxmlformats.org/drawingml/2006/main"/>
          <a:p xmlns:a="http://schemas.openxmlformats.org/drawingml/2006/main">
            <a:pPr algn="ctr">
              <a:lnSpc>
                <a:spcPct val="95000"/>
              </a:lnSpc>
              <a:buNone/>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Model + simulation boundary</a:t>
            </a:r>
          </a:p>
        </p:txBody>
      </p:sp>
      <p:sp>
        <p:nvSpPr>
          <p:cNvPr id="8" name="">
            <a:extLst xmlns:a="http://schemas.openxmlformats.org/drawingml/2006/main">
              <a:ext uri="{FF2B5EF4-FFF2-40B4-BE49-F238E27FC236}">
                <a16:creationId xmlns:a16="http://schemas.microsoft.com/office/drawing/2014/main" id="{D01AB2D8-2FE6-4BF5-9DEE-060B9B366432}"/>
              </a:ext>
            </a:extLst>
          </p:cNvPr>
          <p:cNvSpPr>
            <a:spLocks xmlns:a="http://schemas.openxmlformats.org/drawingml/2006/main" noGrp="1"/>
          </p:cNvSpPr>
          <p:nvPr/>
        </p:nvSpPr>
        <p:spPr>
          <a:xfrm xmlns:a="http://schemas.openxmlformats.org/drawingml/2006/main">
            <a:off x="3257550" y="2257425"/>
            <a:ext cx="5810250" cy="647700"/>
          </a:xfrm>
          <a:prstGeom xmlns:a="http://schemas.openxmlformats.org/drawingml/2006/main" prst="roundRect">
            <a:avLst>
              <a:gd name="adj" fmla="val 14706"/>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lnSpc>
                <a:spcPct val="95000"/>
              </a:lnSpc>
              <a:buNone/>
              <a:defRPr sz="1500" b="0">
                <a:solidFill>
                  <a:srgbClr val="102A43"/>
                </a:solidFill>
                <a:latin typeface="DejaVu Sans"/>
                <a:ea typeface="DejaVu Sans"/>
                <a:cs typeface="DejaVu Sans"/>
              </a:defRPr>
            </a:pPr>
            <a:r>
              <a:rPr sz="1500" b="0">
                <a:solidFill>
                  <a:srgbClr val="102A43"/>
                </a:solidFill>
                <a:latin typeface="DejaVu Sans"/>
                <a:ea typeface="DejaVu Sans"/>
                <a:cs typeface="DejaVu Sans"/>
              </a:rPr>
              <a:t>amr_description  |  amr_simulation</a:t>
            </a:r>
          </a:p>
        </p:txBody>
      </p:sp>
      <p:sp>
        <p:nvSpPr>
          <p:cNvPr id="9" name="">
            <a:extLst xmlns:a="http://schemas.openxmlformats.org/drawingml/2006/main">
              <a:ext uri="{FF2B5EF4-FFF2-40B4-BE49-F238E27FC236}">
                <a16:creationId xmlns:a16="http://schemas.microsoft.com/office/drawing/2014/main" id="{CC951DA6-F88A-441C-BFF0-96AFF3274A38}"/>
              </a:ext>
            </a:extLst>
          </p:cNvPr>
          <p:cNvSpPr>
            <a:spLocks xmlns:a="http://schemas.openxmlformats.org/drawingml/2006/main" noGrp="1"/>
          </p:cNvSpPr>
          <p:nvPr/>
        </p:nvSpPr>
        <p:spPr>
          <a:xfrm xmlns:a="http://schemas.openxmlformats.org/drawingml/2006/main">
            <a:off x="666750" y="3133725"/>
            <a:ext cx="2428875" cy="647700"/>
          </a:xfrm>
          <a:prstGeom xmlns:a="http://schemas.openxmlformats.org/drawingml/2006/main" prst="roundRect">
            <a:avLst>
              <a:gd name="adj" fmla="val 14706"/>
            </a:avLst>
          </a:prstGeom>
          <a:solidFill xmlns:a="http://schemas.openxmlformats.org/drawingml/2006/main">
            <a:srgbClr val="102A43"/>
          </a:solidFill>
          <a:ln xmlns:a="http://schemas.openxmlformats.org/drawingml/2006/main" w="14288">
            <a:solidFill>
              <a:srgbClr val="102A43"/>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Adapters + state</a:t>
            </a:r>
          </a:p>
        </p:txBody>
      </p:sp>
      <p:sp>
        <p:nvSpPr>
          <p:cNvPr id="10" name="">
            <a:extLst xmlns:a="http://schemas.openxmlformats.org/drawingml/2006/main">
              <a:ext uri="{FF2B5EF4-FFF2-40B4-BE49-F238E27FC236}">
                <a16:creationId xmlns:a16="http://schemas.microsoft.com/office/drawing/2014/main" id="{50AFB31C-1F8D-4463-B5F0-FFAE6FD3E39D}"/>
              </a:ext>
            </a:extLst>
          </p:cNvPr>
          <p:cNvSpPr>
            <a:spLocks xmlns:a="http://schemas.openxmlformats.org/drawingml/2006/main" noGrp="1"/>
          </p:cNvSpPr>
          <p:nvPr/>
        </p:nvSpPr>
        <p:spPr>
          <a:xfrm xmlns:a="http://schemas.openxmlformats.org/drawingml/2006/main">
            <a:off x="3257550" y="3133725"/>
            <a:ext cx="5810250" cy="647700"/>
          </a:xfrm>
          <a:prstGeom xmlns:a="http://schemas.openxmlformats.org/drawingml/2006/main" prst="roundRect">
            <a:avLst>
              <a:gd name="adj" fmla="val 14706"/>
            </a:avLst>
          </a:prstGeom>
          <a:solidFill xmlns:a="http://schemas.openxmlformats.org/drawingml/2006/main">
            <a:srgbClr val="EAF6FC"/>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lnSpc>
                <a:spcPct val="95000"/>
              </a:lnSpc>
              <a:buNone/>
              <a:defRPr sz="1500" b="0">
                <a:solidFill>
                  <a:srgbClr val="102A43"/>
                </a:solidFill>
                <a:latin typeface="DejaVu Sans"/>
                <a:ea typeface="DejaVu Sans"/>
                <a:cs typeface="DejaVu Sans"/>
              </a:defRPr>
            </a:pPr>
            <a:r>
              <a:rPr sz="1500" b="0">
                <a:solidFill>
                  <a:srgbClr val="102A43"/>
                </a:solidFill>
                <a:latin typeface="DejaVu Sans"/>
                <a:ea typeface="DejaVu Sans"/>
                <a:cs typeface="DejaVu Sans"/>
              </a:rPr>
              <a:t>amr_sensor_adapters  |  amr_base_adapter  |  amr_localization  |  amr_perception</a:t>
            </a:r>
          </a:p>
        </p:txBody>
      </p:sp>
      <p:sp>
        <p:nvSpPr>
          <p:cNvPr id="11" name="">
            <a:extLst xmlns:a="http://schemas.openxmlformats.org/drawingml/2006/main">
              <a:ext uri="{FF2B5EF4-FFF2-40B4-BE49-F238E27FC236}">
                <a16:creationId xmlns:a16="http://schemas.microsoft.com/office/drawing/2014/main" id="{1828270C-AFDD-486D-9180-2C53147C2CCE}"/>
              </a:ext>
            </a:extLst>
          </p:cNvPr>
          <p:cNvSpPr>
            <a:spLocks xmlns:a="http://schemas.openxmlformats.org/drawingml/2006/main" noGrp="1"/>
          </p:cNvSpPr>
          <p:nvPr/>
        </p:nvSpPr>
        <p:spPr>
          <a:xfrm xmlns:a="http://schemas.openxmlformats.org/drawingml/2006/main">
            <a:off x="666750" y="4010025"/>
            <a:ext cx="2428875" cy="647700"/>
          </a:xfrm>
          <a:prstGeom xmlns:a="http://schemas.openxmlformats.org/drawingml/2006/main" prst="roundRect">
            <a:avLst>
              <a:gd name="adj" fmla="val 14706"/>
            </a:avLst>
          </a:prstGeom>
          <a:solidFill xmlns:a="http://schemas.openxmlformats.org/drawingml/2006/main">
            <a:srgbClr val="102A43"/>
          </a:solidFill>
          <a:ln xmlns:a="http://schemas.openxmlformats.org/drawingml/2006/main" w="14288">
            <a:solidFill>
              <a:srgbClr val="102A43"/>
            </a:solidFill>
            <a:prstDash val="solid"/>
          </a:ln>
        </p:spPr>
        <p:txBody>
          <a:bodyPr xmlns:a="http://schemas.openxmlformats.org/drawingml/2006/main" lIns="95250" tIns="76200" rIns="95250" bIns="76200" anchor="ctr">
            <a:normAutofit fontScale="91990"/>
          </a:bodyPr>
          <a:lstStyle xmlns:a="http://schemas.openxmlformats.org/drawingml/2006/main"/>
          <a:p xmlns:a="http://schemas.openxmlformats.org/drawingml/2006/main">
            <a:pPr algn="ctr">
              <a:lnSpc>
                <a:spcPct val="95000"/>
              </a:lnSpc>
              <a:buNone/>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Mapping + navigation</a:t>
            </a:r>
          </a:p>
        </p:txBody>
      </p:sp>
      <p:sp>
        <p:nvSpPr>
          <p:cNvPr id="12" name="">
            <a:extLst xmlns:a="http://schemas.openxmlformats.org/drawingml/2006/main">
              <a:ext uri="{FF2B5EF4-FFF2-40B4-BE49-F238E27FC236}">
                <a16:creationId xmlns:a16="http://schemas.microsoft.com/office/drawing/2014/main" id="{A88F627B-E7F6-4FDD-9EDE-B9BCE13D4E26}"/>
              </a:ext>
            </a:extLst>
          </p:cNvPr>
          <p:cNvSpPr>
            <a:spLocks xmlns:a="http://schemas.openxmlformats.org/drawingml/2006/main" noGrp="1"/>
          </p:cNvSpPr>
          <p:nvPr/>
        </p:nvSpPr>
        <p:spPr>
          <a:xfrm xmlns:a="http://schemas.openxmlformats.org/drawingml/2006/main">
            <a:off x="3257550" y="4010025"/>
            <a:ext cx="5810250" cy="647700"/>
          </a:xfrm>
          <a:prstGeom xmlns:a="http://schemas.openxmlformats.org/drawingml/2006/main" prst="roundRect">
            <a:avLst>
              <a:gd name="adj" fmla="val 14706"/>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lnSpc>
                <a:spcPct val="95000"/>
              </a:lnSpc>
              <a:buNone/>
              <a:defRPr sz="1500" b="0">
                <a:solidFill>
                  <a:srgbClr val="102A43"/>
                </a:solidFill>
                <a:latin typeface="DejaVu Sans"/>
                <a:ea typeface="DejaVu Sans"/>
                <a:cs typeface="DejaVu Sans"/>
              </a:defRPr>
            </a:pPr>
            <a:r>
              <a:rPr sz="1500" b="0">
                <a:solidFill>
                  <a:srgbClr val="102A43"/>
                </a:solidFill>
                <a:latin typeface="DejaVu Sans"/>
                <a:ea typeface="DejaVu Sans"/>
                <a:cs typeface="DejaVu Sans"/>
              </a:rPr>
              <a:t>amr_slam  |  amr_navigation  |  amr_mpc_controller  |  amr_mission</a:t>
            </a:r>
          </a:p>
        </p:txBody>
      </p:sp>
      <p:sp>
        <p:nvSpPr>
          <p:cNvPr id="13" name="">
            <a:extLst xmlns:a="http://schemas.openxmlformats.org/drawingml/2006/main">
              <a:ext uri="{FF2B5EF4-FFF2-40B4-BE49-F238E27FC236}">
                <a16:creationId xmlns:a16="http://schemas.microsoft.com/office/drawing/2014/main" id="{8351DED6-4B90-4560-BABD-62DDA256280F}"/>
              </a:ext>
            </a:extLst>
          </p:cNvPr>
          <p:cNvSpPr>
            <a:spLocks xmlns:a="http://schemas.openxmlformats.org/drawingml/2006/main" noGrp="1"/>
          </p:cNvSpPr>
          <p:nvPr/>
        </p:nvSpPr>
        <p:spPr>
          <a:xfrm xmlns:a="http://schemas.openxmlformats.org/drawingml/2006/main">
            <a:off x="666750" y="4886325"/>
            <a:ext cx="2428875" cy="647700"/>
          </a:xfrm>
          <a:prstGeom xmlns:a="http://schemas.openxmlformats.org/drawingml/2006/main" prst="roundRect">
            <a:avLst>
              <a:gd name="adj" fmla="val 14706"/>
            </a:avLst>
          </a:prstGeom>
          <a:solidFill xmlns:a="http://schemas.openxmlformats.org/drawingml/2006/main">
            <a:srgbClr val="102A43"/>
          </a:solidFill>
          <a:ln xmlns:a="http://schemas.openxmlformats.org/drawingml/2006/main" w="14288">
            <a:solidFill>
              <a:srgbClr val="102A43"/>
            </a:solidFill>
            <a:prstDash val="solid"/>
          </a:ln>
        </p:spPr>
        <p:txBody>
          <a:bodyPr xmlns:a="http://schemas.openxmlformats.org/drawingml/2006/main" lIns="95250" tIns="76200" rIns="95250" bIns="76200" anchor="ctr">
            <a:normAutofit fontScale="91990"/>
          </a:bodyPr>
          <a:lstStyle xmlns:a="http://schemas.openxmlformats.org/drawingml/2006/main"/>
          <a:p xmlns:a="http://schemas.openxmlformats.org/drawingml/2006/main">
            <a:pPr algn="ctr">
              <a:lnSpc>
                <a:spcPct val="95000"/>
              </a:lnSpc>
              <a:buNone/>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Authority + application</a:t>
            </a:r>
          </a:p>
        </p:txBody>
      </p:sp>
      <p:sp>
        <p:nvSpPr>
          <p:cNvPr id="14" name="">
            <a:extLst xmlns:a="http://schemas.openxmlformats.org/drawingml/2006/main">
              <a:ext uri="{FF2B5EF4-FFF2-40B4-BE49-F238E27FC236}">
                <a16:creationId xmlns:a16="http://schemas.microsoft.com/office/drawing/2014/main" id="{51D5093B-F341-475F-A616-AE83921D6D95}"/>
              </a:ext>
            </a:extLst>
          </p:cNvPr>
          <p:cNvSpPr>
            <a:spLocks xmlns:a="http://schemas.openxmlformats.org/drawingml/2006/main" noGrp="1"/>
          </p:cNvSpPr>
          <p:nvPr/>
        </p:nvSpPr>
        <p:spPr>
          <a:xfrm xmlns:a="http://schemas.openxmlformats.org/drawingml/2006/main">
            <a:off x="3257550" y="4886325"/>
            <a:ext cx="5810250" cy="647700"/>
          </a:xfrm>
          <a:prstGeom xmlns:a="http://schemas.openxmlformats.org/drawingml/2006/main" prst="roundRect">
            <a:avLst>
              <a:gd name="adj" fmla="val 14706"/>
            </a:avLst>
          </a:prstGeom>
          <a:solidFill xmlns:a="http://schemas.openxmlformats.org/drawingml/2006/main">
            <a:srgbClr val="EAF6FC"/>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l">
              <a:lnSpc>
                <a:spcPct val="95000"/>
              </a:lnSpc>
              <a:buNone/>
              <a:defRPr sz="1500" b="0">
                <a:solidFill>
                  <a:srgbClr val="102A43"/>
                </a:solidFill>
                <a:latin typeface="DejaVu Sans"/>
                <a:ea typeface="DejaVu Sans"/>
                <a:cs typeface="DejaVu Sans"/>
              </a:defRPr>
            </a:pPr>
            <a:r>
              <a:rPr sz="1500" b="0">
                <a:solidFill>
                  <a:srgbClr val="102A43"/>
                </a:solidFill>
                <a:latin typeface="DejaVu Sans"/>
                <a:ea typeface="DejaVu Sans"/>
                <a:cs typeface="DejaVu Sans"/>
              </a:rPr>
              <a:t>amr_control  |  amr_health  |  amr_exploration  |  amr_factory  |  amr_manipulation</a:t>
            </a:r>
          </a:p>
        </p:txBody>
      </p:sp>
      <p:sp>
        <p:nvSpPr>
          <p:cNvPr id="15" name="">
            <a:extLst xmlns:a="http://schemas.openxmlformats.org/drawingml/2006/main">
              <a:ext uri="{FF2B5EF4-FFF2-40B4-BE49-F238E27FC236}">
                <a16:creationId xmlns:a16="http://schemas.microsoft.com/office/drawing/2014/main" id="{AABD3941-5669-49C8-97A6-3F79AF615FFC}"/>
              </a:ext>
            </a:extLst>
          </p:cNvPr>
          <p:cNvSpPr>
            <a:spLocks xmlns:a="http://schemas.openxmlformats.org/drawingml/2006/main" noGrp="1"/>
          </p:cNvSpPr>
          <p:nvPr/>
        </p:nvSpPr>
        <p:spPr>
          <a:xfrm xmlns:a="http://schemas.openxmlformats.org/drawingml/2006/main">
            <a:off x="9429750" y="13525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800" b="1">
                <a:solidFill>
                  <a:srgbClr val="0077B6"/>
                </a:solidFill>
                <a:latin typeface="DejaVu Sans"/>
                <a:ea typeface="DejaVu Sans"/>
                <a:cs typeface="DejaVu Sans"/>
              </a:defRPr>
            </a:pPr>
            <a:r>
              <a:rPr sz="1800" b="1">
                <a:solidFill>
                  <a:srgbClr val="0077B6"/>
                </a:solidFill>
                <a:latin typeface="DejaVu Sans"/>
                <a:ea typeface="DejaVu Sans"/>
                <a:cs typeface="DejaVu Sans"/>
              </a:rPr>
              <a:t>External stacks</a:t>
            </a:r>
          </a:p>
        </p:txBody>
      </p:sp>
      <p:sp>
        <p:nvSpPr>
          <p:cNvPr id="16" name="">
            <a:extLst xmlns:a="http://schemas.openxmlformats.org/drawingml/2006/main">
              <a:ext uri="{FF2B5EF4-FFF2-40B4-BE49-F238E27FC236}">
                <a16:creationId xmlns:a16="http://schemas.microsoft.com/office/drawing/2014/main" id="{920B7751-60FF-49B6-B194-2C0662BCF942}"/>
              </a:ext>
            </a:extLst>
          </p:cNvPr>
          <p:cNvSpPr>
            <a:spLocks xmlns:a="http://schemas.openxmlformats.org/drawingml/2006/main" noGrp="1"/>
          </p:cNvSpPr>
          <p:nvPr/>
        </p:nvSpPr>
        <p:spPr>
          <a:xfrm xmlns:a="http://schemas.openxmlformats.org/drawingml/2006/main">
            <a:off x="9391650" y="1790700"/>
            <a:ext cx="21907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marL="228600" indent="-114300">
              <a:lnSpc>
                <a:spcPct val="100000"/>
              </a:lnSpc>
              <a:spcAft>
                <a:spcPts val="500"/>
              </a:spcAft>
              <a:buNone/>
              <a:defRPr sz="1500">
                <a:solidFill>
                  <a:srgbClr val="334E68"/>
                </a:solidFill>
                <a:latin typeface="DejaVu Sans"/>
                <a:ea typeface="DejaVu Sans"/>
                <a:cs typeface="DejaVu Sans"/>
              </a:defRPr>
            </a:pPr>
            <a:r>
              <a:rPr sz="1500">
                <a:solidFill>
                  <a:srgbClr val="334E68"/>
                </a:solidFill>
                <a:latin typeface="DejaVu Sans"/>
                <a:ea typeface="DejaVu Sans"/>
                <a:cs typeface="DejaVu Sans"/>
              </a:rPr>
              <a:t>Nav2</a:t>
            </a:r>
          </a:p>
          <a:p xmlns:a="http://schemas.openxmlformats.org/drawingml/2006/main">
            <a:pPr marL="228600" indent="-114300">
              <a:lnSpc>
                <a:spcPct val="100000"/>
              </a:lnSpc>
              <a:spcAft>
                <a:spcPts val="500"/>
              </a:spcAft>
              <a:buNone/>
              <a:defRPr sz="1500">
                <a:solidFill>
                  <a:srgbClr val="334E68"/>
                </a:solidFill>
                <a:latin typeface="DejaVu Sans"/>
                <a:ea typeface="DejaVu Sans"/>
                <a:cs typeface="DejaVu Sans"/>
              </a:defRPr>
            </a:pPr>
            <a:r>
              <a:rPr sz="1500">
                <a:solidFill>
                  <a:srgbClr val="334E68"/>
                </a:solidFill>
                <a:latin typeface="DejaVu Sans"/>
                <a:ea typeface="DejaVu Sans"/>
                <a:cs typeface="DejaVu Sans"/>
              </a:rPr>
              <a:t>robot_localization</a:t>
            </a:r>
          </a:p>
          <a:p xmlns:a="http://schemas.openxmlformats.org/drawingml/2006/main">
            <a:pPr marL="228600" indent="-114300">
              <a:lnSpc>
                <a:spcPct val="100000"/>
              </a:lnSpc>
              <a:spcAft>
                <a:spcPts val="500"/>
              </a:spcAft>
              <a:buNone/>
              <a:defRPr sz="1500">
                <a:solidFill>
                  <a:srgbClr val="334E68"/>
                </a:solidFill>
                <a:latin typeface="DejaVu Sans"/>
                <a:ea typeface="DejaVu Sans"/>
                <a:cs typeface="DejaVu Sans"/>
              </a:defRPr>
            </a:pPr>
            <a:r>
              <a:rPr sz="1500">
                <a:solidFill>
                  <a:srgbClr val="334E68"/>
                </a:solidFill>
                <a:latin typeface="DejaVu Sans"/>
                <a:ea typeface="DejaVu Sans"/>
                <a:cs typeface="DejaVu Sans"/>
              </a:rPr>
              <a:t>SLAM Toolbox + AMCL</a:t>
            </a:r>
          </a:p>
          <a:p xmlns:a="http://schemas.openxmlformats.org/drawingml/2006/main">
            <a:pPr marL="228600" indent="-114300">
              <a:lnSpc>
                <a:spcPct val="100000"/>
              </a:lnSpc>
              <a:spcAft>
                <a:spcPts val="500"/>
              </a:spcAft>
              <a:buNone/>
              <a:defRPr sz="1500">
                <a:solidFill>
                  <a:srgbClr val="334E68"/>
                </a:solidFill>
                <a:latin typeface="DejaVu Sans"/>
                <a:ea typeface="DejaVu Sans"/>
                <a:cs typeface="DejaVu Sans"/>
              </a:defRPr>
            </a:pPr>
            <a:r>
              <a:rPr sz="1500">
                <a:solidFill>
                  <a:srgbClr val="334E68"/>
                </a:solidFill>
                <a:latin typeface="DejaVu Sans"/>
                <a:ea typeface="DejaVu Sans"/>
                <a:cs typeface="DejaVu Sans"/>
              </a:rPr>
              <a:t>MoveIt</a:t>
            </a:r>
          </a:p>
          <a:p xmlns:a="http://schemas.openxmlformats.org/drawingml/2006/main">
            <a:pPr marL="228600" indent="-114300">
              <a:lnSpc>
                <a:spcPct val="100000"/>
              </a:lnSpc>
              <a:spcAft>
                <a:spcPts val="500"/>
              </a:spcAft>
              <a:buNone/>
              <a:defRPr sz="1500">
                <a:solidFill>
                  <a:srgbClr val="334E68"/>
                </a:solidFill>
                <a:latin typeface="DejaVu Sans"/>
                <a:ea typeface="DejaVu Sans"/>
                <a:cs typeface="DejaVu Sans"/>
              </a:defRPr>
            </a:pPr>
            <a:r>
              <a:rPr sz="1500">
                <a:solidFill>
                  <a:srgbClr val="334E68"/>
                </a:solidFill>
                <a:latin typeface="DejaVu Sans"/>
                <a:ea typeface="DejaVu Sans"/>
                <a:cs typeface="DejaVu Sans"/>
              </a:rPr>
              <a:t>AprilTag ROS</a:t>
            </a:r>
          </a:p>
          <a:p xmlns:a="http://schemas.openxmlformats.org/drawingml/2006/main">
            <a:pPr marL="228600" indent="-114300">
              <a:lnSpc>
                <a:spcPct val="100000"/>
              </a:lnSpc>
              <a:spcAft>
                <a:spcPts val="500"/>
              </a:spcAft>
              <a:buNone/>
              <a:defRPr sz="1500">
                <a:solidFill>
                  <a:srgbClr val="334E68"/>
                </a:solidFill>
                <a:latin typeface="DejaVu Sans"/>
                <a:ea typeface="DejaVu Sans"/>
                <a:cs typeface="DejaVu Sans"/>
              </a:defRPr>
            </a:pPr>
            <a:r>
              <a:rPr sz="1500">
                <a:solidFill>
                  <a:srgbClr val="334E68"/>
                </a:solidFill>
                <a:latin typeface="DejaVu Sans"/>
                <a:ea typeface="DejaVu Sans"/>
                <a:cs typeface="DejaVu Sans"/>
              </a:rPr>
              <a:t>ros_gz_bridge</a:t>
            </a:r>
          </a:p>
        </p:txBody>
      </p:sp>
      <p:sp>
        <p:nvSpPr>
          <p:cNvPr id="17" name="">
            <a:extLst xmlns:a="http://schemas.openxmlformats.org/drawingml/2006/main">
              <a:ext uri="{FF2B5EF4-FFF2-40B4-BE49-F238E27FC236}">
                <a16:creationId xmlns:a16="http://schemas.microsoft.com/office/drawing/2014/main" id="{7ECEBE96-0719-4C95-B71E-BB697896131B}"/>
              </a:ext>
            </a:extLst>
          </p:cNvPr>
          <p:cNvSpPr>
            <a:spLocks xmlns:a="http://schemas.openxmlformats.org/drawingml/2006/main" noGrp="1"/>
          </p:cNvSpPr>
          <p:nvPr/>
        </p:nvSpPr>
        <p:spPr>
          <a:xfrm xmlns:a="http://schemas.openxmlformats.org/drawingml/2006/main">
            <a:off x="9353550" y="4762500"/>
            <a:ext cx="2266950" cy="933450"/>
          </a:xfrm>
          <a:prstGeom xmlns:a="http://schemas.openxmlformats.org/drawingml/2006/main" prst="roundRect">
            <a:avLst>
              <a:gd name="adj" fmla="val 10204"/>
            </a:avLst>
          </a:prstGeom>
          <a:solidFill xmlns:a="http://schemas.openxmlformats.org/drawingml/2006/main">
            <a:srgbClr val="FFF4E5"/>
          </a:solidFill>
          <a:ln xmlns:a="http://schemas.openxmlformats.org/drawingml/2006/main" w="14288">
            <a:solidFill>
              <a:srgbClr val="B96B12"/>
            </a:solidFill>
            <a:prstDash val="solid"/>
          </a:ln>
        </p:spPr>
        <p:txBody>
          <a:bodyPr xmlns:a="http://schemas.openxmlformats.org/drawingml/2006/main" lIns="95250" tIns="76200" rIns="95250" bIns="76200" anchor="ctr">
            <a:normAutofit fontScale="97569"/>
          </a:bodyPr>
          <a:lstStyle xmlns:a="http://schemas.openxmlformats.org/drawingml/2006/main"/>
          <a:p xmlns:a="http://schemas.openxmlformats.org/drawingml/2006/main">
            <a:pPr algn="ctr">
              <a:lnSpc>
                <a:spcPct val="95000"/>
              </a:lnSpc>
              <a:buNone/>
              <a:defRPr sz="1350" b="0">
                <a:solidFill>
                  <a:srgbClr val="B96B12"/>
                </a:solidFill>
                <a:latin typeface="DejaVu Sans"/>
                <a:ea typeface="DejaVu Sans"/>
                <a:cs typeface="DejaVu Sans"/>
              </a:defRPr>
            </a:pPr>
            <a:r>
              <a:rPr sz="1350" b="0">
                <a:solidFill>
                  <a:srgbClr val="B96B12"/>
                </a:solidFill>
                <a:latin typeface="DejaVu Sans"/>
                <a:ea typeface="DejaVu Sans"/>
                <a:cs typeface="DejaVu Sans"/>
              </a:rPr>
              <a:t>Legacy source</a:t>
            </a:r>
          </a:p>
          <a:p xmlns:a="http://schemas.openxmlformats.org/drawingml/2006/main">
            <a:pPr algn="ctr">
              <a:lnSpc>
                <a:spcPct val="95000"/>
              </a:lnSpc>
              <a:buNone/>
              <a:defRPr sz="1350" b="0">
                <a:solidFill>
                  <a:srgbClr val="B96B12"/>
                </a:solidFill>
                <a:latin typeface="DejaVu Sans"/>
                <a:ea typeface="DejaVu Sans"/>
                <a:cs typeface="DejaVu Sans"/>
              </a:defRPr>
            </a:pPr>
            <a:r>
              <a:rPr sz="1350" b="0">
                <a:solidFill>
                  <a:srgbClr val="B96B12"/>
                </a:solidFill>
                <a:latin typeface="DejaVu Sans"/>
                <a:ea typeface="DejaVu Sans"/>
                <a:cs typeface="DejaVu Sans"/>
              </a:rPr>
              <a:t>amr_machine_controller</a:t>
            </a:r>
          </a:p>
          <a:p xmlns:a="http://schemas.openxmlformats.org/drawingml/2006/main">
            <a:pPr algn="ctr">
              <a:lnSpc>
                <a:spcPct val="95000"/>
              </a:lnSpc>
              <a:buNone/>
              <a:defRPr sz="1350" b="0">
                <a:solidFill>
                  <a:srgbClr val="B96B12"/>
                </a:solidFill>
                <a:latin typeface="DejaVu Sans"/>
                <a:ea typeface="DejaVu Sans"/>
                <a:cs typeface="DejaVu Sans"/>
              </a:defRPr>
            </a:pPr>
            <a:r>
              <a:rPr sz="1350" b="0">
                <a:solidFill>
                  <a:srgbClr val="B96B12"/>
                </a:solidFill>
                <a:latin typeface="DejaVu Sans"/>
                <a:ea typeface="DejaVu Sans"/>
                <a:cs typeface="DejaVu Sans"/>
              </a:rPr>
              <a:t>not an active package</a:t>
            </a:r>
          </a:p>
        </p:txBody>
      </p:sp>
    </p:spTree>
    <p:extLst>
      <p:ext uri="{BB962C8B-B14F-4D97-AF65-F5344CB8AC3E}">
        <p14:creationId xmlns:p14="http://schemas.microsoft.com/office/powerpoint/2010/main" val="88128318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3B589201-40A7-4E75-9572-B00945EB424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A18A736-1ECD-4B54-BA08-834F462BBC97}"/>
              </a:ext>
            </a:extLst>
          </p:cNvPr>
          <p:cNvSpPr>
            <a:spLocks xmlns:a="http://schemas.openxmlformats.org/drawingml/2006/main" noGrp="1"/>
          </p:cNvSpPr>
          <p:nvPr/>
        </p:nvSpPr>
        <p:spPr>
          <a:xfrm xmlns:a="http://schemas.openxmlformats.org/drawingml/2006/main">
            <a:off x="609600" y="323850"/>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3150" b="1">
                <a:solidFill>
                  <a:srgbClr val="102A43"/>
                </a:solidFill>
                <a:latin typeface="DejaVu Sans"/>
                <a:ea typeface="DejaVu Sans"/>
                <a:cs typeface="DejaVu Sans"/>
              </a:defRPr>
            </a:pPr>
            <a:r>
              <a:rPr sz="3150" b="1">
                <a:solidFill>
                  <a:srgbClr val="102A43"/>
                </a:solidFill>
                <a:latin typeface="DejaVu Sans"/>
                <a:ea typeface="DejaVu Sans"/>
                <a:cs typeface="DejaVu Sans"/>
              </a:rPr>
              <a:t>ROS 2 interfaces and communication</a:t>
            </a:r>
          </a:p>
        </p:txBody>
      </p:sp>
      <p:sp>
        <p:nvSpPr>
          <p:cNvPr id="3" name="">
            <a:extLst xmlns:a="http://schemas.openxmlformats.org/drawingml/2006/main">
              <a:ext uri="{FF2B5EF4-FFF2-40B4-BE49-F238E27FC236}">
                <a16:creationId xmlns:a16="http://schemas.microsoft.com/office/drawing/2014/main" id="{921216EF-65AA-452D-B4C6-E883073DBFEF}"/>
              </a:ext>
            </a:extLst>
          </p:cNvPr>
          <p:cNvSpPr>
            <a:spLocks xmlns:a="http://schemas.openxmlformats.org/drawingml/2006/main" noGrp="1"/>
          </p:cNvSpPr>
          <p:nvPr/>
        </p:nvSpPr>
        <p:spPr>
          <a:xfrm xmlns:a="http://schemas.openxmlformats.org/drawingml/2006/main">
            <a:off x="628650" y="87630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75" b="0">
                <a:solidFill>
                  <a:srgbClr val="536575"/>
                </a:solidFill>
                <a:latin typeface="DejaVu Sans"/>
                <a:ea typeface="DejaVu Sans"/>
                <a:cs typeface="DejaVu Sans"/>
              </a:defRPr>
            </a:pPr>
            <a:r>
              <a:rPr sz="1575" b="0">
                <a:solidFill>
                  <a:srgbClr val="536575"/>
                </a:solidFill>
                <a:latin typeface="DejaVu Sans"/>
                <a:ea typeface="DejaVu Sans"/>
                <a:cs typeface="DejaVu Sans"/>
              </a:rPr>
              <a:t>Names, types, QoS and ownership form the public contract</a:t>
            </a:r>
          </a:p>
        </p:txBody>
      </p:sp>
      <p:sp>
        <p:nvSpPr>
          <p:cNvPr id="4" name="">
            <a:extLst xmlns:a="http://schemas.openxmlformats.org/drawingml/2006/main">
              <a:ext uri="{FF2B5EF4-FFF2-40B4-BE49-F238E27FC236}">
                <a16:creationId xmlns:a16="http://schemas.microsoft.com/office/drawing/2014/main" id="{BEFFFB16-AA7E-4B91-B99C-737C283AD35F}"/>
              </a:ext>
            </a:extLst>
          </p:cNvPr>
          <p:cNvSpPr>
            <a:spLocks xmlns:a="http://schemas.openxmlformats.org/drawingml/2006/main" noGrp="1"/>
          </p:cNvSpPr>
          <p:nvPr/>
        </p:nvSpPr>
        <p:spPr>
          <a:xfrm xmlns:a="http://schemas.openxmlformats.org/drawingml/2006/main">
            <a:off x="11144250" y="400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r">
              <a:lnSpc>
                <a:spcPct val="100000"/>
              </a:lnSpc>
              <a:buNone/>
              <a:defRPr sz="1350" b="1">
                <a:solidFill>
                  <a:srgbClr val="0077B6"/>
                </a:solidFill>
                <a:latin typeface="DejaVu Sans"/>
                <a:ea typeface="DejaVu Sans"/>
                <a:cs typeface="DejaVu Sans"/>
              </a:defRPr>
            </a:pPr>
            <a:r>
              <a:rPr sz="1350" b="1">
                <a:solidFill>
                  <a:srgbClr val="0077B6"/>
                </a:solidFill>
                <a:latin typeface="DejaVu Sans"/>
                <a:ea typeface="DejaVu Sans"/>
                <a:cs typeface="DejaVu Sans"/>
              </a:rPr>
              <a:t>03</a:t>
            </a:r>
          </a:p>
        </p:txBody>
      </p:sp>
      <p:sp>
        <p:nvSpPr>
          <p:cNvPr id="5" name="">
            <a:extLst xmlns:a="http://schemas.openxmlformats.org/drawingml/2006/main">
              <a:ext uri="{FF2B5EF4-FFF2-40B4-BE49-F238E27FC236}">
                <a16:creationId xmlns:a16="http://schemas.microsoft.com/office/drawing/2014/main" id="{8A526BB6-C043-4A67-8A35-3CF9C416B5DC}"/>
              </a:ext>
            </a:extLst>
          </p:cNvPr>
          <p:cNvSpPr>
            <a:spLocks xmlns:a="http://schemas.openxmlformats.org/drawingml/2006/main" noGrp="1"/>
          </p:cNvSpPr>
          <p:nvPr/>
        </p:nvSpPr>
        <p:spPr>
          <a:xfrm xmlns:a="http://schemas.openxmlformats.org/drawingml/2006/main">
            <a:off x="619125" y="1447800"/>
            <a:ext cx="2571750" cy="2047875"/>
          </a:xfrm>
          <a:prstGeom xmlns:a="http://schemas.openxmlformats.org/drawingml/2006/main" prst="roundRect">
            <a:avLst>
              <a:gd name="adj" fmla="val 4651"/>
            </a:avLst>
          </a:prstGeom>
          <a:solidFill xmlns:a="http://schemas.openxmlformats.org/drawingml/2006/main">
            <a:srgbClr val="EAF6FC"/>
          </a:solidFill>
          <a:ln xmlns:a="http://schemas.openxmlformats.org/drawingml/2006/main" w="14288">
            <a:solidFill>
              <a:srgbClr val="C9D6E2"/>
            </a:solidFill>
            <a:prstDash val="solid"/>
          </a:ln>
        </p:spPr>
        <p:txBody>
          <a:bodyPr xmlns:a="http://schemas.openxmlformats.org/drawingml/2006/main" lIns="95250" tIns="76200" rIns="95250" bIns="76200" anchor="ctr">
            <a:normAutofit/>
          </a:bodyPr>
          <a:lstStyle xmlns:a="http://schemas.openxmlformats.org/drawingml/2006/main"/>
          <a:p xmlns:a="http://schemas.openxmlformats.org/drawingml/2006/main">
            <a:r>
              <a:t/>
            </a:r>
          </a:p>
        </p:txBody>
      </p:sp>
      <p:sp>
        <p:nvSpPr>
          <p:cNvPr id="6" name="">
            <a:extLst xmlns:a="http://schemas.openxmlformats.org/drawingml/2006/main">
              <a:ext uri="{FF2B5EF4-FFF2-40B4-BE49-F238E27FC236}">
                <a16:creationId xmlns:a16="http://schemas.microsoft.com/office/drawing/2014/main" id="{D4FEFD75-9C58-4724-87E2-8BA8A7DB5585}"/>
              </a:ext>
            </a:extLst>
          </p:cNvPr>
          <p:cNvSpPr>
            <a:spLocks xmlns:a="http://schemas.openxmlformats.org/drawingml/2006/main" noGrp="1"/>
          </p:cNvSpPr>
          <p:nvPr/>
        </p:nvSpPr>
        <p:spPr>
          <a:xfrm xmlns:a="http://schemas.openxmlformats.org/drawingml/2006/main">
            <a:off x="790575" y="16192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500" b="1">
                <a:solidFill>
                  <a:srgbClr val="0077B6"/>
                </a:solidFill>
                <a:latin typeface="DejaVu Sans"/>
                <a:ea typeface="DejaVu Sans"/>
                <a:cs typeface="DejaVu Sans"/>
              </a:defRPr>
            </a:pPr>
            <a:r>
              <a:rPr sz="1500" b="1">
                <a:solidFill>
                  <a:srgbClr val="0077B6"/>
                </a:solidFill>
                <a:latin typeface="DejaVu Sans"/>
                <a:ea typeface="DejaVu Sans"/>
                <a:cs typeface="DejaVu Sans"/>
              </a:rPr>
              <a:t>TOPIC</a:t>
            </a:r>
          </a:p>
        </p:txBody>
      </p:sp>
      <p:sp>
        <p:nvSpPr>
          <p:cNvPr id="7" name="">
            <a:extLst xmlns:a="http://schemas.openxmlformats.org/drawingml/2006/main">
              <a:ext uri="{FF2B5EF4-FFF2-40B4-BE49-F238E27FC236}">
                <a16:creationId xmlns:a16="http://schemas.microsoft.com/office/drawing/2014/main" id="{9E2D7896-C6C4-4549-BD02-0796BE4585EA}"/>
              </a:ext>
            </a:extLst>
          </p:cNvPr>
          <p:cNvSpPr>
            <a:spLocks xmlns:a="http://schemas.openxmlformats.org/drawingml/2006/main" noGrp="1"/>
          </p:cNvSpPr>
          <p:nvPr/>
        </p:nvSpPr>
        <p:spPr>
          <a:xfrm xmlns:a="http://schemas.openxmlformats.org/drawingml/2006/main">
            <a:off x="790575" y="2000250"/>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lnSpc>
                <a:spcPct val="100000"/>
              </a:lnSpc>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Continuous stream</a:t>
            </a:r>
          </a:p>
        </p:txBody>
      </p:sp>
      <p:sp>
        <p:nvSpPr>
          <p:cNvPr id="8" name="">
            <a:extLst xmlns:a="http://schemas.openxmlformats.org/drawingml/2006/main">
              <a:ext uri="{FF2B5EF4-FFF2-40B4-BE49-F238E27FC236}">
                <a16:creationId xmlns:a16="http://schemas.microsoft.com/office/drawing/2014/main" id="{3D787930-0687-4D2D-920D-980637BADE5D}"/>
              </a:ext>
            </a:extLst>
          </p:cNvPr>
          <p:cNvSpPr>
            <a:spLocks xmlns:a="http://schemas.openxmlformats.org/drawingml/2006/main" noGrp="1"/>
          </p:cNvSpPr>
          <p:nvPr/>
        </p:nvSpPr>
        <p:spPr>
          <a:xfrm xmlns:a="http://schemas.openxmlformats.org/drawingml/2006/main">
            <a:off x="790575" y="2514600"/>
            <a:ext cx="219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lnSpc>
                <a:spcPct val="100000"/>
              </a:lnSpc>
              <a:buNone/>
              <a:defRPr sz="1200" b="0">
                <a:solidFill>
                  <a:srgbClr val="334E68"/>
                </a:solidFill>
                <a:latin typeface="DejaVu Sans"/>
                <a:ea typeface="DejaVu Sans"/>
                <a:cs typeface="DejaVu Sans"/>
              </a:defRPr>
            </a:pPr>
            <a:r>
              <a:rPr sz="1200" b="0">
                <a:solidFill>
                  <a:srgbClr val="334E68"/>
                </a:solidFill>
                <a:latin typeface="DejaVu Sans"/>
                <a:ea typeface="DejaVu Sans"/>
                <a:cs typeface="DejaVu Sans"/>
              </a:rPr>
              <a:t>/amr/localization/</a:t>
            </a:r>
          </a:p>
          <a:p xmlns:a="http://schemas.openxmlformats.org/drawingml/2006/main">
            <a:pPr algn="ctr">
              <a:lnSpc>
                <a:spcPct val="100000"/>
              </a:lnSpc>
              <a:buNone/>
              <a:defRPr sz="1200" b="0">
                <a:solidFill>
                  <a:srgbClr val="334E68"/>
                </a:solidFill>
                <a:latin typeface="DejaVu Sans"/>
                <a:ea typeface="DejaVu Sans"/>
                <a:cs typeface="DejaVu Sans"/>
              </a:defRPr>
            </a:pPr>
            <a:r>
              <a:rPr sz="1200" b="0">
                <a:solidFill>
                  <a:srgbClr val="334E68"/>
                </a:solidFill>
                <a:latin typeface="DejaVu Sans"/>
                <a:ea typeface="DejaVu Sans"/>
                <a:cs typeface="DejaVu Sans"/>
              </a:rPr>
              <a:t>odometry</a:t>
            </a:r>
          </a:p>
        </p:txBody>
      </p:sp>
      <p:sp>
        <p:nvSpPr>
          <p:cNvPr id="9" name="">
            <a:extLst xmlns:a="http://schemas.openxmlformats.org/drawingml/2006/main">
              <a:ext uri="{FF2B5EF4-FFF2-40B4-BE49-F238E27FC236}">
                <a16:creationId xmlns:a16="http://schemas.microsoft.com/office/drawing/2014/main" id="{86DB1BC0-9E99-44F0-9DBE-B4D06E8E673D}"/>
              </a:ext>
            </a:extLst>
          </p:cNvPr>
          <p:cNvSpPr>
            <a:spLocks xmlns:a="http://schemas.openxmlformats.org/drawingml/2006/main" noGrp="1"/>
          </p:cNvSpPr>
          <p:nvPr/>
        </p:nvSpPr>
        <p:spPr>
          <a:xfrm xmlns:a="http://schemas.openxmlformats.org/drawingml/2006/main">
            <a:off x="790575" y="304800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lnSpc>
                <a:spcPct val="100000"/>
              </a:lnSpc>
              <a:buNone/>
              <a:defRPr sz="1125" b="0">
                <a:solidFill>
                  <a:srgbClr val="536575"/>
                </a:solidFill>
                <a:latin typeface="DejaVu Sans"/>
                <a:ea typeface="DejaVu Sans"/>
                <a:cs typeface="DejaVu Sans"/>
              </a:defRPr>
            </a:pPr>
            <a:r>
              <a:rPr sz="1125" b="0">
                <a:solidFill>
                  <a:srgbClr val="536575"/>
                </a:solidFill>
                <a:latin typeface="DejaVu Sans"/>
                <a:ea typeface="DejaVu Sans"/>
                <a:cs typeface="DejaVu Sans"/>
              </a:rPr>
              <a:t>nav_msgs/Odometry</a:t>
            </a:r>
          </a:p>
        </p:txBody>
      </p:sp>
      <p:sp>
        <p:nvSpPr>
          <p:cNvPr id="10" name="">
            <a:extLst xmlns:a="http://schemas.openxmlformats.org/drawingml/2006/main">
              <a:ext uri="{FF2B5EF4-FFF2-40B4-BE49-F238E27FC236}">
                <a16:creationId xmlns:a16="http://schemas.microsoft.com/office/drawing/2014/main" id="{CBD4BE89-6E66-49F9-9F97-E6BE9E6FB069}"/>
              </a:ext>
            </a:extLst>
          </p:cNvPr>
          <p:cNvSpPr>
            <a:spLocks xmlns:a="http://schemas.openxmlformats.org/drawingml/2006/main" noGrp="1"/>
          </p:cNvSpPr>
          <p:nvPr/>
        </p:nvSpPr>
        <p:spPr>
          <a:xfrm xmlns:a="http://schemas.openxmlformats.org/drawingml/2006/main">
            <a:off x="3476625" y="1447800"/>
            <a:ext cx="2571750" cy="2047875"/>
          </a:xfrm>
          <a:prstGeom xmlns:a="http://schemas.openxmlformats.org/drawingml/2006/main" prst="roundRect">
            <a:avLst>
              <a:gd name="adj" fmla="val 4651"/>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a:bodyPr>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AEDCEA29-37B5-48D3-BB4A-25FEF863178D}"/>
              </a:ext>
            </a:extLst>
          </p:cNvPr>
          <p:cNvSpPr>
            <a:spLocks xmlns:a="http://schemas.openxmlformats.org/drawingml/2006/main" noGrp="1"/>
          </p:cNvSpPr>
          <p:nvPr/>
        </p:nvSpPr>
        <p:spPr>
          <a:xfrm xmlns:a="http://schemas.openxmlformats.org/drawingml/2006/main">
            <a:off x="3648075" y="16192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500" b="1">
                <a:solidFill>
                  <a:srgbClr val="0077B6"/>
                </a:solidFill>
                <a:latin typeface="DejaVu Sans"/>
                <a:ea typeface="DejaVu Sans"/>
                <a:cs typeface="DejaVu Sans"/>
              </a:defRPr>
            </a:pPr>
            <a:r>
              <a:rPr sz="1500" b="1">
                <a:solidFill>
                  <a:srgbClr val="0077B6"/>
                </a:solidFill>
                <a:latin typeface="DejaVu Sans"/>
                <a:ea typeface="DejaVu Sans"/>
                <a:cs typeface="DejaVu Sans"/>
              </a:rPr>
              <a:t>SERVICE</a:t>
            </a:r>
          </a:p>
        </p:txBody>
      </p:sp>
      <p:sp>
        <p:nvSpPr>
          <p:cNvPr id="12" name="">
            <a:extLst xmlns:a="http://schemas.openxmlformats.org/drawingml/2006/main">
              <a:ext uri="{FF2B5EF4-FFF2-40B4-BE49-F238E27FC236}">
                <a16:creationId xmlns:a16="http://schemas.microsoft.com/office/drawing/2014/main" id="{21DC65DF-0608-45B4-B027-65DB5CDAA4F8}"/>
              </a:ext>
            </a:extLst>
          </p:cNvPr>
          <p:cNvSpPr>
            <a:spLocks xmlns:a="http://schemas.openxmlformats.org/drawingml/2006/main" noGrp="1"/>
          </p:cNvSpPr>
          <p:nvPr/>
        </p:nvSpPr>
        <p:spPr>
          <a:xfrm xmlns:a="http://schemas.openxmlformats.org/drawingml/2006/main">
            <a:off x="3648075" y="2000250"/>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lnSpc>
                <a:spcPct val="100000"/>
              </a:lnSpc>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Bounded request / response</a:t>
            </a:r>
          </a:p>
        </p:txBody>
      </p:sp>
      <p:sp>
        <p:nvSpPr>
          <p:cNvPr id="13" name="">
            <a:extLst xmlns:a="http://schemas.openxmlformats.org/drawingml/2006/main">
              <a:ext uri="{FF2B5EF4-FFF2-40B4-BE49-F238E27FC236}">
                <a16:creationId xmlns:a16="http://schemas.microsoft.com/office/drawing/2014/main" id="{097B7EB9-939F-4988-8BE8-B2E332742C0B}"/>
              </a:ext>
            </a:extLst>
          </p:cNvPr>
          <p:cNvSpPr>
            <a:spLocks xmlns:a="http://schemas.openxmlformats.org/drawingml/2006/main" noGrp="1"/>
          </p:cNvSpPr>
          <p:nvPr/>
        </p:nvSpPr>
        <p:spPr>
          <a:xfrm xmlns:a="http://schemas.openxmlformats.org/drawingml/2006/main">
            <a:off x="3648075" y="2514600"/>
            <a:ext cx="219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lnSpc>
                <a:spcPct val="100000"/>
              </a:lnSpc>
              <a:buNone/>
              <a:defRPr sz="1200" b="0">
                <a:solidFill>
                  <a:srgbClr val="334E68"/>
                </a:solidFill>
                <a:latin typeface="DejaVu Sans"/>
                <a:ea typeface="DejaVu Sans"/>
                <a:cs typeface="DejaVu Sans"/>
              </a:defRPr>
            </a:pPr>
            <a:r>
              <a:rPr sz="1200" b="0">
                <a:solidFill>
                  <a:srgbClr val="334E68"/>
                </a:solidFill>
                <a:latin typeface="DejaVu Sans"/>
                <a:ea typeface="DejaVu Sans"/>
                <a:cs typeface="DejaVu Sans"/>
              </a:rPr>
              <a:t>/amr/factory/</a:t>
            </a:r>
          </a:p>
          <a:p xmlns:a="http://schemas.openxmlformats.org/drawingml/2006/main">
            <a:pPr algn="ctr">
              <a:lnSpc>
                <a:spcPct val="100000"/>
              </a:lnSpc>
              <a:buNone/>
              <a:defRPr sz="1200" b="0">
                <a:solidFill>
                  <a:srgbClr val="334E68"/>
                </a:solidFill>
                <a:latin typeface="DejaVu Sans"/>
                <a:ea typeface="DejaVu Sans"/>
                <a:cs typeface="DejaVu Sans"/>
              </a:defRPr>
            </a:pPr>
            <a:r>
              <a:rPr sz="1200" b="0">
                <a:solidFill>
                  <a:srgbClr val="334E68"/>
                </a:solidFill>
                <a:latin typeface="DejaVu Sans"/>
                <a:ea typeface="DejaVu Sans"/>
                <a:cs typeface="DejaVu Sans"/>
              </a:rPr>
              <a:t>set_operation_mode</a:t>
            </a:r>
          </a:p>
        </p:txBody>
      </p:sp>
      <p:sp>
        <p:nvSpPr>
          <p:cNvPr id="14" name="">
            <a:extLst xmlns:a="http://schemas.openxmlformats.org/drawingml/2006/main">
              <a:ext uri="{FF2B5EF4-FFF2-40B4-BE49-F238E27FC236}">
                <a16:creationId xmlns:a16="http://schemas.microsoft.com/office/drawing/2014/main" id="{9AB30F1B-CD30-46F0-B194-EE0EE38E5D76}"/>
              </a:ext>
            </a:extLst>
          </p:cNvPr>
          <p:cNvSpPr>
            <a:spLocks xmlns:a="http://schemas.openxmlformats.org/drawingml/2006/main" noGrp="1"/>
          </p:cNvSpPr>
          <p:nvPr/>
        </p:nvSpPr>
        <p:spPr>
          <a:xfrm xmlns:a="http://schemas.openxmlformats.org/drawingml/2006/main">
            <a:off x="3648075" y="304800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83333"/>
          </a:bodyPr>
          <a:lstStyle xmlns:a="http://schemas.openxmlformats.org/drawingml/2006/main"/>
          <a:p xmlns:a="http://schemas.openxmlformats.org/drawingml/2006/main">
            <a:pPr algn="ctr">
              <a:lnSpc>
                <a:spcPct val="100000"/>
              </a:lnSpc>
              <a:buNone/>
              <a:defRPr sz="1125" b="0">
                <a:solidFill>
                  <a:srgbClr val="536575"/>
                </a:solidFill>
                <a:latin typeface="DejaVu Sans"/>
                <a:ea typeface="DejaVu Sans"/>
                <a:cs typeface="DejaVu Sans"/>
              </a:defRPr>
            </a:pPr>
            <a:r>
              <a:rPr sz="1125" b="0">
                <a:solidFill>
                  <a:srgbClr val="536575"/>
                </a:solidFill>
                <a:latin typeface="DejaVu Sans"/>
                <a:ea typeface="DejaVu Sans"/>
                <a:cs typeface="DejaVu Sans"/>
              </a:rPr>
              <a:t>amr_interfaces/</a:t>
            </a:r>
          </a:p>
          <a:p xmlns:a="http://schemas.openxmlformats.org/drawingml/2006/main">
            <a:pPr algn="ctr">
              <a:lnSpc>
                <a:spcPct val="100000"/>
              </a:lnSpc>
              <a:buNone/>
              <a:defRPr sz="1125" b="0">
                <a:solidFill>
                  <a:srgbClr val="536575"/>
                </a:solidFill>
                <a:latin typeface="DejaVu Sans"/>
                <a:ea typeface="DejaVu Sans"/>
                <a:cs typeface="DejaVu Sans"/>
              </a:defRPr>
            </a:pPr>
            <a:r>
              <a:rPr sz="1125" b="0">
                <a:solidFill>
                  <a:srgbClr val="536575"/>
                </a:solidFill>
                <a:latin typeface="DejaVu Sans"/>
                <a:ea typeface="DejaVu Sans"/>
                <a:cs typeface="DejaVu Sans"/>
              </a:rPr>
              <a:t>SetOperationMode</a:t>
            </a:r>
          </a:p>
        </p:txBody>
      </p:sp>
      <p:sp>
        <p:nvSpPr>
          <p:cNvPr id="15" name="">
            <a:extLst xmlns:a="http://schemas.openxmlformats.org/drawingml/2006/main">
              <a:ext uri="{FF2B5EF4-FFF2-40B4-BE49-F238E27FC236}">
                <a16:creationId xmlns:a16="http://schemas.microsoft.com/office/drawing/2014/main" id="{066D8A5D-481F-450D-BF2A-04DBC945AA38}"/>
              </a:ext>
            </a:extLst>
          </p:cNvPr>
          <p:cNvSpPr>
            <a:spLocks xmlns:a="http://schemas.openxmlformats.org/drawingml/2006/main" noGrp="1"/>
          </p:cNvSpPr>
          <p:nvPr/>
        </p:nvSpPr>
        <p:spPr>
          <a:xfrm xmlns:a="http://schemas.openxmlformats.org/drawingml/2006/main">
            <a:off x="6334125" y="1447800"/>
            <a:ext cx="2571750" cy="2047875"/>
          </a:xfrm>
          <a:prstGeom xmlns:a="http://schemas.openxmlformats.org/drawingml/2006/main" prst="roundRect">
            <a:avLst>
              <a:gd name="adj" fmla="val 4651"/>
            </a:avLst>
          </a:prstGeom>
          <a:solidFill xmlns:a="http://schemas.openxmlformats.org/drawingml/2006/main">
            <a:srgbClr val="EAF6FC"/>
          </a:solidFill>
          <a:ln xmlns:a="http://schemas.openxmlformats.org/drawingml/2006/main" w="14288">
            <a:solidFill>
              <a:srgbClr val="C9D6E2"/>
            </a:solidFill>
            <a:prstDash val="solid"/>
          </a:ln>
        </p:spPr>
        <p:txBody>
          <a:bodyPr xmlns:a="http://schemas.openxmlformats.org/drawingml/2006/main" lIns="95250" tIns="76200" rIns="95250" bIns="76200" anchor="ctr">
            <a:normAutofit/>
          </a:bodyPr>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5F9E91A8-CE90-4534-ACA4-D8DD55903F0D}"/>
              </a:ext>
            </a:extLst>
          </p:cNvPr>
          <p:cNvSpPr>
            <a:spLocks xmlns:a="http://schemas.openxmlformats.org/drawingml/2006/main" noGrp="1"/>
          </p:cNvSpPr>
          <p:nvPr/>
        </p:nvSpPr>
        <p:spPr>
          <a:xfrm xmlns:a="http://schemas.openxmlformats.org/drawingml/2006/main">
            <a:off x="6505575" y="16192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500" b="1">
                <a:solidFill>
                  <a:srgbClr val="0077B6"/>
                </a:solidFill>
                <a:latin typeface="DejaVu Sans"/>
                <a:ea typeface="DejaVu Sans"/>
                <a:cs typeface="DejaVu Sans"/>
              </a:defRPr>
            </a:pPr>
            <a:r>
              <a:rPr sz="1500" b="1">
                <a:solidFill>
                  <a:srgbClr val="0077B6"/>
                </a:solidFill>
                <a:latin typeface="DejaVu Sans"/>
                <a:ea typeface="DejaVu Sans"/>
                <a:cs typeface="DejaVu Sans"/>
              </a:rPr>
              <a:t>ACTION</a:t>
            </a:r>
          </a:p>
        </p:txBody>
      </p:sp>
      <p:sp>
        <p:nvSpPr>
          <p:cNvPr id="17" name="">
            <a:extLst xmlns:a="http://schemas.openxmlformats.org/drawingml/2006/main">
              <a:ext uri="{FF2B5EF4-FFF2-40B4-BE49-F238E27FC236}">
                <a16:creationId xmlns:a16="http://schemas.microsoft.com/office/drawing/2014/main" id="{BE500D92-6081-4AB0-80DF-336E28FC6821}"/>
              </a:ext>
            </a:extLst>
          </p:cNvPr>
          <p:cNvSpPr>
            <a:spLocks xmlns:a="http://schemas.openxmlformats.org/drawingml/2006/main" noGrp="1"/>
          </p:cNvSpPr>
          <p:nvPr/>
        </p:nvSpPr>
        <p:spPr>
          <a:xfrm xmlns:a="http://schemas.openxmlformats.org/drawingml/2006/main">
            <a:off x="6505575" y="2000250"/>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lnSpc>
                <a:spcPct val="100000"/>
              </a:lnSpc>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Goal + feedback + result + cancel</a:t>
            </a:r>
          </a:p>
        </p:txBody>
      </p:sp>
      <p:sp>
        <p:nvSpPr>
          <p:cNvPr id="18" name="">
            <a:extLst xmlns:a="http://schemas.openxmlformats.org/drawingml/2006/main">
              <a:ext uri="{FF2B5EF4-FFF2-40B4-BE49-F238E27FC236}">
                <a16:creationId xmlns:a16="http://schemas.microsoft.com/office/drawing/2014/main" id="{1502711B-496F-4775-85CB-6D66D1C167BD}"/>
              </a:ext>
            </a:extLst>
          </p:cNvPr>
          <p:cNvSpPr>
            <a:spLocks xmlns:a="http://schemas.openxmlformats.org/drawingml/2006/main" noGrp="1"/>
          </p:cNvSpPr>
          <p:nvPr/>
        </p:nvSpPr>
        <p:spPr>
          <a:xfrm xmlns:a="http://schemas.openxmlformats.org/drawingml/2006/main">
            <a:off x="6505575" y="2514600"/>
            <a:ext cx="219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lnSpc>
                <a:spcPct val="100000"/>
              </a:lnSpc>
              <a:buNone/>
              <a:defRPr sz="1200" b="0">
                <a:solidFill>
                  <a:srgbClr val="334E68"/>
                </a:solidFill>
                <a:latin typeface="DejaVu Sans"/>
                <a:ea typeface="DejaVu Sans"/>
                <a:cs typeface="DejaVu Sans"/>
              </a:defRPr>
            </a:pPr>
            <a:r>
              <a:rPr sz="1200" b="0">
                <a:solidFill>
                  <a:srgbClr val="334E68"/>
                </a:solidFill>
                <a:latin typeface="DejaVu Sans"/>
                <a:ea typeface="DejaVu Sans"/>
                <a:cs typeface="DejaVu Sans"/>
              </a:rPr>
              <a:t>/amr/factory/</a:t>
            </a:r>
          </a:p>
          <a:p xmlns:a="http://schemas.openxmlformats.org/drawingml/2006/main">
            <a:pPr algn="ctr">
              <a:lnSpc>
                <a:spcPct val="100000"/>
              </a:lnSpc>
              <a:buNone/>
              <a:defRPr sz="1200" b="0">
                <a:solidFill>
                  <a:srgbClr val="334E68"/>
                </a:solidFill>
                <a:latin typeface="DejaVu Sans"/>
                <a:ea typeface="DejaVu Sans"/>
                <a:cs typeface="DejaVu Sans"/>
              </a:defRPr>
            </a:pPr>
            <a:r>
              <a:rPr sz="1200" b="0">
                <a:solidFill>
                  <a:srgbClr val="334E68"/>
                </a:solidFill>
                <a:latin typeface="DejaVu Sans"/>
                <a:ea typeface="DejaVu Sans"/>
                <a:cs typeface="DejaVu Sans"/>
              </a:rPr>
              <a:t>run_sequence</a:t>
            </a:r>
          </a:p>
        </p:txBody>
      </p:sp>
      <p:sp>
        <p:nvSpPr>
          <p:cNvPr id="19" name="">
            <a:extLst xmlns:a="http://schemas.openxmlformats.org/drawingml/2006/main">
              <a:ext uri="{FF2B5EF4-FFF2-40B4-BE49-F238E27FC236}">
                <a16:creationId xmlns:a16="http://schemas.microsoft.com/office/drawing/2014/main" id="{B800914A-A478-4619-BBF1-3F89B153C789}"/>
              </a:ext>
            </a:extLst>
          </p:cNvPr>
          <p:cNvSpPr>
            <a:spLocks xmlns:a="http://schemas.openxmlformats.org/drawingml/2006/main" noGrp="1"/>
          </p:cNvSpPr>
          <p:nvPr/>
        </p:nvSpPr>
        <p:spPr>
          <a:xfrm xmlns:a="http://schemas.openxmlformats.org/drawingml/2006/main">
            <a:off x="6505575" y="304800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lnSpc>
                <a:spcPct val="100000"/>
              </a:lnSpc>
              <a:buNone/>
              <a:defRPr sz="1125" b="0">
                <a:solidFill>
                  <a:srgbClr val="536575"/>
                </a:solidFill>
                <a:latin typeface="DejaVu Sans"/>
                <a:ea typeface="DejaVu Sans"/>
                <a:cs typeface="DejaVu Sans"/>
              </a:defRPr>
            </a:pPr>
            <a:r>
              <a:rPr sz="1125" b="0">
                <a:solidFill>
                  <a:srgbClr val="536575"/>
                </a:solidFill>
                <a:latin typeface="DejaVu Sans"/>
                <a:ea typeface="DejaVu Sans"/>
                <a:cs typeface="DejaVu Sans"/>
              </a:rPr>
              <a:t>amr_interfaces/RunSequence</a:t>
            </a:r>
          </a:p>
        </p:txBody>
      </p:sp>
      <p:sp>
        <p:nvSpPr>
          <p:cNvPr id="20" name="">
            <a:extLst xmlns:a="http://schemas.openxmlformats.org/drawingml/2006/main">
              <a:ext uri="{FF2B5EF4-FFF2-40B4-BE49-F238E27FC236}">
                <a16:creationId xmlns:a16="http://schemas.microsoft.com/office/drawing/2014/main" id="{909D58C0-8D43-47F3-9E57-ACE4B5E95105}"/>
              </a:ext>
            </a:extLst>
          </p:cNvPr>
          <p:cNvSpPr>
            <a:spLocks xmlns:a="http://schemas.openxmlformats.org/drawingml/2006/main" noGrp="1"/>
          </p:cNvSpPr>
          <p:nvPr/>
        </p:nvSpPr>
        <p:spPr>
          <a:xfrm xmlns:a="http://schemas.openxmlformats.org/drawingml/2006/main">
            <a:off x="9191625" y="1447800"/>
            <a:ext cx="2571750" cy="2047875"/>
          </a:xfrm>
          <a:prstGeom xmlns:a="http://schemas.openxmlformats.org/drawingml/2006/main" prst="roundRect">
            <a:avLst>
              <a:gd name="adj" fmla="val 4651"/>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a:bodyPr>
          <a:lstStyle xmlns:a="http://schemas.openxmlformats.org/drawingml/2006/main"/>
          <a:p xmlns:a="http://schemas.openxmlformats.org/drawingml/2006/main">
            <a:r>
              <a:t/>
            </a:r>
          </a:p>
        </p:txBody>
      </p:sp>
      <p:sp>
        <p:nvSpPr>
          <p:cNvPr id="21" name="">
            <a:extLst xmlns:a="http://schemas.openxmlformats.org/drawingml/2006/main">
              <a:ext uri="{FF2B5EF4-FFF2-40B4-BE49-F238E27FC236}">
                <a16:creationId xmlns:a16="http://schemas.microsoft.com/office/drawing/2014/main" id="{89D243FB-5B18-4331-A62B-50096BFA7058}"/>
              </a:ext>
            </a:extLst>
          </p:cNvPr>
          <p:cNvSpPr>
            <a:spLocks xmlns:a="http://schemas.openxmlformats.org/drawingml/2006/main" noGrp="1"/>
          </p:cNvSpPr>
          <p:nvPr/>
        </p:nvSpPr>
        <p:spPr>
          <a:xfrm xmlns:a="http://schemas.openxmlformats.org/drawingml/2006/main">
            <a:off x="9363075" y="16192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500" b="1">
                <a:solidFill>
                  <a:srgbClr val="0077B6"/>
                </a:solidFill>
                <a:latin typeface="DejaVu Sans"/>
                <a:ea typeface="DejaVu Sans"/>
                <a:cs typeface="DejaVu Sans"/>
              </a:defRPr>
            </a:pPr>
            <a:r>
              <a:rPr sz="1500" b="1">
                <a:solidFill>
                  <a:srgbClr val="0077B6"/>
                </a:solidFill>
                <a:latin typeface="DejaVu Sans"/>
                <a:ea typeface="DejaVu Sans"/>
                <a:cs typeface="DejaVu Sans"/>
              </a:rPr>
              <a:t>LIFECYCLE</a:t>
            </a:r>
          </a:p>
        </p:txBody>
      </p:sp>
      <p:sp>
        <p:nvSpPr>
          <p:cNvPr id="22" name="">
            <a:extLst xmlns:a="http://schemas.openxmlformats.org/drawingml/2006/main">
              <a:ext uri="{FF2B5EF4-FFF2-40B4-BE49-F238E27FC236}">
                <a16:creationId xmlns:a16="http://schemas.microsoft.com/office/drawing/2014/main" id="{49289C94-4418-4105-8B72-DB77418F0C5C}"/>
              </a:ext>
            </a:extLst>
          </p:cNvPr>
          <p:cNvSpPr>
            <a:spLocks xmlns:a="http://schemas.openxmlformats.org/drawingml/2006/main" noGrp="1"/>
          </p:cNvSpPr>
          <p:nvPr/>
        </p:nvSpPr>
        <p:spPr>
          <a:xfrm xmlns:a="http://schemas.openxmlformats.org/drawingml/2006/main">
            <a:off x="9363075" y="2000250"/>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lnSpc>
                <a:spcPct val="100000"/>
              </a:lnSpc>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Controlled startup</a:t>
            </a:r>
          </a:p>
        </p:txBody>
      </p:sp>
      <p:sp>
        <p:nvSpPr>
          <p:cNvPr id="23" name="">
            <a:extLst xmlns:a="http://schemas.openxmlformats.org/drawingml/2006/main">
              <a:ext uri="{FF2B5EF4-FFF2-40B4-BE49-F238E27FC236}">
                <a16:creationId xmlns:a16="http://schemas.microsoft.com/office/drawing/2014/main" id="{07BABB64-F9A8-4D60-8A37-31C8421F6B55}"/>
              </a:ext>
            </a:extLst>
          </p:cNvPr>
          <p:cNvSpPr>
            <a:spLocks xmlns:a="http://schemas.openxmlformats.org/drawingml/2006/main" noGrp="1"/>
          </p:cNvSpPr>
          <p:nvPr/>
        </p:nvSpPr>
        <p:spPr>
          <a:xfrm xmlns:a="http://schemas.openxmlformats.org/drawingml/2006/main">
            <a:off x="9363075" y="2514600"/>
            <a:ext cx="219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lnSpc>
                <a:spcPct val="100000"/>
              </a:lnSpc>
              <a:buNone/>
              <a:defRPr sz="1200" b="0">
                <a:solidFill>
                  <a:srgbClr val="334E68"/>
                </a:solidFill>
                <a:latin typeface="DejaVu Sans"/>
                <a:ea typeface="DejaVu Sans"/>
                <a:cs typeface="DejaVu Sans"/>
              </a:defRPr>
            </a:pPr>
            <a:r>
              <a:rPr sz="1200" b="0">
                <a:solidFill>
                  <a:srgbClr val="334E68"/>
                </a:solidFill>
                <a:latin typeface="DejaVu Sans"/>
                <a:ea typeface="DejaVu Sans"/>
                <a:cs typeface="DejaVu Sans"/>
              </a:rPr>
              <a:t>configure -&gt; inactive -&gt; active</a:t>
            </a:r>
          </a:p>
        </p:txBody>
      </p:sp>
      <p:sp>
        <p:nvSpPr>
          <p:cNvPr id="24" name="">
            <a:extLst xmlns:a="http://schemas.openxmlformats.org/drawingml/2006/main">
              <a:ext uri="{FF2B5EF4-FFF2-40B4-BE49-F238E27FC236}">
                <a16:creationId xmlns:a16="http://schemas.microsoft.com/office/drawing/2014/main" id="{1C0A9400-C4EB-41DA-8D56-EA5C01C0E8A1}"/>
              </a:ext>
            </a:extLst>
          </p:cNvPr>
          <p:cNvSpPr>
            <a:spLocks xmlns:a="http://schemas.openxmlformats.org/drawingml/2006/main" noGrp="1"/>
          </p:cNvSpPr>
          <p:nvPr/>
        </p:nvSpPr>
        <p:spPr>
          <a:xfrm xmlns:a="http://schemas.openxmlformats.org/drawingml/2006/main">
            <a:off x="9363075" y="304800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ctr">
              <a:lnSpc>
                <a:spcPct val="100000"/>
              </a:lnSpc>
              <a:buNone/>
              <a:defRPr sz="1125" b="0">
                <a:solidFill>
                  <a:srgbClr val="536575"/>
                </a:solidFill>
                <a:latin typeface="DejaVu Sans"/>
                <a:ea typeface="DejaVu Sans"/>
                <a:cs typeface="DejaVu Sans"/>
              </a:defRPr>
            </a:pPr>
            <a:r>
              <a:rPr sz="1125" b="0">
                <a:solidFill>
                  <a:srgbClr val="536575"/>
                </a:solidFill>
                <a:latin typeface="DejaVu Sans"/>
                <a:ea typeface="DejaVu Sans"/>
                <a:cs typeface="DejaVu Sans"/>
              </a:rPr>
              <a:t>adapters, estimation, Nav2</a:t>
            </a:r>
          </a:p>
        </p:txBody>
      </p:sp>
      <p:sp>
        <p:nvSpPr>
          <p:cNvPr id="25" name="">
            <a:extLst xmlns:a="http://schemas.openxmlformats.org/drawingml/2006/main">
              <a:ext uri="{FF2B5EF4-FFF2-40B4-BE49-F238E27FC236}">
                <a16:creationId xmlns:a16="http://schemas.microsoft.com/office/drawing/2014/main" id="{CD3F1E97-13D4-4B21-A060-DD6D512E03C3}"/>
              </a:ext>
            </a:extLst>
          </p:cNvPr>
          <p:cNvSpPr>
            <a:spLocks xmlns:a="http://schemas.openxmlformats.org/drawingml/2006/main" noGrp="1"/>
          </p:cNvSpPr>
          <p:nvPr/>
        </p:nvSpPr>
        <p:spPr>
          <a:xfrm xmlns:a="http://schemas.openxmlformats.org/drawingml/2006/main">
            <a:off x="4095750" y="37338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875" b="1">
                <a:solidFill>
                  <a:srgbClr val="0077B6"/>
                </a:solidFill>
                <a:latin typeface="DejaVu Sans"/>
                <a:ea typeface="DejaVu Sans"/>
                <a:cs typeface="DejaVu Sans"/>
              </a:defRPr>
            </a:pPr>
            <a:r>
              <a:rPr sz="1875" b="1">
                <a:solidFill>
                  <a:srgbClr val="0077B6"/>
                </a:solidFill>
                <a:latin typeface="DejaVu Sans"/>
                <a:ea typeface="DejaVu Sans"/>
                <a:cs typeface="DejaVu Sans"/>
              </a:rPr>
              <a:t>DDS discovery + compatible QoS</a:t>
            </a:r>
          </a:p>
        </p:txBody>
      </p:sp>
      <p:sp>
        <p:nvSpPr>
          <p:cNvPr id="26" name="">
            <a:extLst xmlns:a="http://schemas.openxmlformats.org/drawingml/2006/main">
              <a:ext uri="{FF2B5EF4-FFF2-40B4-BE49-F238E27FC236}">
                <a16:creationId xmlns:a16="http://schemas.microsoft.com/office/drawing/2014/main" id="{4AA939B6-A5C2-42ED-9D28-6E9FB62A6351}"/>
              </a:ext>
            </a:extLst>
          </p:cNvPr>
          <p:cNvSpPr>
            <a:spLocks xmlns:a="http://schemas.openxmlformats.org/drawingml/2006/main" noGrp="1"/>
          </p:cNvSpPr>
          <p:nvPr/>
        </p:nvSpPr>
        <p:spPr>
          <a:xfrm xmlns:a="http://schemas.openxmlformats.org/drawingml/2006/main">
            <a:off x="857250" y="4171950"/>
            <a:ext cx="10477500" cy="0"/>
          </a:xfrm>
          <a:prstGeom xmlns:a="http://schemas.openxmlformats.org/drawingml/2006/main" prst="line">
            <a:avLst/>
          </a:prstGeom>
          <a:noFill xmlns:a="http://schemas.openxmlformats.org/drawingml/2006/main"/>
          <a:ln xmlns:a="http://schemas.openxmlformats.org/drawingml/2006/main" w="19050">
            <a:solidFill>
              <a:srgbClr val="0077B6"/>
            </a:solidFill>
            <a:prstDash val="solid"/>
          </a:ln>
        </p:spPr>
      </p:sp>
      <p:sp>
        <p:nvSpPr>
          <p:cNvPr id="27" name="">
            <a:extLst xmlns:a="http://schemas.openxmlformats.org/drawingml/2006/main">
              <a:ext uri="{FF2B5EF4-FFF2-40B4-BE49-F238E27FC236}">
                <a16:creationId xmlns:a16="http://schemas.microsoft.com/office/drawing/2014/main" id="{29D63B82-4EE5-4862-87FF-25A68C07C567}"/>
              </a:ext>
            </a:extLst>
          </p:cNvPr>
          <p:cNvSpPr>
            <a:spLocks xmlns:a="http://schemas.openxmlformats.org/drawingml/2006/main" noGrp="1"/>
          </p:cNvSpPr>
          <p:nvPr/>
        </p:nvSpPr>
        <p:spPr>
          <a:xfrm xmlns:a="http://schemas.openxmlformats.org/drawingml/2006/main">
            <a:off x="685800" y="4457700"/>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650" b="1">
                <a:solidFill>
                  <a:srgbClr val="102A43"/>
                </a:solidFill>
                <a:latin typeface="DejaVu Sans"/>
                <a:ea typeface="DejaVu Sans"/>
                <a:cs typeface="DejaVu Sans"/>
              </a:defRPr>
            </a:pPr>
            <a:r>
              <a:rPr sz="1650" b="1">
                <a:solidFill>
                  <a:srgbClr val="102A43"/>
                </a:solidFill>
                <a:latin typeface="DejaVu Sans"/>
                <a:ea typeface="DejaVu Sans"/>
                <a:cs typeface="DejaVu Sans"/>
              </a:rPr>
              <a:t>Project status</a:t>
            </a:r>
          </a:p>
        </p:txBody>
      </p:sp>
      <p:sp>
        <p:nvSpPr>
          <p:cNvPr id="28" name="">
            <a:extLst xmlns:a="http://schemas.openxmlformats.org/drawingml/2006/main">
              <a:ext uri="{FF2B5EF4-FFF2-40B4-BE49-F238E27FC236}">
                <a16:creationId xmlns:a16="http://schemas.microsoft.com/office/drawing/2014/main" id="{C0729E07-3517-4623-BF75-8B102D9F9908}"/>
              </a:ext>
            </a:extLst>
          </p:cNvPr>
          <p:cNvSpPr>
            <a:spLocks xmlns:a="http://schemas.openxmlformats.org/drawingml/2006/main" noGrp="1"/>
          </p:cNvSpPr>
          <p:nvPr/>
        </p:nvSpPr>
        <p:spPr>
          <a:xfrm xmlns:a="http://schemas.openxmlformats.org/drawingml/2006/main">
            <a:off x="685800" y="48196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75" b="0">
                <a:solidFill>
                  <a:srgbClr val="334E68"/>
                </a:solidFill>
                <a:latin typeface="DejaVu Sans"/>
                <a:ea typeface="DejaVu Sans"/>
                <a:cs typeface="DejaVu Sans"/>
              </a:defRPr>
            </a:pPr>
            <a:r>
              <a:rPr sz="1575" b="0">
                <a:solidFill>
                  <a:srgbClr val="334E68"/>
                </a:solidFill>
                <a:latin typeface="DejaVu Sans"/>
                <a:ea typeface="DejaVu Sans"/>
                <a:cs typeface="DejaVu Sans"/>
              </a:rPr>
              <a:t>BaseStatus  |  HealthStatus  |  ManipulatorStatus  |  FactoryStatus</a:t>
            </a:r>
          </a:p>
        </p:txBody>
      </p:sp>
      <p:sp>
        <p:nvSpPr>
          <p:cNvPr id="29" name="">
            <a:extLst xmlns:a="http://schemas.openxmlformats.org/drawingml/2006/main">
              <a:ext uri="{FF2B5EF4-FFF2-40B4-BE49-F238E27FC236}">
                <a16:creationId xmlns:a16="http://schemas.microsoft.com/office/drawing/2014/main" id="{025A8242-9F7B-40A7-8C2B-CDB9D1F07BEE}"/>
              </a:ext>
            </a:extLst>
          </p:cNvPr>
          <p:cNvSpPr>
            <a:spLocks xmlns:a="http://schemas.openxmlformats.org/drawingml/2006/main" noGrp="1"/>
          </p:cNvSpPr>
          <p:nvPr/>
        </p:nvSpPr>
        <p:spPr>
          <a:xfrm xmlns:a="http://schemas.openxmlformats.org/drawingml/2006/main">
            <a:off x="685800" y="5314950"/>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650" b="1">
                <a:solidFill>
                  <a:srgbClr val="102A43"/>
                </a:solidFill>
                <a:latin typeface="DejaVu Sans"/>
                <a:ea typeface="DejaVu Sans"/>
                <a:cs typeface="DejaVu Sans"/>
              </a:defRPr>
            </a:pPr>
            <a:r>
              <a:rPr sz="1650" b="1">
                <a:solidFill>
                  <a:srgbClr val="102A43"/>
                </a:solidFill>
                <a:latin typeface="DejaVu Sans"/>
                <a:ea typeface="DejaVu Sans"/>
                <a:cs typeface="DejaVu Sans"/>
              </a:rPr>
              <a:t>Standard data</a:t>
            </a:r>
          </a:p>
        </p:txBody>
      </p:sp>
      <p:sp>
        <p:nvSpPr>
          <p:cNvPr id="30" name="">
            <a:extLst xmlns:a="http://schemas.openxmlformats.org/drawingml/2006/main">
              <a:ext uri="{FF2B5EF4-FFF2-40B4-BE49-F238E27FC236}">
                <a16:creationId xmlns:a16="http://schemas.microsoft.com/office/drawing/2014/main" id="{98BBBBAF-74C8-49F8-8188-B5388802F31A}"/>
              </a:ext>
            </a:extLst>
          </p:cNvPr>
          <p:cNvSpPr>
            <a:spLocks xmlns:a="http://schemas.openxmlformats.org/drawingml/2006/main" noGrp="1"/>
          </p:cNvSpPr>
          <p:nvPr/>
        </p:nvSpPr>
        <p:spPr>
          <a:xfrm xmlns:a="http://schemas.openxmlformats.org/drawingml/2006/main">
            <a:off x="685800" y="567690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0000"/>
              </a:lnSpc>
              <a:buNone/>
              <a:defRPr sz="1425" b="0">
                <a:solidFill>
                  <a:srgbClr val="334E68"/>
                </a:solidFill>
                <a:latin typeface="DejaVu Sans"/>
                <a:ea typeface="DejaVu Sans"/>
                <a:cs typeface="DejaVu Sans"/>
              </a:defRPr>
            </a:pPr>
            <a:r>
              <a:rPr sz="1425" b="0">
                <a:solidFill>
                  <a:srgbClr val="334E68"/>
                </a:solidFill>
                <a:latin typeface="DejaVu Sans"/>
                <a:ea typeface="DejaVu Sans"/>
                <a:cs typeface="DejaVu Sans"/>
              </a:rPr>
              <a:t>Twist  |  TwistStamped  |  Odometry  |  LaserScan  |  PointCloud2  |  Imu  |  OccupancyGrid  |  Path</a:t>
            </a:r>
          </a:p>
        </p:txBody>
      </p:sp>
    </p:spTree>
    <p:extLst>
      <p:ext uri="{BB962C8B-B14F-4D97-AF65-F5344CB8AC3E}">
        <p14:creationId xmlns:p14="http://schemas.microsoft.com/office/powerpoint/2010/main" val="9186242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35E3F5C-F69A-42C1-952B-DBAFFA00A80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2BA68AD-86F4-4F19-81BF-AA0C455B0438}"/>
              </a:ext>
            </a:extLst>
          </p:cNvPr>
          <p:cNvSpPr>
            <a:spLocks xmlns:a="http://schemas.openxmlformats.org/drawingml/2006/main" noGrp="1"/>
          </p:cNvSpPr>
          <p:nvPr/>
        </p:nvSpPr>
        <p:spPr>
          <a:xfrm xmlns:a="http://schemas.openxmlformats.org/drawingml/2006/main">
            <a:off x="609600" y="323850"/>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3150" b="1">
                <a:solidFill>
                  <a:srgbClr val="102A43"/>
                </a:solidFill>
                <a:latin typeface="DejaVu Sans"/>
                <a:ea typeface="DejaVu Sans"/>
                <a:cs typeface="DejaVu Sans"/>
              </a:defRPr>
            </a:pPr>
            <a:r>
              <a:rPr sz="3150" b="1">
                <a:solidFill>
                  <a:srgbClr val="102A43"/>
                </a:solidFill>
                <a:latin typeface="DejaVu Sans"/>
                <a:ea typeface="DejaVu Sans"/>
                <a:cs typeface="DejaVu Sans"/>
              </a:rPr>
              <a:t>Gazebo, ros_gz_bridge, RViz2 and adapters</a:t>
            </a:r>
          </a:p>
        </p:txBody>
      </p:sp>
      <p:sp>
        <p:nvSpPr>
          <p:cNvPr id="3" name="">
            <a:extLst xmlns:a="http://schemas.openxmlformats.org/drawingml/2006/main">
              <a:ext uri="{FF2B5EF4-FFF2-40B4-BE49-F238E27FC236}">
                <a16:creationId xmlns:a16="http://schemas.microsoft.com/office/drawing/2014/main" id="{37BBC34D-DE17-494F-B387-4DAE291571AB}"/>
              </a:ext>
            </a:extLst>
          </p:cNvPr>
          <p:cNvSpPr>
            <a:spLocks xmlns:a="http://schemas.openxmlformats.org/drawingml/2006/main" noGrp="1"/>
          </p:cNvSpPr>
          <p:nvPr/>
        </p:nvSpPr>
        <p:spPr>
          <a:xfrm xmlns:a="http://schemas.openxmlformats.org/drawingml/2006/main">
            <a:off x="628650" y="87630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75" b="0">
                <a:solidFill>
                  <a:srgbClr val="536575"/>
                </a:solidFill>
                <a:latin typeface="DejaVu Sans"/>
                <a:ea typeface="DejaVu Sans"/>
                <a:cs typeface="DejaVu Sans"/>
              </a:defRPr>
            </a:pPr>
            <a:r>
              <a:rPr sz="1575" b="0">
                <a:solidFill>
                  <a:srgbClr val="536575"/>
                </a:solidFill>
                <a:latin typeface="DejaVu Sans"/>
                <a:ea typeface="DejaVu Sans"/>
                <a:cs typeface="DejaVu Sans"/>
              </a:rPr>
              <a:t>Simulation-specific endpoints become stable project interfaces</a:t>
            </a:r>
          </a:p>
        </p:txBody>
      </p:sp>
      <p:sp>
        <p:nvSpPr>
          <p:cNvPr id="4" name="">
            <a:extLst xmlns:a="http://schemas.openxmlformats.org/drawingml/2006/main">
              <a:ext uri="{FF2B5EF4-FFF2-40B4-BE49-F238E27FC236}">
                <a16:creationId xmlns:a16="http://schemas.microsoft.com/office/drawing/2014/main" id="{A34560B6-F19D-48B7-A39E-CCDA6E633C9E}"/>
              </a:ext>
            </a:extLst>
          </p:cNvPr>
          <p:cNvSpPr>
            <a:spLocks xmlns:a="http://schemas.openxmlformats.org/drawingml/2006/main" noGrp="1"/>
          </p:cNvSpPr>
          <p:nvPr/>
        </p:nvSpPr>
        <p:spPr>
          <a:xfrm xmlns:a="http://schemas.openxmlformats.org/drawingml/2006/main">
            <a:off x="11144250" y="400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r">
              <a:lnSpc>
                <a:spcPct val="100000"/>
              </a:lnSpc>
              <a:buNone/>
              <a:defRPr sz="1350" b="1">
                <a:solidFill>
                  <a:srgbClr val="0077B6"/>
                </a:solidFill>
                <a:latin typeface="DejaVu Sans"/>
                <a:ea typeface="DejaVu Sans"/>
                <a:cs typeface="DejaVu Sans"/>
              </a:defRPr>
            </a:pPr>
            <a:r>
              <a:rPr sz="1350" b="1">
                <a:solidFill>
                  <a:srgbClr val="0077B6"/>
                </a:solidFill>
                <a:latin typeface="DejaVu Sans"/>
                <a:ea typeface="DejaVu Sans"/>
                <a:cs typeface="DejaVu Sans"/>
              </a:rPr>
              <a:t>04</a:t>
            </a:r>
          </a:p>
        </p:txBody>
      </p:sp>
      <p:sp>
        <p:nvSpPr>
          <p:cNvPr id="5" name="">
            <a:extLst xmlns:a="http://schemas.openxmlformats.org/drawingml/2006/main">
              <a:ext uri="{FF2B5EF4-FFF2-40B4-BE49-F238E27FC236}">
                <a16:creationId xmlns:a16="http://schemas.microsoft.com/office/drawing/2014/main" id="{91DC90CE-BF10-49C3-B473-5038AE978277}"/>
              </a:ext>
            </a:extLst>
          </p:cNvPr>
          <p:cNvSpPr>
            <a:spLocks xmlns:a="http://schemas.openxmlformats.org/drawingml/2006/main" noGrp="1"/>
          </p:cNvSpPr>
          <p:nvPr/>
        </p:nvSpPr>
        <p:spPr>
          <a:xfrm xmlns:a="http://schemas.openxmlformats.org/drawingml/2006/main">
            <a:off x="619125" y="1905000"/>
            <a:ext cx="2333625" cy="1238250"/>
          </a:xfrm>
          <a:prstGeom xmlns:a="http://schemas.openxmlformats.org/drawingml/2006/main" prst="roundRect">
            <a:avLst>
              <a:gd name="adj" fmla="val 7692"/>
            </a:avLst>
          </a:prstGeom>
          <a:solidFill xmlns:a="http://schemas.openxmlformats.org/drawingml/2006/main">
            <a:srgbClr val="102A43"/>
          </a:solidFill>
          <a:ln xmlns:a="http://schemas.openxmlformats.org/drawingml/2006/main" w="14288">
            <a:solidFill>
              <a:srgbClr val="102A43"/>
            </a:solidFill>
            <a:prstDash val="solid"/>
          </a:ln>
        </p:spPr>
        <p:txBody>
          <a:bodyPr xmlns:a="http://schemas.openxmlformats.org/drawingml/2006/main" lIns="95250" tIns="76200" rIns="95250" bIns="76200" anchor="ctr">
            <a:normAutofit fontScale="89489"/>
          </a:bodyPr>
          <a:lstStyle xmlns:a="http://schemas.openxmlformats.org/drawingml/2006/main"/>
          <a:p xmlns:a="http://schemas.openxmlformats.org/drawingml/2006/main">
            <a:pPr algn="ctr">
              <a:lnSpc>
                <a:spcPct val="95000"/>
              </a:lnSpc>
              <a:buNone/>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GAZEBO HARMONIC</a:t>
            </a:r>
          </a:p>
          <a:p xmlns:a="http://schemas.openxmlformats.org/drawingml/2006/main">
            <a:pPr algn="ctr">
              <a:lnSpc>
                <a:spcPct val="95000"/>
              </a:lnSpc>
              <a:buNone/>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world + sensors + joints + odometry + base endpoint</a:t>
            </a:r>
          </a:p>
        </p:txBody>
      </p:sp>
      <p:sp>
        <p:nvSpPr>
          <p:cNvPr id="6" name="">
            <a:extLst xmlns:a="http://schemas.openxmlformats.org/drawingml/2006/main">
              <a:ext uri="{FF2B5EF4-FFF2-40B4-BE49-F238E27FC236}">
                <a16:creationId xmlns:a16="http://schemas.microsoft.com/office/drawing/2014/main" id="{647A13F7-8F70-4137-8D5D-F527B579128D}"/>
              </a:ext>
            </a:extLst>
          </p:cNvPr>
          <p:cNvSpPr>
            <a:spLocks xmlns:a="http://schemas.openxmlformats.org/drawingml/2006/main" noGrp="1"/>
          </p:cNvSpPr>
          <p:nvPr/>
        </p:nvSpPr>
        <p:spPr>
          <a:xfrm xmlns:a="http://schemas.openxmlformats.org/drawingml/2006/main">
            <a:off x="3429000" y="2047875"/>
            <a:ext cx="1905000" cy="952500"/>
          </a:xfrm>
          <a:prstGeom xmlns:a="http://schemas.openxmlformats.org/drawingml/2006/main" prst="roundRect">
            <a:avLst>
              <a:gd name="adj" fmla="val 10000"/>
            </a:avLst>
          </a:prstGeom>
          <a:solidFill xmlns:a="http://schemas.openxmlformats.org/drawingml/2006/main">
            <a:srgbClr val="EAF6FC"/>
          </a:solidFill>
          <a:ln xmlns:a="http://schemas.openxmlformats.org/drawingml/2006/main" w="14288">
            <a:solidFill>
              <a:srgbClr val="0077B6"/>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650" b="1">
                <a:solidFill>
                  <a:srgbClr val="0077B6"/>
                </a:solidFill>
                <a:latin typeface="DejaVu Sans"/>
                <a:ea typeface="DejaVu Sans"/>
                <a:cs typeface="DejaVu Sans"/>
              </a:defRPr>
            </a:pPr>
            <a:r>
              <a:rPr sz="1650" b="1">
                <a:solidFill>
                  <a:srgbClr val="0077B6"/>
                </a:solidFill>
                <a:latin typeface="DejaVu Sans"/>
                <a:ea typeface="DejaVu Sans"/>
                <a:cs typeface="DejaVu Sans"/>
              </a:rPr>
              <a:t>ros_gz_bridge</a:t>
            </a:r>
          </a:p>
          <a:p xmlns:a="http://schemas.openxmlformats.org/drawingml/2006/main">
            <a:pPr algn="ctr">
              <a:lnSpc>
                <a:spcPct val="95000"/>
              </a:lnSpc>
              <a:buNone/>
              <a:defRPr sz="1650" b="1">
                <a:solidFill>
                  <a:srgbClr val="0077B6"/>
                </a:solidFill>
                <a:latin typeface="DejaVu Sans"/>
                <a:ea typeface="DejaVu Sans"/>
                <a:cs typeface="DejaVu Sans"/>
              </a:defRPr>
            </a:pPr>
            <a:r>
              <a:rPr sz="1650" b="1">
                <a:solidFill>
                  <a:srgbClr val="0077B6"/>
                </a:solidFill>
                <a:latin typeface="DejaVu Sans"/>
                <a:ea typeface="DejaVu Sans"/>
                <a:cs typeface="DejaVu Sans"/>
              </a:rPr>
              <a:t>message conversion</a:t>
            </a:r>
          </a:p>
        </p:txBody>
      </p:sp>
      <p:sp>
        <p:nvSpPr>
          <p:cNvPr id="7" name="">
            <a:extLst xmlns:a="http://schemas.openxmlformats.org/drawingml/2006/main">
              <a:ext uri="{FF2B5EF4-FFF2-40B4-BE49-F238E27FC236}">
                <a16:creationId xmlns:a16="http://schemas.microsoft.com/office/drawing/2014/main" id="{60783935-743D-4823-89DA-C3296975649F}"/>
              </a:ext>
            </a:extLst>
          </p:cNvPr>
          <p:cNvSpPr>
            <a:spLocks xmlns:a="http://schemas.openxmlformats.org/drawingml/2006/main" noGrp="1"/>
          </p:cNvSpPr>
          <p:nvPr/>
        </p:nvSpPr>
        <p:spPr>
          <a:xfrm xmlns:a="http://schemas.openxmlformats.org/drawingml/2006/main">
            <a:off x="5905500" y="1857375"/>
            <a:ext cx="2000250" cy="1333500"/>
          </a:xfrm>
          <a:prstGeom xmlns:a="http://schemas.openxmlformats.org/drawingml/2006/main" prst="roundRect">
            <a:avLst>
              <a:gd name="adj" fmla="val 7143"/>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650" b="1">
                <a:solidFill>
                  <a:srgbClr val="102A43"/>
                </a:solidFill>
                <a:latin typeface="DejaVu Sans"/>
                <a:ea typeface="DejaVu Sans"/>
                <a:cs typeface="DejaVu Sans"/>
              </a:defRPr>
            </a:pPr>
            <a:r>
              <a:rPr sz="1650" b="1">
                <a:solidFill>
                  <a:srgbClr val="102A43"/>
                </a:solidFill>
                <a:latin typeface="DejaVu Sans"/>
                <a:ea typeface="DejaVu Sans"/>
                <a:cs typeface="DejaVu Sans"/>
              </a:rPr>
              <a:t>Lifecycle adapters</a:t>
            </a:r>
          </a:p>
          <a:p xmlns:a="http://schemas.openxmlformats.org/drawingml/2006/main">
            <a:pPr algn="ctr">
              <a:lnSpc>
                <a:spcPct val="95000"/>
              </a:lnSpc>
              <a:buNone/>
              <a:defRPr sz="1650" b="1">
                <a:solidFill>
                  <a:srgbClr val="102A43"/>
                </a:solidFill>
                <a:latin typeface="DejaVu Sans"/>
                <a:ea typeface="DejaVu Sans"/>
                <a:cs typeface="DejaVu Sans"/>
              </a:defRPr>
            </a:pPr>
            <a:r>
              <a:rPr sz="1650" b="1">
                <a:solidFill>
                  <a:srgbClr val="102A43"/>
                </a:solidFill>
                <a:latin typeface="DejaVu Sans"/>
                <a:ea typeface="DejaVu Sans"/>
                <a:cs typeface="DejaVu Sans"/>
              </a:rPr>
              <a:t>/amr/sensors/*</a:t>
            </a:r>
          </a:p>
          <a:p xmlns:a="http://schemas.openxmlformats.org/drawingml/2006/main">
            <a:pPr algn="ctr">
              <a:lnSpc>
                <a:spcPct val="95000"/>
              </a:lnSpc>
              <a:buNone/>
              <a:defRPr sz="1650" b="1">
                <a:solidFill>
                  <a:srgbClr val="102A43"/>
                </a:solidFill>
                <a:latin typeface="DejaVu Sans"/>
                <a:ea typeface="DejaVu Sans"/>
                <a:cs typeface="DejaVu Sans"/>
              </a:defRPr>
            </a:pPr>
            <a:r>
              <a:rPr sz="1650" b="1">
                <a:solidFill>
                  <a:srgbClr val="102A43"/>
                </a:solidFill>
                <a:latin typeface="DejaVu Sans"/>
                <a:ea typeface="DejaVu Sans"/>
                <a:cs typeface="DejaVu Sans"/>
              </a:rPr>
              <a:t>/amr/base/*</a:t>
            </a:r>
          </a:p>
        </p:txBody>
      </p:sp>
      <p:sp>
        <p:nvSpPr>
          <p:cNvPr id="8" name="">
            <a:extLst xmlns:a="http://schemas.openxmlformats.org/drawingml/2006/main">
              <a:ext uri="{FF2B5EF4-FFF2-40B4-BE49-F238E27FC236}">
                <a16:creationId xmlns:a16="http://schemas.microsoft.com/office/drawing/2014/main" id="{8D182EF0-29C2-4206-BAC9-B7A2ED351B7D}"/>
              </a:ext>
            </a:extLst>
          </p:cNvPr>
          <p:cNvSpPr>
            <a:spLocks xmlns:a="http://schemas.openxmlformats.org/drawingml/2006/main" noGrp="1"/>
          </p:cNvSpPr>
          <p:nvPr/>
        </p:nvSpPr>
        <p:spPr>
          <a:xfrm xmlns:a="http://schemas.openxmlformats.org/drawingml/2006/main">
            <a:off x="8572500" y="1857375"/>
            <a:ext cx="2857500" cy="1333500"/>
          </a:xfrm>
          <a:prstGeom xmlns:a="http://schemas.openxmlformats.org/drawingml/2006/main" prst="roundRect">
            <a:avLst>
              <a:gd name="adj" fmla="val 7143"/>
            </a:avLst>
          </a:prstGeom>
          <a:solidFill xmlns:a="http://schemas.openxmlformats.org/drawingml/2006/main">
            <a:srgbClr val="EAF6FC"/>
          </a:solidFill>
          <a:ln xmlns:a="http://schemas.openxmlformats.org/drawingml/2006/main" w="14288">
            <a:solidFill>
              <a:srgbClr val="0077B6"/>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575" b="1">
                <a:solidFill>
                  <a:srgbClr val="102A43"/>
                </a:solidFill>
                <a:latin typeface="DejaVu Sans"/>
                <a:ea typeface="DejaVu Sans"/>
                <a:cs typeface="DejaVu Sans"/>
              </a:defRPr>
            </a:pPr>
            <a:r>
              <a:rPr sz="1575" b="1">
                <a:solidFill>
                  <a:srgbClr val="102A43"/>
                </a:solidFill>
                <a:latin typeface="DejaVu Sans"/>
                <a:ea typeface="DejaVu Sans"/>
                <a:cs typeface="DejaVu Sans"/>
              </a:rPr>
              <a:t>Consumers</a:t>
            </a:r>
          </a:p>
          <a:p xmlns:a="http://schemas.openxmlformats.org/drawingml/2006/main">
            <a:pPr algn="ctr">
              <a:lnSpc>
                <a:spcPct val="95000"/>
              </a:lnSpc>
              <a:buNone/>
              <a:defRPr sz="1575" b="1">
                <a:solidFill>
                  <a:srgbClr val="102A43"/>
                </a:solidFill>
                <a:latin typeface="DejaVu Sans"/>
                <a:ea typeface="DejaVu Sans"/>
                <a:cs typeface="DejaVu Sans"/>
              </a:defRPr>
            </a:pPr>
            <a:r>
              <a:rPr sz="1575" b="1">
                <a:solidFill>
                  <a:srgbClr val="102A43"/>
                </a:solidFill>
                <a:latin typeface="DejaVu Sans"/>
                <a:ea typeface="DejaVu Sans"/>
                <a:cs typeface="DejaVu Sans"/>
              </a:rPr>
              <a:t>localization | perception</a:t>
            </a:r>
          </a:p>
          <a:p xmlns:a="http://schemas.openxmlformats.org/drawingml/2006/main">
            <a:pPr algn="ctr">
              <a:lnSpc>
                <a:spcPct val="95000"/>
              </a:lnSpc>
              <a:buNone/>
              <a:defRPr sz="1575" b="1">
                <a:solidFill>
                  <a:srgbClr val="102A43"/>
                </a:solidFill>
                <a:latin typeface="DejaVu Sans"/>
                <a:ea typeface="DejaVu Sans"/>
                <a:cs typeface="DejaVu Sans"/>
              </a:defRPr>
            </a:pPr>
            <a:r>
              <a:rPr sz="1575" b="1">
                <a:solidFill>
                  <a:srgbClr val="102A43"/>
                </a:solidFill>
                <a:latin typeface="DejaVu Sans"/>
                <a:ea typeface="DejaVu Sans"/>
                <a:cs typeface="DejaVu Sans"/>
              </a:rPr>
              <a:t>SLAM | Nav2 | AprilTag</a:t>
            </a:r>
          </a:p>
        </p:txBody>
      </p:sp>
      <p:cxnSp>
        <p:nvCxnSpPr>
          <p:cNvPr id="24" name=""/>
          <p:cNvCxnSpPr>
            <a:stCxn xmlns:a="http://schemas.openxmlformats.org/drawingml/2006/main" id="5" idx="3"/>
            <a:endCxn xmlns:a="http://schemas.openxmlformats.org/drawingml/2006/main" id="6" idx="1"/>
          </p:cNvCxnSpPr>
          <p:nvPr/>
        </p:nvCxnSpPr>
        <p:spPr>
          <a:xfrm xmlns:a="http://schemas.openxmlformats.org/drawingml/2006/main">
            <a:off x="2952750" y="2524125"/>
            <a:ext cx="476250" cy="0"/>
          </a:xfrm>
          <a:prstGeom xmlns:a="http://schemas.openxmlformats.org/drawingml/2006/main" prst="straightConnector1">
            <a:avLst/>
          </a:prstGeom>
          <a:ln xmlns:a="http://schemas.openxmlformats.org/drawingml/2006/main" w="23813">
            <a:solidFill>
              <a:srgbClr val="0077B6"/>
            </a:solidFill>
            <a:prstDash val="solid"/>
            <a:tailEnd type="triangle" w="sm" len="sm"/>
          </a:ln>
        </p:spPr>
      </p:cxnSp>
      <p:cxnSp>
        <p:nvCxnSpPr>
          <p:cNvPr id="25" name=""/>
          <p:cNvCxnSpPr>
            <a:stCxn xmlns:a="http://schemas.openxmlformats.org/drawingml/2006/main" id="6" idx="3"/>
            <a:endCxn xmlns:a="http://schemas.openxmlformats.org/drawingml/2006/main" id="7" idx="1"/>
          </p:cNvCxnSpPr>
          <p:nvPr/>
        </p:nvCxnSpPr>
        <p:spPr>
          <a:xfrm xmlns:a="http://schemas.openxmlformats.org/drawingml/2006/main">
            <a:off x="5334000" y="2524125"/>
            <a:ext cx="571500" cy="0"/>
          </a:xfrm>
          <a:prstGeom xmlns:a="http://schemas.openxmlformats.org/drawingml/2006/main" prst="straightConnector1">
            <a:avLst/>
          </a:prstGeom>
          <a:ln xmlns:a="http://schemas.openxmlformats.org/drawingml/2006/main" w="23813">
            <a:solidFill>
              <a:srgbClr val="0077B6"/>
            </a:solidFill>
            <a:prstDash val="solid"/>
            <a:tailEnd type="triangle" w="sm" len="sm"/>
          </a:ln>
        </p:spPr>
      </p:cxnSp>
      <p:cxnSp>
        <p:nvCxnSpPr>
          <p:cNvPr id="26" name=""/>
          <p:cNvCxnSpPr>
            <a:stCxn xmlns:a="http://schemas.openxmlformats.org/drawingml/2006/main" id="7" idx="3"/>
            <a:endCxn xmlns:a="http://schemas.openxmlformats.org/drawingml/2006/main" id="8" idx="1"/>
          </p:cNvCxnSpPr>
          <p:nvPr/>
        </p:nvCxnSpPr>
        <p:spPr>
          <a:xfrm xmlns:a="http://schemas.openxmlformats.org/drawingml/2006/main">
            <a:off x="7905750" y="2524125"/>
            <a:ext cx="666750" cy="0"/>
          </a:xfrm>
          <a:prstGeom xmlns:a="http://schemas.openxmlformats.org/drawingml/2006/main" prst="straightConnector1">
            <a:avLst/>
          </a:prstGeom>
          <a:ln xmlns:a="http://schemas.openxmlformats.org/drawingml/2006/main" w="23813">
            <a:solidFill>
              <a:srgbClr val="0077B6"/>
            </a:solidFill>
            <a:prstDash val="solid"/>
            <a:tailEnd type="triangle" w="sm" len="sm"/>
          </a:ln>
        </p:spPr>
      </p:cxnSp>
      <p:sp>
        <p:nvSpPr>
          <p:cNvPr id="12" name="">
            <a:extLst xmlns:a="http://schemas.openxmlformats.org/drawingml/2006/main">
              <a:ext uri="{FF2B5EF4-FFF2-40B4-BE49-F238E27FC236}">
                <a16:creationId xmlns:a16="http://schemas.microsoft.com/office/drawing/2014/main" id="{958BE899-2542-42F1-AB33-1110876A6BE1}"/>
              </a:ext>
            </a:extLst>
          </p:cNvPr>
          <p:cNvSpPr>
            <a:spLocks xmlns:a="http://schemas.openxmlformats.org/drawingml/2006/main" noGrp="1"/>
          </p:cNvSpPr>
          <p:nvPr/>
        </p:nvSpPr>
        <p:spPr>
          <a:xfrm xmlns:a="http://schemas.openxmlformats.org/drawingml/2006/main">
            <a:off x="7953375" y="4333875"/>
            <a:ext cx="3476625" cy="11430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4288">
            <a:solidFill>
              <a:srgbClr val="00A6D6"/>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575" b="1">
                <a:solidFill>
                  <a:srgbClr val="102A43"/>
                </a:solidFill>
                <a:latin typeface="DejaVu Sans"/>
                <a:ea typeface="DejaVu Sans"/>
                <a:cs typeface="DejaVu Sans"/>
              </a:defRPr>
            </a:pPr>
            <a:r>
              <a:rPr sz="1575" b="1">
                <a:solidFill>
                  <a:srgbClr val="102A43"/>
                </a:solidFill>
                <a:latin typeface="DejaVu Sans"/>
                <a:ea typeface="DejaVu Sans"/>
                <a:cs typeface="DejaVu Sans"/>
              </a:rPr>
              <a:t>RViz2</a:t>
            </a:r>
          </a:p>
          <a:p xmlns:a="http://schemas.openxmlformats.org/drawingml/2006/main">
            <a:pPr algn="ctr">
              <a:lnSpc>
                <a:spcPct val="95000"/>
              </a:lnSpc>
              <a:buNone/>
              <a:defRPr sz="1575" b="1">
                <a:solidFill>
                  <a:srgbClr val="102A43"/>
                </a:solidFill>
                <a:latin typeface="DejaVu Sans"/>
                <a:ea typeface="DejaVu Sans"/>
                <a:cs typeface="DejaVu Sans"/>
              </a:defRPr>
            </a:pPr>
            <a:r>
              <a:rPr sz="1575" b="1">
                <a:solidFill>
                  <a:srgbClr val="102A43"/>
                </a:solidFill>
                <a:latin typeface="DejaVu Sans"/>
                <a:ea typeface="DejaVu Sans"/>
                <a:cs typeface="DejaVu Sans"/>
              </a:rPr>
              <a:t>map | TF | RobotModel | scans | clouds | paths</a:t>
            </a:r>
          </a:p>
          <a:p xmlns:a="http://schemas.openxmlformats.org/drawingml/2006/main">
            <a:pPr algn="ctr">
              <a:lnSpc>
                <a:spcPct val="95000"/>
              </a:lnSpc>
              <a:buNone/>
              <a:defRPr sz="1575" b="1">
                <a:solidFill>
                  <a:srgbClr val="102A43"/>
                </a:solidFill>
                <a:latin typeface="DejaVu Sans"/>
                <a:ea typeface="DejaVu Sans"/>
                <a:cs typeface="DejaVu Sans"/>
              </a:defRPr>
            </a:pPr>
            <a:r>
              <a:rPr sz="1575" b="1">
                <a:solidFill>
                  <a:srgbClr val="102A43"/>
                </a:solidFill>
                <a:latin typeface="DejaVu Sans"/>
                <a:ea typeface="DejaVu Sans"/>
                <a:cs typeface="DejaVu Sans"/>
              </a:rPr>
              <a:t>visualization only</a:t>
            </a:r>
          </a:p>
        </p:txBody>
      </p:sp>
      <p:cxnSp>
        <p:nvCxnSpPr>
          <p:cNvPr id="28" name=""/>
          <p:cNvCxnSpPr>
            <a:stCxn xmlns:a="http://schemas.openxmlformats.org/drawingml/2006/main" id="8" idx="2"/>
            <a:endCxn xmlns:a="http://schemas.openxmlformats.org/drawingml/2006/main" id="12" idx="0"/>
          </p:cNvCxnSpPr>
          <p:nvPr/>
        </p:nvCxnSpPr>
        <p:spPr>
          <a:xfrm xmlns:a="http://schemas.openxmlformats.org/drawingml/2006/main" flipH="1">
            <a:off x="9691688" y="3190875"/>
            <a:ext cx="309563" cy="1143000"/>
          </a:xfrm>
          <a:prstGeom xmlns:a="http://schemas.openxmlformats.org/drawingml/2006/main" prst="bentConnector4">
            <a:avLst>
              <a:gd name="adj1" fmla="val 0"/>
              <a:gd name="adj2" fmla="val 50000"/>
            </a:avLst>
          </a:prstGeom>
          <a:ln xmlns:a="http://schemas.openxmlformats.org/drawingml/2006/main" w="23813">
            <a:solidFill>
              <a:srgbClr val="00A6D6"/>
            </a:solidFill>
            <a:prstDash val="dash"/>
            <a:tailEnd type="triangle" w="sm" len="sm"/>
          </a:ln>
        </p:spPr>
      </p:cxnSp>
      <p:sp>
        <p:nvSpPr>
          <p:cNvPr id="14" name="">
            <a:extLst xmlns:a="http://schemas.openxmlformats.org/drawingml/2006/main">
              <a:ext uri="{FF2B5EF4-FFF2-40B4-BE49-F238E27FC236}">
                <a16:creationId xmlns:a16="http://schemas.microsoft.com/office/drawing/2014/main" id="{442BC613-DEBE-4623-A456-A9B2B170248A}"/>
              </a:ext>
            </a:extLst>
          </p:cNvPr>
          <p:cNvSpPr>
            <a:spLocks xmlns:a="http://schemas.openxmlformats.org/drawingml/2006/main" noGrp="1"/>
          </p:cNvSpPr>
          <p:nvPr/>
        </p:nvSpPr>
        <p:spPr>
          <a:xfrm xmlns:a="http://schemas.openxmlformats.org/drawingml/2006/main">
            <a:off x="3429000" y="4286250"/>
            <a:ext cx="3619500" cy="1190625"/>
          </a:xfrm>
          <a:prstGeom xmlns:a="http://schemas.openxmlformats.org/drawingml/2006/main" prst="roundRect">
            <a:avLst>
              <a:gd name="adj" fmla="val 8000"/>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500" b="0">
                <a:solidFill>
                  <a:srgbClr val="334E68"/>
                </a:solidFill>
                <a:latin typeface="DejaVu Sans"/>
                <a:ea typeface="DejaVu Sans"/>
                <a:cs typeface="DejaVu Sans"/>
              </a:defRPr>
            </a:pPr>
            <a:r>
              <a:rPr sz="1500" b="0">
                <a:solidFill>
                  <a:srgbClr val="334E68"/>
                </a:solidFill>
                <a:latin typeface="DejaVu Sans"/>
                <a:ea typeface="DejaVu Sans"/>
                <a:cs typeface="DejaVu Sans"/>
              </a:rPr>
              <a:t>Product camera adapter</a:t>
            </a:r>
          </a:p>
          <a:p xmlns:a="http://schemas.openxmlformats.org/drawingml/2006/main">
            <a:pPr algn="ctr">
              <a:lnSpc>
                <a:spcPct val="95000"/>
              </a:lnSpc>
              <a:buNone/>
              <a:defRPr sz="1500" b="0">
                <a:solidFill>
                  <a:srgbClr val="334E68"/>
                </a:solidFill>
                <a:latin typeface="DejaVu Sans"/>
                <a:ea typeface="DejaVu Sans"/>
                <a:cs typeface="DejaVu Sans"/>
              </a:defRPr>
            </a:pPr>
            <a:r>
              <a:rPr sz="1500" b="0">
                <a:solidFill>
                  <a:srgbClr val="334E68"/>
                </a:solidFill>
                <a:latin typeface="DejaVu Sans"/>
                <a:ea typeface="DejaVu Sans"/>
                <a:cs typeface="DejaVu Sans"/>
              </a:rPr>
              <a:t>exact image / CameraInfo timestamp match</a:t>
            </a:r>
          </a:p>
          <a:p xmlns:a="http://schemas.openxmlformats.org/drawingml/2006/main">
            <a:pPr algn="ctr">
              <a:lnSpc>
                <a:spcPct val="95000"/>
              </a:lnSpc>
              <a:buNone/>
              <a:defRPr sz="1500" b="0">
                <a:solidFill>
                  <a:srgbClr val="334E68"/>
                </a:solidFill>
                <a:latin typeface="DejaVu Sans"/>
                <a:ea typeface="DejaVu Sans"/>
                <a:cs typeface="DejaVu Sans"/>
              </a:defRPr>
            </a:pPr>
            <a:r>
              <a:rPr sz="1500" b="0">
                <a:solidFill>
                  <a:srgbClr val="334E68"/>
                </a:solidFill>
                <a:latin typeface="DejaVu Sans"/>
                <a:ea typeface="DejaVu Sans"/>
                <a:cs typeface="DejaVu Sans"/>
              </a:rPr>
              <a:t>640 x 480</a:t>
            </a:r>
          </a:p>
        </p:txBody>
      </p:sp>
      <p:sp>
        <p:nvSpPr>
          <p:cNvPr id="15" name="">
            <a:extLst xmlns:a="http://schemas.openxmlformats.org/drawingml/2006/main">
              <a:ext uri="{FF2B5EF4-FFF2-40B4-BE49-F238E27FC236}">
                <a16:creationId xmlns:a16="http://schemas.microsoft.com/office/drawing/2014/main" id="{FC01AC28-825E-4423-94AC-0E817E5698F3}"/>
              </a:ext>
            </a:extLst>
          </p:cNvPr>
          <p:cNvSpPr>
            <a:spLocks xmlns:a="http://schemas.openxmlformats.org/drawingml/2006/main" noGrp="1"/>
          </p:cNvSpPr>
          <p:nvPr/>
        </p:nvSpPr>
        <p:spPr>
          <a:xfrm xmlns:a="http://schemas.openxmlformats.org/drawingml/2006/main">
            <a:off x="628650" y="59436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00" b="0">
                <a:solidFill>
                  <a:srgbClr val="536575"/>
                </a:solidFill>
                <a:latin typeface="DejaVu Sans"/>
                <a:ea typeface="DejaVu Sans"/>
                <a:cs typeface="DejaVu Sans"/>
              </a:defRPr>
            </a:pPr>
            <a:r>
              <a:rPr sz="1500" b="0">
                <a:solidFill>
                  <a:srgbClr val="536575"/>
                </a:solidFill>
                <a:latin typeface="DejaVu Sans"/>
                <a:ea typeface="DejaVu Sans"/>
                <a:cs typeface="DejaVu Sans"/>
              </a:rPr>
              <a:t>Factory acceptance runs headless; sensors.rviz is optional</a:t>
            </a:r>
          </a:p>
        </p:txBody>
      </p:sp>
    </p:spTree>
    <p:extLst>
      <p:ext uri="{BB962C8B-B14F-4D97-AF65-F5344CB8AC3E}">
        <p14:creationId xmlns:p14="http://schemas.microsoft.com/office/powerpoint/2010/main" val="136743363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744794EA-3A88-4AC0-8915-D0382D536B0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DFD9CE-36DB-419F-8095-F01D8DCD4A9B}"/>
              </a:ext>
            </a:extLst>
          </p:cNvPr>
          <p:cNvSpPr>
            <a:spLocks xmlns:a="http://schemas.openxmlformats.org/drawingml/2006/main" noGrp="1"/>
          </p:cNvSpPr>
          <p:nvPr/>
        </p:nvSpPr>
        <p:spPr>
          <a:xfrm xmlns:a="http://schemas.openxmlformats.org/drawingml/2006/main">
            <a:off x="609600" y="323850"/>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3150" b="1">
                <a:solidFill>
                  <a:srgbClr val="102A43"/>
                </a:solidFill>
                <a:latin typeface="DejaVu Sans"/>
                <a:ea typeface="DejaVu Sans"/>
                <a:cs typeface="DejaVu Sans"/>
              </a:defRPr>
            </a:pPr>
            <a:r>
              <a:rPr sz="3150" b="1">
                <a:solidFill>
                  <a:srgbClr val="102A43"/>
                </a:solidFill>
                <a:latin typeface="DejaVu Sans"/>
                <a:ea typeface="DejaVu Sans"/>
                <a:cs typeface="DejaVu Sans"/>
              </a:rPr>
              <a:t>Localization and TF ownership</a:t>
            </a:r>
          </a:p>
        </p:txBody>
      </p:sp>
      <p:sp>
        <p:nvSpPr>
          <p:cNvPr id="3" name="">
            <a:extLst xmlns:a="http://schemas.openxmlformats.org/drawingml/2006/main">
              <a:ext uri="{FF2B5EF4-FFF2-40B4-BE49-F238E27FC236}">
                <a16:creationId xmlns:a16="http://schemas.microsoft.com/office/drawing/2014/main" id="{938A5BCB-527F-4BBA-9B51-5780B5107B71}"/>
              </a:ext>
            </a:extLst>
          </p:cNvPr>
          <p:cNvSpPr>
            <a:spLocks xmlns:a="http://schemas.openxmlformats.org/drawingml/2006/main" noGrp="1"/>
          </p:cNvSpPr>
          <p:nvPr/>
        </p:nvSpPr>
        <p:spPr>
          <a:xfrm xmlns:a="http://schemas.openxmlformats.org/drawingml/2006/main">
            <a:off x="628650" y="87630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75" b="0">
                <a:solidFill>
                  <a:srgbClr val="536575"/>
                </a:solidFill>
                <a:latin typeface="DejaVu Sans"/>
                <a:ea typeface="DejaVu Sans"/>
                <a:cs typeface="DejaVu Sans"/>
              </a:defRPr>
            </a:pPr>
            <a:r>
              <a:rPr sz="1575" b="0">
                <a:solidFill>
                  <a:srgbClr val="536575"/>
                </a:solidFill>
                <a:latin typeface="DejaVu Sans"/>
                <a:ea typeface="DejaVu Sans"/>
                <a:cs typeface="DejaVu Sans"/>
              </a:rPr>
              <a:t>Sensor fusion estimates motion; TF connects global, local and sensor frames</a:t>
            </a:r>
          </a:p>
        </p:txBody>
      </p:sp>
      <p:sp>
        <p:nvSpPr>
          <p:cNvPr id="4" name="">
            <a:extLst xmlns:a="http://schemas.openxmlformats.org/drawingml/2006/main">
              <a:ext uri="{FF2B5EF4-FFF2-40B4-BE49-F238E27FC236}">
                <a16:creationId xmlns:a16="http://schemas.microsoft.com/office/drawing/2014/main" id="{D6882A57-2667-4BDD-BDBB-2544B3632B25}"/>
              </a:ext>
            </a:extLst>
          </p:cNvPr>
          <p:cNvSpPr>
            <a:spLocks xmlns:a="http://schemas.openxmlformats.org/drawingml/2006/main" noGrp="1"/>
          </p:cNvSpPr>
          <p:nvPr/>
        </p:nvSpPr>
        <p:spPr>
          <a:xfrm xmlns:a="http://schemas.openxmlformats.org/drawingml/2006/main">
            <a:off x="11144250" y="400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r">
              <a:lnSpc>
                <a:spcPct val="100000"/>
              </a:lnSpc>
              <a:buNone/>
              <a:defRPr sz="1350" b="1">
                <a:solidFill>
                  <a:srgbClr val="0077B6"/>
                </a:solidFill>
                <a:latin typeface="DejaVu Sans"/>
                <a:ea typeface="DejaVu Sans"/>
                <a:cs typeface="DejaVu Sans"/>
              </a:defRPr>
            </a:pPr>
            <a:r>
              <a:rPr sz="1350" b="1">
                <a:solidFill>
                  <a:srgbClr val="0077B6"/>
                </a:solidFill>
                <a:latin typeface="DejaVu Sans"/>
                <a:ea typeface="DejaVu Sans"/>
                <a:cs typeface="DejaVu Sans"/>
              </a:rPr>
              <a:t>05</a:t>
            </a:r>
          </a:p>
        </p:txBody>
      </p:sp>
      <p:sp>
        <p:nvSpPr>
          <p:cNvPr id="5" name="">
            <a:extLst xmlns:a="http://schemas.openxmlformats.org/drawingml/2006/main">
              <a:ext uri="{FF2B5EF4-FFF2-40B4-BE49-F238E27FC236}">
                <a16:creationId xmlns:a16="http://schemas.microsoft.com/office/drawing/2014/main" id="{BE850E9C-D595-4432-8F28-C4CF860CFF36}"/>
              </a:ext>
            </a:extLst>
          </p:cNvPr>
          <p:cNvSpPr>
            <a:spLocks xmlns:a="http://schemas.openxmlformats.org/drawingml/2006/main" noGrp="1"/>
          </p:cNvSpPr>
          <p:nvPr/>
        </p:nvSpPr>
        <p:spPr>
          <a:xfrm xmlns:a="http://schemas.openxmlformats.org/drawingml/2006/main">
            <a:off x="666750" y="133350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00" b="1">
                <a:solidFill>
                  <a:srgbClr val="0077B6"/>
                </a:solidFill>
                <a:latin typeface="DejaVu Sans"/>
                <a:ea typeface="DejaVu Sans"/>
                <a:cs typeface="DejaVu Sans"/>
              </a:defRPr>
            </a:pPr>
            <a:r>
              <a:rPr sz="1500" b="1">
                <a:solidFill>
                  <a:srgbClr val="0077B6"/>
                </a:solidFill>
                <a:latin typeface="DejaVu Sans"/>
                <a:ea typeface="DejaVu Sans"/>
                <a:cs typeface="DejaVu Sans"/>
              </a:rPr>
              <a:t>ESTIMATION</a:t>
            </a:r>
          </a:p>
        </p:txBody>
      </p:sp>
      <p:sp>
        <p:nvSpPr>
          <p:cNvPr id="6" name="">
            <a:extLst xmlns:a="http://schemas.openxmlformats.org/drawingml/2006/main">
              <a:ext uri="{FF2B5EF4-FFF2-40B4-BE49-F238E27FC236}">
                <a16:creationId xmlns:a16="http://schemas.microsoft.com/office/drawing/2014/main" id="{E4089CB5-22F1-4A09-8EA6-F74E8D68A498}"/>
              </a:ext>
            </a:extLst>
          </p:cNvPr>
          <p:cNvSpPr>
            <a:spLocks xmlns:a="http://schemas.openxmlformats.org/drawingml/2006/main" noGrp="1"/>
          </p:cNvSpPr>
          <p:nvPr/>
        </p:nvSpPr>
        <p:spPr>
          <a:xfrm xmlns:a="http://schemas.openxmlformats.org/drawingml/2006/main">
            <a:off x="666750" y="1809750"/>
            <a:ext cx="1905000" cy="590550"/>
          </a:xfrm>
          <a:prstGeom xmlns:a="http://schemas.openxmlformats.org/drawingml/2006/main" prst="roundRect">
            <a:avLst>
              <a:gd name="adj" fmla="val 16129"/>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98362"/>
          </a:bodyPr>
          <a:lstStyle xmlns:a="http://schemas.openxmlformats.org/drawingml/2006/main"/>
          <a:p xmlns:a="http://schemas.openxmlformats.org/drawingml/2006/main">
            <a:pPr algn="ctr">
              <a:lnSpc>
                <a:spcPct val="95000"/>
              </a:lnSpc>
              <a:buNone/>
              <a:defRPr sz="1500" b="0">
                <a:solidFill>
                  <a:srgbClr val="102A43"/>
                </a:solidFill>
                <a:latin typeface="DejaVu Sans"/>
                <a:ea typeface="DejaVu Sans"/>
                <a:cs typeface="DejaVu Sans"/>
              </a:defRPr>
            </a:pPr>
            <a:r>
              <a:rPr sz="1500" b="0">
                <a:solidFill>
                  <a:srgbClr val="102A43"/>
                </a:solidFill>
                <a:latin typeface="DejaVu Sans"/>
                <a:ea typeface="DejaVu Sans"/>
                <a:cs typeface="DejaVu Sans"/>
              </a:rPr>
              <a:t>wheel joint states</a:t>
            </a:r>
          </a:p>
        </p:txBody>
      </p:sp>
      <p:sp>
        <p:nvSpPr>
          <p:cNvPr id="7" name="">
            <a:extLst xmlns:a="http://schemas.openxmlformats.org/drawingml/2006/main">
              <a:ext uri="{FF2B5EF4-FFF2-40B4-BE49-F238E27FC236}">
                <a16:creationId xmlns:a16="http://schemas.microsoft.com/office/drawing/2014/main" id="{9916B605-77FC-41B7-9285-B70E74B0B871}"/>
              </a:ext>
            </a:extLst>
          </p:cNvPr>
          <p:cNvSpPr>
            <a:spLocks xmlns:a="http://schemas.openxmlformats.org/drawingml/2006/main" noGrp="1"/>
          </p:cNvSpPr>
          <p:nvPr/>
        </p:nvSpPr>
        <p:spPr>
          <a:xfrm xmlns:a="http://schemas.openxmlformats.org/drawingml/2006/main">
            <a:off x="3143250" y="1619250"/>
            <a:ext cx="2619375" cy="971550"/>
          </a:xfrm>
          <a:prstGeom xmlns:a="http://schemas.openxmlformats.org/drawingml/2006/main" prst="roundRect">
            <a:avLst>
              <a:gd name="adj" fmla="val 9804"/>
            </a:avLst>
          </a:prstGeom>
          <a:solidFill xmlns:a="http://schemas.openxmlformats.org/drawingml/2006/main">
            <a:srgbClr val="EAF6FC"/>
          </a:solidFill>
          <a:ln xmlns:a="http://schemas.openxmlformats.org/drawingml/2006/main" w="14288">
            <a:solidFill>
              <a:srgbClr val="0077B6"/>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350" b="1">
                <a:solidFill>
                  <a:srgbClr val="102A43"/>
                </a:solidFill>
                <a:latin typeface="DejaVu Sans"/>
                <a:ea typeface="DejaVu Sans"/>
                <a:cs typeface="DejaVu Sans"/>
              </a:defRPr>
            </a:pPr>
            <a:r>
              <a:rPr sz="1350" b="1">
                <a:solidFill>
                  <a:srgbClr val="102A43"/>
                </a:solidFill>
                <a:latin typeface="DejaVu Sans"/>
                <a:ea typeface="DejaVu Sans"/>
                <a:cs typeface="DejaVu Sans"/>
              </a:rPr>
              <a:t>wheel_odometry_node</a:t>
            </a:r>
          </a:p>
          <a:p xmlns:a="http://schemas.openxmlformats.org/drawingml/2006/main">
            <a:pPr algn="ctr">
              <a:lnSpc>
                <a:spcPct val="95000"/>
              </a:lnSpc>
              <a:buNone/>
              <a:defRPr sz="1350" b="1">
                <a:solidFill>
                  <a:srgbClr val="102A43"/>
                </a:solidFill>
                <a:latin typeface="DejaVu Sans"/>
                <a:ea typeface="DejaVu Sans"/>
                <a:cs typeface="DejaVu Sans"/>
              </a:defRPr>
            </a:pPr>
            <a:r>
              <a:rPr sz="1350" b="1">
                <a:solidFill>
                  <a:srgbClr val="102A43"/>
                </a:solidFill>
                <a:latin typeface="DejaVu Sans"/>
                <a:ea typeface="DejaVu Sans"/>
                <a:cs typeface="DejaVu Sans"/>
              </a:rPr>
              <a:t>/amr/localization/</a:t>
            </a:r>
          </a:p>
          <a:p xmlns:a="http://schemas.openxmlformats.org/drawingml/2006/main">
            <a:pPr algn="ctr">
              <a:lnSpc>
                <a:spcPct val="95000"/>
              </a:lnSpc>
              <a:buNone/>
              <a:defRPr sz="1350" b="1">
                <a:solidFill>
                  <a:srgbClr val="102A43"/>
                </a:solidFill>
                <a:latin typeface="DejaVu Sans"/>
                <a:ea typeface="DejaVu Sans"/>
                <a:cs typeface="DejaVu Sans"/>
              </a:defRPr>
            </a:pPr>
            <a:r>
              <a:rPr sz="1350" b="1">
                <a:solidFill>
                  <a:srgbClr val="102A43"/>
                </a:solidFill>
                <a:latin typeface="DejaVu Sans"/>
                <a:ea typeface="DejaVu Sans"/>
                <a:cs typeface="DejaVu Sans"/>
              </a:rPr>
              <a:t>wheel_odometry</a:t>
            </a:r>
          </a:p>
        </p:txBody>
      </p:sp>
      <p:sp>
        <p:nvSpPr>
          <p:cNvPr id="8" name="">
            <a:extLst xmlns:a="http://schemas.openxmlformats.org/drawingml/2006/main">
              <a:ext uri="{FF2B5EF4-FFF2-40B4-BE49-F238E27FC236}">
                <a16:creationId xmlns:a16="http://schemas.microsoft.com/office/drawing/2014/main" id="{64371FEE-6AA3-4449-AE88-64C77A69C518}"/>
              </a:ext>
            </a:extLst>
          </p:cNvPr>
          <p:cNvSpPr>
            <a:spLocks xmlns:a="http://schemas.openxmlformats.org/drawingml/2006/main" noGrp="1"/>
          </p:cNvSpPr>
          <p:nvPr/>
        </p:nvSpPr>
        <p:spPr>
          <a:xfrm xmlns:a="http://schemas.openxmlformats.org/drawingml/2006/main">
            <a:off x="3143250" y="2857500"/>
            <a:ext cx="2619375" cy="876300"/>
          </a:xfrm>
          <a:prstGeom xmlns:a="http://schemas.openxmlformats.org/drawingml/2006/main" prst="roundRect">
            <a:avLst>
              <a:gd name="adj" fmla="val 10870"/>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350" b="0">
                <a:solidFill>
                  <a:srgbClr val="102A43"/>
                </a:solidFill>
                <a:latin typeface="DejaVu Sans"/>
                <a:ea typeface="DejaVu Sans"/>
                <a:cs typeface="DejaVu Sans"/>
              </a:defRPr>
            </a:pPr>
            <a:r>
              <a:rPr sz="1350" b="0">
                <a:solidFill>
                  <a:srgbClr val="102A43"/>
                </a:solidFill>
                <a:latin typeface="DejaVu Sans"/>
                <a:ea typeface="DejaVu Sans"/>
                <a:cs typeface="DejaVu Sans"/>
              </a:rPr>
              <a:t>IMU</a:t>
            </a:r>
          </a:p>
          <a:p xmlns:a="http://schemas.openxmlformats.org/drawingml/2006/main">
            <a:pPr algn="ctr">
              <a:lnSpc>
                <a:spcPct val="95000"/>
              </a:lnSpc>
              <a:buNone/>
              <a:defRPr sz="1350" b="0">
                <a:solidFill>
                  <a:srgbClr val="102A43"/>
                </a:solidFill>
                <a:latin typeface="DejaVu Sans"/>
                <a:ea typeface="DejaVu Sans"/>
                <a:cs typeface="DejaVu Sans"/>
              </a:defRPr>
            </a:pPr>
            <a:r>
              <a:rPr sz="1350" b="0">
                <a:solidFill>
                  <a:srgbClr val="102A43"/>
                </a:solidFill>
                <a:latin typeface="DejaVu Sans"/>
                <a:ea typeface="DejaVu Sans"/>
                <a:cs typeface="DejaVu Sans"/>
              </a:rPr>
              <a:t>/amr/sensors/imu/</a:t>
            </a:r>
          </a:p>
          <a:p xmlns:a="http://schemas.openxmlformats.org/drawingml/2006/main">
            <a:pPr algn="ctr">
              <a:lnSpc>
                <a:spcPct val="95000"/>
              </a:lnSpc>
              <a:buNone/>
              <a:defRPr sz="1350" b="0">
                <a:solidFill>
                  <a:srgbClr val="102A43"/>
                </a:solidFill>
                <a:latin typeface="DejaVu Sans"/>
                <a:ea typeface="DejaVu Sans"/>
                <a:cs typeface="DejaVu Sans"/>
              </a:defRPr>
            </a:pPr>
            <a:r>
              <a:rPr sz="1350" b="0">
                <a:solidFill>
                  <a:srgbClr val="102A43"/>
                </a:solidFill>
                <a:latin typeface="DejaVu Sans"/>
                <a:ea typeface="DejaVu Sans"/>
                <a:cs typeface="DejaVu Sans"/>
              </a:rPr>
              <a:t>data_raw</a:t>
            </a:r>
          </a:p>
        </p:txBody>
      </p:sp>
      <p:sp>
        <p:nvSpPr>
          <p:cNvPr id="9" name="">
            <a:extLst xmlns:a="http://schemas.openxmlformats.org/drawingml/2006/main">
              <a:ext uri="{FF2B5EF4-FFF2-40B4-BE49-F238E27FC236}">
                <a16:creationId xmlns:a16="http://schemas.microsoft.com/office/drawing/2014/main" id="{E95DA836-911F-472C-ACC4-81489E09F242}"/>
              </a:ext>
            </a:extLst>
          </p:cNvPr>
          <p:cNvSpPr>
            <a:spLocks xmlns:a="http://schemas.openxmlformats.org/drawingml/2006/main" noGrp="1"/>
          </p:cNvSpPr>
          <p:nvPr/>
        </p:nvSpPr>
        <p:spPr>
          <a:xfrm xmlns:a="http://schemas.openxmlformats.org/drawingml/2006/main">
            <a:off x="6334125" y="2143125"/>
            <a:ext cx="2428875" cy="1000125"/>
          </a:xfrm>
          <a:prstGeom xmlns:a="http://schemas.openxmlformats.org/drawingml/2006/main" prst="roundRect">
            <a:avLst>
              <a:gd name="adj" fmla="val 9524"/>
            </a:avLst>
          </a:prstGeom>
          <a:solidFill xmlns:a="http://schemas.openxmlformats.org/drawingml/2006/main">
            <a:srgbClr val="102A43"/>
          </a:solidFill>
          <a:ln xmlns:a="http://schemas.openxmlformats.org/drawingml/2006/main" w="14288">
            <a:solidFill>
              <a:srgbClr val="102A43"/>
            </a:solidFill>
            <a:prstDash val="solid"/>
          </a:ln>
        </p:spPr>
        <p:txBody>
          <a:bodyPr xmlns:a="http://schemas.openxmlformats.org/drawingml/2006/main" lIns="95250" tIns="76200" rIns="95250" bIns="76200" anchor="ctr">
            <a:normAutofit fontScale="86823"/>
          </a:bodyPr>
          <a:lstStyle xmlns:a="http://schemas.openxmlformats.org/drawingml/2006/main"/>
          <a:p xmlns:a="http://schemas.openxmlformats.org/drawingml/2006/main">
            <a:pPr algn="ctr">
              <a:lnSpc>
                <a:spcPct val="95000"/>
              </a:lnSpc>
              <a:buNone/>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robot_localization EKF</a:t>
            </a:r>
          </a:p>
          <a:p xmlns:a="http://schemas.openxmlformats.org/drawingml/2006/main">
            <a:pPr algn="ctr">
              <a:lnSpc>
                <a:spcPct val="95000"/>
              </a:lnSpc>
              <a:buNone/>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30 Hz | two-dimensional mode</a:t>
            </a:r>
          </a:p>
        </p:txBody>
      </p:sp>
      <p:sp>
        <p:nvSpPr>
          <p:cNvPr id="10" name="">
            <a:extLst xmlns:a="http://schemas.openxmlformats.org/drawingml/2006/main">
              <a:ext uri="{FF2B5EF4-FFF2-40B4-BE49-F238E27FC236}">
                <a16:creationId xmlns:a16="http://schemas.microsoft.com/office/drawing/2014/main" id="{B43096CF-0903-4834-A502-9FACE39BA3CD}"/>
              </a:ext>
            </a:extLst>
          </p:cNvPr>
          <p:cNvSpPr>
            <a:spLocks xmlns:a="http://schemas.openxmlformats.org/drawingml/2006/main" noGrp="1"/>
          </p:cNvSpPr>
          <p:nvPr/>
        </p:nvSpPr>
        <p:spPr>
          <a:xfrm xmlns:a="http://schemas.openxmlformats.org/drawingml/2006/main">
            <a:off x="9334500" y="2095500"/>
            <a:ext cx="2190750" cy="1095375"/>
          </a:xfrm>
          <a:prstGeom xmlns:a="http://schemas.openxmlformats.org/drawingml/2006/main" prst="roundRect">
            <a:avLst>
              <a:gd name="adj" fmla="val 8696"/>
            </a:avLst>
          </a:prstGeom>
          <a:solidFill xmlns:a="http://schemas.openxmlformats.org/drawingml/2006/main">
            <a:srgbClr val="EAF7F0"/>
          </a:solidFill>
          <a:ln xmlns:a="http://schemas.openxmlformats.org/drawingml/2006/main" w="14288">
            <a:solidFill>
              <a:srgbClr val="18794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350" b="1">
                <a:solidFill>
                  <a:srgbClr val="18794E"/>
                </a:solidFill>
                <a:latin typeface="DejaVu Sans"/>
                <a:ea typeface="DejaVu Sans"/>
                <a:cs typeface="DejaVu Sans"/>
              </a:defRPr>
            </a:pPr>
            <a:r>
              <a:rPr sz="1350" b="1">
                <a:solidFill>
                  <a:srgbClr val="18794E"/>
                </a:solidFill>
                <a:latin typeface="DejaVu Sans"/>
                <a:ea typeface="DejaVu Sans"/>
                <a:cs typeface="DejaVu Sans"/>
              </a:rPr>
              <a:t>/amr/localization/</a:t>
            </a:r>
          </a:p>
          <a:p xmlns:a="http://schemas.openxmlformats.org/drawingml/2006/main">
            <a:pPr algn="ctr">
              <a:lnSpc>
                <a:spcPct val="95000"/>
              </a:lnSpc>
              <a:buNone/>
              <a:defRPr sz="1350" b="1">
                <a:solidFill>
                  <a:srgbClr val="18794E"/>
                </a:solidFill>
                <a:latin typeface="DejaVu Sans"/>
                <a:ea typeface="DejaVu Sans"/>
                <a:cs typeface="DejaVu Sans"/>
              </a:defRPr>
            </a:pPr>
            <a:r>
              <a:rPr sz="1350" b="1">
                <a:solidFill>
                  <a:srgbClr val="18794E"/>
                </a:solidFill>
                <a:latin typeface="DejaVu Sans"/>
                <a:ea typeface="DejaVu Sans"/>
                <a:cs typeface="DejaVu Sans"/>
              </a:rPr>
              <a:t>odometry</a:t>
            </a:r>
          </a:p>
          <a:p xmlns:a="http://schemas.openxmlformats.org/drawingml/2006/main">
            <a:pPr algn="ctr">
              <a:lnSpc>
                <a:spcPct val="95000"/>
              </a:lnSpc>
              <a:buNone/>
              <a:defRPr sz="1350" b="1">
                <a:solidFill>
                  <a:srgbClr val="18794E"/>
                </a:solidFill>
                <a:latin typeface="DejaVu Sans"/>
                <a:ea typeface="DejaVu Sans"/>
                <a:cs typeface="DejaVu Sans"/>
              </a:defRPr>
            </a:pPr>
            <a:r>
              <a:rPr sz="1350" b="1">
                <a:solidFill>
                  <a:srgbClr val="18794E"/>
                </a:solidFill>
                <a:latin typeface="DejaVu Sans"/>
                <a:ea typeface="DejaVu Sans"/>
                <a:cs typeface="DejaVu Sans"/>
              </a:rPr>
              <a:t>odom -&gt; base_footprint</a:t>
            </a:r>
          </a:p>
        </p:txBody>
      </p:sp>
      <p:cxnSp>
        <p:nvCxnSpPr>
          <p:cNvPr id="38" name=""/>
          <p:cNvCxnSpPr>
            <a:stCxn xmlns:a="http://schemas.openxmlformats.org/drawingml/2006/main" id="6" idx="3"/>
            <a:endCxn xmlns:a="http://schemas.openxmlformats.org/drawingml/2006/main" id="7" idx="1"/>
          </p:cNvCxnSpPr>
          <p:nvPr/>
        </p:nvCxnSpPr>
        <p:spPr>
          <a:xfrm xmlns:a="http://schemas.openxmlformats.org/drawingml/2006/main">
            <a:off x="2571750" y="2105025"/>
            <a:ext cx="571500" cy="0"/>
          </a:xfrm>
          <a:prstGeom xmlns:a="http://schemas.openxmlformats.org/drawingml/2006/main" prst="straightConnector1">
            <a:avLst/>
          </a:prstGeom>
          <a:ln xmlns:a="http://schemas.openxmlformats.org/drawingml/2006/main" w="23813">
            <a:solidFill>
              <a:srgbClr val="0077B6"/>
            </a:solidFill>
            <a:prstDash val="solid"/>
            <a:tailEnd type="triangle" w="sm" len="sm"/>
          </a:ln>
        </p:spPr>
      </p:cxnSp>
      <p:cxnSp>
        <p:nvCxnSpPr>
          <p:cNvPr id="39" name=""/>
          <p:cNvCxnSpPr>
            <a:stCxn xmlns:a="http://schemas.openxmlformats.org/drawingml/2006/main" id="7" idx="3"/>
            <a:endCxn xmlns:a="http://schemas.openxmlformats.org/drawingml/2006/main" id="9" idx="1"/>
          </p:cNvCxnSpPr>
          <p:nvPr/>
        </p:nvCxnSpPr>
        <p:spPr>
          <a:xfrm xmlns:a="http://schemas.openxmlformats.org/drawingml/2006/main">
            <a:off x="5762625" y="2105025"/>
            <a:ext cx="571500" cy="538163"/>
          </a:xfrm>
          <a:prstGeom xmlns:a="http://schemas.openxmlformats.org/drawingml/2006/main" prst="straightConnector1">
            <a:avLst/>
          </a:prstGeom>
          <a:ln xmlns:a="http://schemas.openxmlformats.org/drawingml/2006/main" w="23813">
            <a:solidFill>
              <a:srgbClr val="0077B6"/>
            </a:solidFill>
            <a:prstDash val="solid"/>
            <a:tailEnd type="triangle" w="sm" len="sm"/>
          </a:ln>
        </p:spPr>
      </p:cxnSp>
      <p:cxnSp>
        <p:nvCxnSpPr>
          <p:cNvPr id="40" name=""/>
          <p:cNvCxnSpPr>
            <a:stCxn xmlns:a="http://schemas.openxmlformats.org/drawingml/2006/main" id="8" idx="3"/>
            <a:endCxn xmlns:a="http://schemas.openxmlformats.org/drawingml/2006/main" id="9" idx="2"/>
          </p:cNvCxnSpPr>
          <p:nvPr/>
        </p:nvCxnSpPr>
        <p:spPr>
          <a:xfrm xmlns:a="http://schemas.openxmlformats.org/drawingml/2006/main" flipV="1">
            <a:off x="5762625" y="3143250"/>
            <a:ext cx="1785938" cy="228600"/>
          </a:xfrm>
          <a:prstGeom xmlns:a="http://schemas.openxmlformats.org/drawingml/2006/main" prst="bentConnector4">
            <a:avLst/>
          </a:prstGeom>
          <a:ln xmlns:a="http://schemas.openxmlformats.org/drawingml/2006/main" w="23813">
            <a:solidFill>
              <a:srgbClr val="0077B6"/>
            </a:solidFill>
            <a:prstDash val="solid"/>
            <a:tailEnd type="triangle" w="sm" len="sm"/>
          </a:ln>
        </p:spPr>
      </p:cxnSp>
      <p:cxnSp>
        <p:nvCxnSpPr>
          <p:cNvPr id="41" name=""/>
          <p:cNvCxnSpPr>
            <a:stCxn xmlns:a="http://schemas.openxmlformats.org/drawingml/2006/main" id="9" idx="3"/>
            <a:endCxn xmlns:a="http://schemas.openxmlformats.org/drawingml/2006/main" id="10" idx="1"/>
          </p:cNvCxnSpPr>
          <p:nvPr/>
        </p:nvCxnSpPr>
        <p:spPr>
          <a:xfrm xmlns:a="http://schemas.openxmlformats.org/drawingml/2006/main">
            <a:off x="8763000" y="2643188"/>
            <a:ext cx="571500" cy="0"/>
          </a:xfrm>
          <a:prstGeom xmlns:a="http://schemas.openxmlformats.org/drawingml/2006/main" prst="straightConnector1">
            <a:avLst/>
          </a:prstGeom>
          <a:ln xmlns:a="http://schemas.openxmlformats.org/drawingml/2006/main" w="23813">
            <a:solidFill>
              <a:srgbClr val="18794E"/>
            </a:solidFill>
            <a:prstDash val="solid"/>
            <a:tailEnd type="triangle" w="sm" len="sm"/>
          </a:ln>
        </p:spPr>
      </p:cxnSp>
      <p:sp>
        <p:nvSpPr>
          <p:cNvPr id="15" name="">
            <a:extLst xmlns:a="http://schemas.openxmlformats.org/drawingml/2006/main">
              <a:ext uri="{FF2B5EF4-FFF2-40B4-BE49-F238E27FC236}">
                <a16:creationId xmlns:a16="http://schemas.microsoft.com/office/drawing/2014/main" id="{520D6C01-3503-4DDE-AFDE-9A2BCF2880C7}"/>
              </a:ext>
            </a:extLst>
          </p:cNvPr>
          <p:cNvSpPr>
            <a:spLocks xmlns:a="http://schemas.openxmlformats.org/drawingml/2006/main" noGrp="1"/>
          </p:cNvSpPr>
          <p:nvPr/>
        </p:nvSpPr>
        <p:spPr>
          <a:xfrm xmlns:a="http://schemas.openxmlformats.org/drawingml/2006/main">
            <a:off x="666750" y="41719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00" b="1">
                <a:solidFill>
                  <a:srgbClr val="0077B6"/>
                </a:solidFill>
                <a:latin typeface="DejaVu Sans"/>
                <a:ea typeface="DejaVu Sans"/>
                <a:cs typeface="DejaVu Sans"/>
              </a:defRPr>
            </a:pPr>
            <a:r>
              <a:rPr sz="1500" b="1">
                <a:solidFill>
                  <a:srgbClr val="0077B6"/>
                </a:solidFill>
                <a:latin typeface="DejaVu Sans"/>
                <a:ea typeface="DejaVu Sans"/>
                <a:cs typeface="DejaVu Sans"/>
              </a:rPr>
              <a:t>TF TREE</a:t>
            </a:r>
          </a:p>
        </p:txBody>
      </p:sp>
      <p:sp>
        <p:nvSpPr>
          <p:cNvPr id="16" name="">
            <a:extLst xmlns:a="http://schemas.openxmlformats.org/drawingml/2006/main">
              <a:ext uri="{FF2B5EF4-FFF2-40B4-BE49-F238E27FC236}">
                <a16:creationId xmlns:a16="http://schemas.microsoft.com/office/drawing/2014/main" id="{A283F6D6-09D1-4C83-B918-98F3F474C3CC}"/>
              </a:ext>
            </a:extLst>
          </p:cNvPr>
          <p:cNvSpPr>
            <a:spLocks xmlns:a="http://schemas.openxmlformats.org/drawingml/2006/main" noGrp="1"/>
          </p:cNvSpPr>
          <p:nvPr/>
        </p:nvSpPr>
        <p:spPr>
          <a:xfrm xmlns:a="http://schemas.openxmlformats.org/drawingml/2006/main">
            <a:off x="666750" y="4686300"/>
            <a:ext cx="1238250" cy="514350"/>
          </a:xfrm>
          <a:prstGeom xmlns:a="http://schemas.openxmlformats.org/drawingml/2006/main" prst="roundRect">
            <a:avLst>
              <a:gd name="adj" fmla="val 18519"/>
            </a:avLst>
          </a:prstGeom>
          <a:solidFill xmlns:a="http://schemas.openxmlformats.org/drawingml/2006/main">
            <a:srgbClr val="102A43"/>
          </a:solidFill>
          <a:ln xmlns:a="http://schemas.openxmlformats.org/drawingml/2006/main" w="14288">
            <a:solidFill>
              <a:srgbClr val="102A43"/>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map</a:t>
            </a:r>
          </a:p>
        </p:txBody>
      </p:sp>
      <p:sp>
        <p:nvSpPr>
          <p:cNvPr id="17" name="">
            <a:extLst xmlns:a="http://schemas.openxmlformats.org/drawingml/2006/main">
              <a:ext uri="{FF2B5EF4-FFF2-40B4-BE49-F238E27FC236}">
                <a16:creationId xmlns:a16="http://schemas.microsoft.com/office/drawing/2014/main" id="{C55FDE25-AABF-4D13-94D1-DAB81992372B}"/>
              </a:ext>
            </a:extLst>
          </p:cNvPr>
          <p:cNvSpPr>
            <a:spLocks xmlns:a="http://schemas.openxmlformats.org/drawingml/2006/main" noGrp="1"/>
          </p:cNvSpPr>
          <p:nvPr/>
        </p:nvSpPr>
        <p:spPr>
          <a:xfrm xmlns:a="http://schemas.openxmlformats.org/drawingml/2006/main">
            <a:off x="2571750" y="4686300"/>
            <a:ext cx="1238250" cy="514350"/>
          </a:xfrm>
          <a:prstGeom xmlns:a="http://schemas.openxmlformats.org/drawingml/2006/main" prst="roundRect">
            <a:avLst>
              <a:gd name="adj" fmla="val 18519"/>
            </a:avLst>
          </a:prstGeom>
          <a:solidFill xmlns:a="http://schemas.openxmlformats.org/drawingml/2006/main">
            <a:srgbClr val="EAF6FC"/>
          </a:solidFill>
          <a:ln xmlns:a="http://schemas.openxmlformats.org/drawingml/2006/main" w="14288">
            <a:solidFill>
              <a:srgbClr val="0077B6"/>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650" b="1">
                <a:solidFill>
                  <a:srgbClr val="102A43"/>
                </a:solidFill>
                <a:latin typeface="DejaVu Sans"/>
                <a:ea typeface="DejaVu Sans"/>
                <a:cs typeface="DejaVu Sans"/>
              </a:defRPr>
            </a:pPr>
            <a:r>
              <a:rPr sz="1650" b="1">
                <a:solidFill>
                  <a:srgbClr val="102A43"/>
                </a:solidFill>
                <a:latin typeface="DejaVu Sans"/>
                <a:ea typeface="DejaVu Sans"/>
                <a:cs typeface="DejaVu Sans"/>
              </a:rPr>
              <a:t>odom</a:t>
            </a:r>
          </a:p>
        </p:txBody>
      </p:sp>
      <p:sp>
        <p:nvSpPr>
          <p:cNvPr id="18" name="">
            <a:extLst xmlns:a="http://schemas.openxmlformats.org/drawingml/2006/main">
              <a:ext uri="{FF2B5EF4-FFF2-40B4-BE49-F238E27FC236}">
                <a16:creationId xmlns:a16="http://schemas.microsoft.com/office/drawing/2014/main" id="{F3FF5EFD-1A03-4AB3-A60E-CAAAE01E61DA}"/>
              </a:ext>
            </a:extLst>
          </p:cNvPr>
          <p:cNvSpPr>
            <a:spLocks xmlns:a="http://schemas.openxmlformats.org/drawingml/2006/main" noGrp="1"/>
          </p:cNvSpPr>
          <p:nvPr/>
        </p:nvSpPr>
        <p:spPr>
          <a:xfrm xmlns:a="http://schemas.openxmlformats.org/drawingml/2006/main">
            <a:off x="4476750" y="4686300"/>
            <a:ext cx="1809750" cy="514350"/>
          </a:xfrm>
          <a:prstGeom xmlns:a="http://schemas.openxmlformats.org/drawingml/2006/main" prst="roundRect">
            <a:avLst>
              <a:gd name="adj" fmla="val 18519"/>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base_footprint</a:t>
            </a:r>
          </a:p>
        </p:txBody>
      </p:sp>
      <p:sp>
        <p:nvSpPr>
          <p:cNvPr id="19" name="">
            <a:extLst xmlns:a="http://schemas.openxmlformats.org/drawingml/2006/main">
              <a:ext uri="{FF2B5EF4-FFF2-40B4-BE49-F238E27FC236}">
                <a16:creationId xmlns:a16="http://schemas.microsoft.com/office/drawing/2014/main" id="{90A3F442-6405-44B3-8114-ADDFA25DB666}"/>
              </a:ext>
            </a:extLst>
          </p:cNvPr>
          <p:cNvSpPr>
            <a:spLocks xmlns:a="http://schemas.openxmlformats.org/drawingml/2006/main" noGrp="1"/>
          </p:cNvSpPr>
          <p:nvPr/>
        </p:nvSpPr>
        <p:spPr>
          <a:xfrm xmlns:a="http://schemas.openxmlformats.org/drawingml/2006/main">
            <a:off x="6953250" y="4686300"/>
            <a:ext cx="1428750" cy="514350"/>
          </a:xfrm>
          <a:prstGeom xmlns:a="http://schemas.openxmlformats.org/drawingml/2006/main" prst="roundRect">
            <a:avLst>
              <a:gd name="adj" fmla="val 18519"/>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575" b="1">
                <a:solidFill>
                  <a:srgbClr val="102A43"/>
                </a:solidFill>
                <a:latin typeface="DejaVu Sans"/>
                <a:ea typeface="DejaVu Sans"/>
                <a:cs typeface="DejaVu Sans"/>
              </a:defRPr>
            </a:pPr>
            <a:r>
              <a:rPr sz="1575" b="1">
                <a:solidFill>
                  <a:srgbClr val="102A43"/>
                </a:solidFill>
                <a:latin typeface="DejaVu Sans"/>
                <a:ea typeface="DejaVu Sans"/>
                <a:cs typeface="DejaVu Sans"/>
              </a:rPr>
              <a:t>base_link</a:t>
            </a:r>
          </a:p>
        </p:txBody>
      </p:sp>
      <p:sp>
        <p:nvSpPr>
          <p:cNvPr id="20" name="">
            <a:extLst xmlns:a="http://schemas.openxmlformats.org/drawingml/2006/main">
              <a:ext uri="{FF2B5EF4-FFF2-40B4-BE49-F238E27FC236}">
                <a16:creationId xmlns:a16="http://schemas.microsoft.com/office/drawing/2014/main" id="{AE45A8D6-1603-42E2-813F-AB84F3F2B385}"/>
              </a:ext>
            </a:extLst>
          </p:cNvPr>
          <p:cNvSpPr>
            <a:spLocks xmlns:a="http://schemas.openxmlformats.org/drawingml/2006/main" noGrp="1"/>
          </p:cNvSpPr>
          <p:nvPr/>
        </p:nvSpPr>
        <p:spPr>
          <a:xfrm xmlns:a="http://schemas.openxmlformats.org/drawingml/2006/main">
            <a:off x="9048750" y="4686300"/>
            <a:ext cx="2476500" cy="514350"/>
          </a:xfrm>
          <a:prstGeom xmlns:a="http://schemas.openxmlformats.org/drawingml/2006/main" prst="roundRect">
            <a:avLst>
              <a:gd name="adj" fmla="val 18519"/>
            </a:avLst>
          </a:prstGeom>
          <a:solidFill xmlns:a="http://schemas.openxmlformats.org/drawingml/2006/main">
            <a:srgbClr val="EAF6FC"/>
          </a:solidFill>
          <a:ln xmlns:a="http://schemas.openxmlformats.org/drawingml/2006/main" w="14288">
            <a:solidFill>
              <a:srgbClr val="0077B6"/>
            </a:solidFill>
            <a:prstDash val="solid"/>
          </a:ln>
        </p:spPr>
        <p:txBody>
          <a:bodyPr xmlns:a="http://schemas.openxmlformats.org/drawingml/2006/main" lIns="95250" tIns="76200" rIns="95250" bIns="76200" anchor="ctr">
            <a:normAutofit fontScale="82734"/>
          </a:bodyPr>
          <a:lstStyle xmlns:a="http://schemas.openxmlformats.org/drawingml/2006/main"/>
          <a:p xmlns:a="http://schemas.openxmlformats.org/drawingml/2006/main">
            <a:pPr algn="ctr">
              <a:lnSpc>
                <a:spcPct val="95000"/>
              </a:lnSpc>
              <a:buNone/>
              <a:defRPr sz="1425" b="1">
                <a:solidFill>
                  <a:srgbClr val="102A43"/>
                </a:solidFill>
                <a:latin typeface="DejaVu Sans"/>
                <a:ea typeface="DejaVu Sans"/>
                <a:cs typeface="DejaVu Sans"/>
              </a:defRPr>
            </a:pPr>
            <a:r>
              <a:rPr sz="1425" b="1">
                <a:solidFill>
                  <a:srgbClr val="102A43"/>
                </a:solidFill>
                <a:latin typeface="DejaVu Sans"/>
                <a:ea typeface="DejaVu Sans"/>
                <a:cs typeface="DejaVu Sans"/>
              </a:rPr>
              <a:t>lidars | IMU | camera | arm</a:t>
            </a:r>
          </a:p>
        </p:txBody>
      </p:sp>
      <p:cxnSp>
        <p:nvCxnSpPr>
          <p:cNvPr id="48" name=""/>
          <p:cNvCxnSpPr>
            <a:stCxn xmlns:a="http://schemas.openxmlformats.org/drawingml/2006/main" id="16" idx="3"/>
            <a:endCxn xmlns:a="http://schemas.openxmlformats.org/drawingml/2006/main" id="17" idx="1"/>
          </p:cNvCxnSpPr>
          <p:nvPr/>
        </p:nvCxnSpPr>
        <p:spPr>
          <a:xfrm xmlns:a="http://schemas.openxmlformats.org/drawingml/2006/main">
            <a:off x="1905000" y="4943475"/>
            <a:ext cx="666750" cy="0"/>
          </a:xfrm>
          <a:prstGeom xmlns:a="http://schemas.openxmlformats.org/drawingml/2006/main" prst="straightConnector1">
            <a:avLst/>
          </a:prstGeom>
          <a:ln xmlns:a="http://schemas.openxmlformats.org/drawingml/2006/main" w="23813">
            <a:solidFill>
              <a:srgbClr val="0077B6"/>
            </a:solidFill>
            <a:prstDash val="solid"/>
            <a:tailEnd type="triangle" w="sm" len="sm"/>
          </a:ln>
        </p:spPr>
      </p:cxnSp>
      <p:cxnSp>
        <p:nvCxnSpPr>
          <p:cNvPr id="49" name=""/>
          <p:cNvCxnSpPr>
            <a:stCxn xmlns:a="http://schemas.openxmlformats.org/drawingml/2006/main" id="17" idx="3"/>
            <a:endCxn xmlns:a="http://schemas.openxmlformats.org/drawingml/2006/main" id="18" idx="1"/>
          </p:cNvCxnSpPr>
          <p:nvPr/>
        </p:nvCxnSpPr>
        <p:spPr>
          <a:xfrm xmlns:a="http://schemas.openxmlformats.org/drawingml/2006/main">
            <a:off x="3810000" y="4943475"/>
            <a:ext cx="666750" cy="0"/>
          </a:xfrm>
          <a:prstGeom xmlns:a="http://schemas.openxmlformats.org/drawingml/2006/main" prst="straightConnector1">
            <a:avLst/>
          </a:prstGeom>
          <a:ln xmlns:a="http://schemas.openxmlformats.org/drawingml/2006/main" w="23813">
            <a:solidFill>
              <a:srgbClr val="0077B6"/>
            </a:solidFill>
            <a:prstDash val="solid"/>
            <a:tailEnd type="triangle" w="sm" len="sm"/>
          </a:ln>
        </p:spPr>
      </p:cxnSp>
      <p:cxnSp>
        <p:nvCxnSpPr>
          <p:cNvPr id="50" name=""/>
          <p:cNvCxnSpPr>
            <a:stCxn xmlns:a="http://schemas.openxmlformats.org/drawingml/2006/main" id="18" idx="3"/>
            <a:endCxn xmlns:a="http://schemas.openxmlformats.org/drawingml/2006/main" id="19" idx="1"/>
          </p:cNvCxnSpPr>
          <p:nvPr/>
        </p:nvCxnSpPr>
        <p:spPr>
          <a:xfrm xmlns:a="http://schemas.openxmlformats.org/drawingml/2006/main">
            <a:off x="6286500" y="4943475"/>
            <a:ext cx="666750" cy="0"/>
          </a:xfrm>
          <a:prstGeom xmlns:a="http://schemas.openxmlformats.org/drawingml/2006/main" prst="straightConnector1">
            <a:avLst/>
          </a:prstGeom>
          <a:ln xmlns:a="http://schemas.openxmlformats.org/drawingml/2006/main" w="23813">
            <a:solidFill>
              <a:srgbClr val="0077B6"/>
            </a:solidFill>
            <a:prstDash val="solid"/>
            <a:tailEnd type="triangle" w="sm" len="sm"/>
          </a:ln>
        </p:spPr>
      </p:cxnSp>
      <p:cxnSp>
        <p:nvCxnSpPr>
          <p:cNvPr id="51" name=""/>
          <p:cNvCxnSpPr>
            <a:stCxn xmlns:a="http://schemas.openxmlformats.org/drawingml/2006/main" id="19" idx="3"/>
            <a:endCxn xmlns:a="http://schemas.openxmlformats.org/drawingml/2006/main" id="20" idx="1"/>
          </p:cNvCxnSpPr>
          <p:nvPr/>
        </p:nvCxnSpPr>
        <p:spPr>
          <a:xfrm xmlns:a="http://schemas.openxmlformats.org/drawingml/2006/main">
            <a:off x="8382000" y="4943475"/>
            <a:ext cx="666750" cy="0"/>
          </a:xfrm>
          <a:prstGeom xmlns:a="http://schemas.openxmlformats.org/drawingml/2006/main" prst="straightConnector1">
            <a:avLst/>
          </a:prstGeom>
          <a:ln xmlns:a="http://schemas.openxmlformats.org/drawingml/2006/main" w="23813">
            <a:solidFill>
              <a:srgbClr val="0077B6"/>
            </a:solidFill>
            <a:prstDash val="solid"/>
            <a:tailEnd type="triangle" w="sm" len="sm"/>
          </a:ln>
        </p:spPr>
      </p:cxnSp>
      <p:sp>
        <p:nvSpPr>
          <p:cNvPr id="25" name="">
            <a:extLst xmlns:a="http://schemas.openxmlformats.org/drawingml/2006/main">
              <a:ext uri="{FF2B5EF4-FFF2-40B4-BE49-F238E27FC236}">
                <a16:creationId xmlns:a16="http://schemas.microsoft.com/office/drawing/2014/main" id="{B3D28F92-59F3-4489-87B3-63FEF6183AFA}"/>
              </a:ext>
            </a:extLst>
          </p:cNvPr>
          <p:cNvSpPr>
            <a:spLocks xmlns:a="http://schemas.openxmlformats.org/drawingml/2006/main" noGrp="1"/>
          </p:cNvSpPr>
          <p:nvPr/>
        </p:nvSpPr>
        <p:spPr>
          <a:xfrm xmlns:a="http://schemas.openxmlformats.org/drawingml/2006/main">
            <a:off x="904875" y="5334000"/>
            <a:ext cx="266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275" b="0">
                <a:solidFill>
                  <a:srgbClr val="536575"/>
                </a:solidFill>
                <a:latin typeface="DejaVu Sans"/>
                <a:ea typeface="DejaVu Sans"/>
                <a:cs typeface="DejaVu Sans"/>
              </a:defRPr>
            </a:pPr>
            <a:r>
              <a:rPr sz="1275" b="0">
                <a:solidFill>
                  <a:srgbClr val="536575"/>
                </a:solidFill>
                <a:latin typeface="DejaVu Sans"/>
                <a:ea typeface="DejaVu Sans"/>
                <a:cs typeface="DejaVu Sans"/>
              </a:rPr>
              <a:t>SLAM Toolbox (mapping)</a:t>
            </a:r>
          </a:p>
          <a:p xmlns:a="http://schemas.openxmlformats.org/drawingml/2006/main">
            <a:pPr algn="ctr">
              <a:lnSpc>
                <a:spcPct val="100000"/>
              </a:lnSpc>
              <a:buNone/>
              <a:defRPr sz="1275" b="0">
                <a:solidFill>
                  <a:srgbClr val="536575"/>
                </a:solidFill>
                <a:latin typeface="DejaVu Sans"/>
                <a:ea typeface="DejaVu Sans"/>
                <a:cs typeface="DejaVu Sans"/>
              </a:defRPr>
            </a:pPr>
            <a:r>
              <a:rPr sz="1275" b="0">
                <a:solidFill>
                  <a:srgbClr val="536575"/>
                </a:solidFill>
                <a:latin typeface="DejaVu Sans"/>
                <a:ea typeface="DejaVu Sans"/>
                <a:cs typeface="DejaVu Sans"/>
              </a:rPr>
              <a:t>or AMCL (factory)</a:t>
            </a:r>
          </a:p>
        </p:txBody>
      </p:sp>
      <p:sp>
        <p:nvSpPr>
          <p:cNvPr id="26" name="">
            <a:extLst xmlns:a="http://schemas.openxmlformats.org/drawingml/2006/main">
              <a:ext uri="{FF2B5EF4-FFF2-40B4-BE49-F238E27FC236}">
                <a16:creationId xmlns:a16="http://schemas.microsoft.com/office/drawing/2014/main" id="{8F6F059F-48D6-48CF-9602-C8483F410447}"/>
              </a:ext>
            </a:extLst>
          </p:cNvPr>
          <p:cNvSpPr>
            <a:spLocks xmlns:a="http://schemas.openxmlformats.org/drawingml/2006/main" noGrp="1"/>
          </p:cNvSpPr>
          <p:nvPr/>
        </p:nvSpPr>
        <p:spPr>
          <a:xfrm xmlns:a="http://schemas.openxmlformats.org/drawingml/2006/main">
            <a:off x="4810125" y="5334000"/>
            <a:ext cx="114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350" b="1">
                <a:solidFill>
                  <a:srgbClr val="18794E"/>
                </a:solidFill>
                <a:latin typeface="DejaVu Sans"/>
                <a:ea typeface="DejaVu Sans"/>
                <a:cs typeface="DejaVu Sans"/>
              </a:defRPr>
            </a:pPr>
            <a:r>
              <a:rPr sz="1350" b="1">
                <a:solidFill>
                  <a:srgbClr val="18794E"/>
                </a:solidFill>
                <a:latin typeface="DejaVu Sans"/>
                <a:ea typeface="DejaVu Sans"/>
                <a:cs typeface="DejaVu Sans"/>
              </a:rPr>
              <a:t>EKF</a:t>
            </a:r>
          </a:p>
        </p:txBody>
      </p:sp>
      <p:sp>
        <p:nvSpPr>
          <p:cNvPr id="27" name="">
            <a:extLst xmlns:a="http://schemas.openxmlformats.org/drawingml/2006/main">
              <a:ext uri="{FF2B5EF4-FFF2-40B4-BE49-F238E27FC236}">
                <a16:creationId xmlns:a16="http://schemas.microsoft.com/office/drawing/2014/main" id="{4B792142-359C-4FFB-8338-3DD70F28BEBD}"/>
              </a:ext>
            </a:extLst>
          </p:cNvPr>
          <p:cNvSpPr>
            <a:spLocks xmlns:a="http://schemas.openxmlformats.org/drawingml/2006/main" noGrp="1"/>
          </p:cNvSpPr>
          <p:nvPr/>
        </p:nvSpPr>
        <p:spPr>
          <a:xfrm xmlns:a="http://schemas.openxmlformats.org/drawingml/2006/main">
            <a:off x="7048500" y="5334000"/>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350" b="0">
                <a:solidFill>
                  <a:srgbClr val="536575"/>
                </a:solidFill>
                <a:latin typeface="DejaVu Sans"/>
                <a:ea typeface="DejaVu Sans"/>
                <a:cs typeface="DejaVu Sans"/>
              </a:defRPr>
            </a:pPr>
            <a:r>
              <a:rPr sz="1350" b="0">
                <a:solidFill>
                  <a:srgbClr val="536575"/>
                </a:solidFill>
                <a:latin typeface="DejaVu Sans"/>
                <a:ea typeface="DejaVu Sans"/>
                <a:cs typeface="DejaVu Sans"/>
              </a:rPr>
              <a:t>robot_state_publisher (static tree)</a:t>
            </a:r>
          </a:p>
        </p:txBody>
      </p:sp>
    </p:spTree>
    <p:extLst>
      <p:ext uri="{BB962C8B-B14F-4D97-AF65-F5344CB8AC3E}">
        <p14:creationId xmlns:p14="http://schemas.microsoft.com/office/powerpoint/2010/main" val="45698431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13327A6-76B0-4422-9D6C-7D484374423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363D67-7861-49D2-9362-2101B26E5B7E}"/>
              </a:ext>
            </a:extLst>
          </p:cNvPr>
          <p:cNvSpPr>
            <a:spLocks xmlns:a="http://schemas.openxmlformats.org/drawingml/2006/main" noGrp="1"/>
          </p:cNvSpPr>
          <p:nvPr/>
        </p:nvSpPr>
        <p:spPr>
          <a:xfrm xmlns:a="http://schemas.openxmlformats.org/drawingml/2006/main">
            <a:off x="609600" y="323850"/>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3150" b="1">
                <a:solidFill>
                  <a:srgbClr val="102A43"/>
                </a:solidFill>
                <a:latin typeface="DejaVu Sans"/>
                <a:ea typeface="DejaVu Sans"/>
                <a:cs typeface="DejaVu Sans"/>
              </a:defRPr>
            </a:pPr>
            <a:r>
              <a:rPr sz="3150" b="1">
                <a:solidFill>
                  <a:srgbClr val="102A43"/>
                </a:solidFill>
                <a:latin typeface="DejaVu Sans"/>
                <a:ea typeface="DejaVu Sans"/>
                <a:cs typeface="DejaVu Sans"/>
              </a:rPr>
              <a:t>Nav2 navigation pipeline</a:t>
            </a:r>
          </a:p>
        </p:txBody>
      </p:sp>
      <p:sp>
        <p:nvSpPr>
          <p:cNvPr id="3" name="">
            <a:extLst xmlns:a="http://schemas.openxmlformats.org/drawingml/2006/main">
              <a:ext uri="{FF2B5EF4-FFF2-40B4-BE49-F238E27FC236}">
                <a16:creationId xmlns:a16="http://schemas.microsoft.com/office/drawing/2014/main" id="{FC0A5689-3D6D-4F93-90BB-B62CB37CF1B3}"/>
              </a:ext>
            </a:extLst>
          </p:cNvPr>
          <p:cNvSpPr>
            <a:spLocks xmlns:a="http://schemas.openxmlformats.org/drawingml/2006/main" noGrp="1"/>
          </p:cNvSpPr>
          <p:nvPr/>
        </p:nvSpPr>
        <p:spPr>
          <a:xfrm xmlns:a="http://schemas.openxmlformats.org/drawingml/2006/main">
            <a:off x="628650" y="87630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75" b="0">
                <a:solidFill>
                  <a:srgbClr val="536575"/>
                </a:solidFill>
                <a:latin typeface="DejaVu Sans"/>
                <a:ea typeface="DejaVu Sans"/>
                <a:cs typeface="DejaVu Sans"/>
              </a:defRPr>
            </a:pPr>
            <a:r>
              <a:rPr sz="1575" b="0">
                <a:solidFill>
                  <a:srgbClr val="536575"/>
                </a:solidFill>
                <a:latin typeface="DejaVu Sans"/>
                <a:ea typeface="DejaVu Sans"/>
                <a:cs typeface="DejaVu Sans"/>
              </a:rPr>
              <a:t>Mission intent becomes a bounded controller request</a:t>
            </a:r>
          </a:p>
        </p:txBody>
      </p:sp>
      <p:sp>
        <p:nvSpPr>
          <p:cNvPr id="4" name="">
            <a:extLst xmlns:a="http://schemas.openxmlformats.org/drawingml/2006/main">
              <a:ext uri="{FF2B5EF4-FFF2-40B4-BE49-F238E27FC236}">
                <a16:creationId xmlns:a16="http://schemas.microsoft.com/office/drawing/2014/main" id="{DBC16684-404A-4F47-9992-4A8518EF8883}"/>
              </a:ext>
            </a:extLst>
          </p:cNvPr>
          <p:cNvSpPr>
            <a:spLocks xmlns:a="http://schemas.openxmlformats.org/drawingml/2006/main" noGrp="1"/>
          </p:cNvSpPr>
          <p:nvPr/>
        </p:nvSpPr>
        <p:spPr>
          <a:xfrm xmlns:a="http://schemas.openxmlformats.org/drawingml/2006/main">
            <a:off x="11144250" y="400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r">
              <a:lnSpc>
                <a:spcPct val="100000"/>
              </a:lnSpc>
              <a:buNone/>
              <a:defRPr sz="1350" b="1">
                <a:solidFill>
                  <a:srgbClr val="0077B6"/>
                </a:solidFill>
                <a:latin typeface="DejaVu Sans"/>
                <a:ea typeface="DejaVu Sans"/>
                <a:cs typeface="DejaVu Sans"/>
              </a:defRPr>
            </a:pPr>
            <a:r>
              <a:rPr sz="1350" b="1">
                <a:solidFill>
                  <a:srgbClr val="0077B6"/>
                </a:solidFill>
                <a:latin typeface="DejaVu Sans"/>
                <a:ea typeface="DejaVu Sans"/>
                <a:cs typeface="DejaVu Sans"/>
              </a:rPr>
              <a:t>06</a:t>
            </a:r>
          </a:p>
        </p:txBody>
      </p:sp>
      <p:sp>
        <p:nvSpPr>
          <p:cNvPr id="5" name="">
            <a:extLst xmlns:a="http://schemas.openxmlformats.org/drawingml/2006/main">
              <a:ext uri="{FF2B5EF4-FFF2-40B4-BE49-F238E27FC236}">
                <a16:creationId xmlns:a16="http://schemas.microsoft.com/office/drawing/2014/main" id="{4524919D-2770-433B-918E-47CE2248479D}"/>
              </a:ext>
            </a:extLst>
          </p:cNvPr>
          <p:cNvSpPr>
            <a:spLocks xmlns:a="http://schemas.openxmlformats.org/drawingml/2006/main" noGrp="1"/>
          </p:cNvSpPr>
          <p:nvPr/>
        </p:nvSpPr>
        <p:spPr>
          <a:xfrm xmlns:a="http://schemas.openxmlformats.org/drawingml/2006/main">
            <a:off x="523875" y="2238375"/>
            <a:ext cx="2000250" cy="1000125"/>
          </a:xfrm>
          <a:prstGeom xmlns:a="http://schemas.openxmlformats.org/drawingml/2006/main" prst="roundRect">
            <a:avLst>
              <a:gd name="adj" fmla="val 9524"/>
            </a:avLst>
          </a:prstGeom>
          <a:solidFill xmlns:a="http://schemas.openxmlformats.org/drawingml/2006/main">
            <a:srgbClr val="102A43"/>
          </a:solidFill>
          <a:ln xmlns:a="http://schemas.openxmlformats.org/drawingml/2006/main" w="14288">
            <a:solidFill>
              <a:srgbClr val="102A43"/>
            </a:solidFill>
            <a:prstDash val="solid"/>
          </a:ln>
        </p:spPr>
        <p:txBody>
          <a:bodyPr xmlns:a="http://schemas.openxmlformats.org/drawingml/2006/main" lIns="95250" tIns="76200" rIns="95250" bIns="76200" anchor="ctr">
            <a:normAutofit fontScale="91165"/>
          </a:bodyPr>
          <a:lstStyle xmlns:a="http://schemas.openxmlformats.org/drawingml/2006/main"/>
          <a:p xmlns:a="http://schemas.openxmlformats.org/drawingml/2006/main">
            <a:pPr algn="ctr">
              <a:lnSpc>
                <a:spcPct val="95000"/>
              </a:lnSpc>
              <a:buNone/>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Mission supervisor</a:t>
            </a:r>
          </a:p>
          <a:p xmlns:a="http://schemas.openxmlformats.org/drawingml/2006/main">
            <a:pPr algn="ctr">
              <a:lnSpc>
                <a:spcPct val="95000"/>
              </a:lnSpc>
              <a:buNone/>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validates planar goal</a:t>
            </a:r>
          </a:p>
        </p:txBody>
      </p:sp>
      <p:sp>
        <p:nvSpPr>
          <p:cNvPr id="6" name="">
            <a:extLst xmlns:a="http://schemas.openxmlformats.org/drawingml/2006/main">
              <a:ext uri="{FF2B5EF4-FFF2-40B4-BE49-F238E27FC236}">
                <a16:creationId xmlns:a16="http://schemas.microsoft.com/office/drawing/2014/main" id="{1550E52A-C3C5-4E68-A150-5C7E78CB8F4D}"/>
              </a:ext>
            </a:extLst>
          </p:cNvPr>
          <p:cNvSpPr>
            <a:spLocks xmlns:a="http://schemas.openxmlformats.org/drawingml/2006/main" noGrp="1"/>
          </p:cNvSpPr>
          <p:nvPr/>
        </p:nvSpPr>
        <p:spPr>
          <a:xfrm xmlns:a="http://schemas.openxmlformats.org/drawingml/2006/main">
            <a:off x="2809875" y="2238375"/>
            <a:ext cx="2000250" cy="1000125"/>
          </a:xfrm>
          <a:prstGeom xmlns:a="http://schemas.openxmlformats.org/drawingml/2006/main" prst="roundRect">
            <a:avLst>
              <a:gd name="adj" fmla="val 9524"/>
            </a:avLst>
          </a:prstGeom>
          <a:solidFill xmlns:a="http://schemas.openxmlformats.org/drawingml/2006/main">
            <a:srgbClr val="EAF6FC"/>
          </a:solidFill>
          <a:ln xmlns:a="http://schemas.openxmlformats.org/drawingml/2006/main" w="14288">
            <a:solidFill>
              <a:srgbClr val="0077B6"/>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NavFn planner</a:t>
            </a:r>
          </a:p>
          <a:p xmlns:a="http://schemas.openxmlformats.org/drawingml/2006/main">
            <a:pPr algn="ctr">
              <a:lnSpc>
                <a:spcPct val="95000"/>
              </a:lnSpc>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global path</a:t>
            </a:r>
          </a:p>
        </p:txBody>
      </p:sp>
      <p:sp>
        <p:nvSpPr>
          <p:cNvPr id="7" name="">
            <a:extLst xmlns:a="http://schemas.openxmlformats.org/drawingml/2006/main">
              <a:ext uri="{FF2B5EF4-FFF2-40B4-BE49-F238E27FC236}">
                <a16:creationId xmlns:a16="http://schemas.microsoft.com/office/drawing/2014/main" id="{29ABD1C5-16D3-4D5B-97FA-D87CB5DD0AA9}"/>
              </a:ext>
            </a:extLst>
          </p:cNvPr>
          <p:cNvSpPr>
            <a:spLocks xmlns:a="http://schemas.openxmlformats.org/drawingml/2006/main" noGrp="1"/>
          </p:cNvSpPr>
          <p:nvPr/>
        </p:nvSpPr>
        <p:spPr>
          <a:xfrm xmlns:a="http://schemas.openxmlformats.org/drawingml/2006/main">
            <a:off x="5095875" y="2238375"/>
            <a:ext cx="2000250" cy="1000125"/>
          </a:xfrm>
          <a:prstGeom xmlns:a="http://schemas.openxmlformats.org/drawingml/2006/main" prst="roundRect">
            <a:avLst>
              <a:gd name="adj" fmla="val 9524"/>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Simple Smoother</a:t>
            </a:r>
          </a:p>
          <a:p xmlns:a="http://schemas.openxmlformats.org/drawingml/2006/main">
            <a:pPr algn="ctr">
              <a:lnSpc>
                <a:spcPct val="95000"/>
              </a:lnSpc>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refined path</a:t>
            </a:r>
          </a:p>
        </p:txBody>
      </p:sp>
      <p:sp>
        <p:nvSpPr>
          <p:cNvPr id="8" name="">
            <a:extLst xmlns:a="http://schemas.openxmlformats.org/drawingml/2006/main">
              <a:ext uri="{FF2B5EF4-FFF2-40B4-BE49-F238E27FC236}">
                <a16:creationId xmlns:a16="http://schemas.microsoft.com/office/drawing/2014/main" id="{EE515D83-91DC-47FF-B045-39920529E27C}"/>
              </a:ext>
            </a:extLst>
          </p:cNvPr>
          <p:cNvSpPr>
            <a:spLocks xmlns:a="http://schemas.openxmlformats.org/drawingml/2006/main" noGrp="1"/>
          </p:cNvSpPr>
          <p:nvPr/>
        </p:nvSpPr>
        <p:spPr>
          <a:xfrm xmlns:a="http://schemas.openxmlformats.org/drawingml/2006/main">
            <a:off x="7381875" y="2238375"/>
            <a:ext cx="2000250" cy="1000125"/>
          </a:xfrm>
          <a:prstGeom xmlns:a="http://schemas.openxmlformats.org/drawingml/2006/main" prst="roundRect">
            <a:avLst>
              <a:gd name="adj" fmla="val 9524"/>
            </a:avLst>
          </a:prstGeom>
          <a:solidFill xmlns:a="http://schemas.openxmlformats.org/drawingml/2006/main">
            <a:srgbClr val="EAF6FC"/>
          </a:solidFill>
          <a:ln xmlns:a="http://schemas.openxmlformats.org/drawingml/2006/main" w="14288">
            <a:solidFill>
              <a:srgbClr val="0077B6"/>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RPP controller</a:t>
            </a:r>
          </a:p>
          <a:p xmlns:a="http://schemas.openxmlformats.org/drawingml/2006/main">
            <a:pPr algn="ctr">
              <a:lnSpc>
                <a:spcPct val="95000"/>
              </a:lnSpc>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path following</a:t>
            </a:r>
          </a:p>
        </p:txBody>
      </p:sp>
      <p:sp>
        <p:nvSpPr>
          <p:cNvPr id="9" name="">
            <a:extLst xmlns:a="http://schemas.openxmlformats.org/drawingml/2006/main">
              <a:ext uri="{FF2B5EF4-FFF2-40B4-BE49-F238E27FC236}">
                <a16:creationId xmlns:a16="http://schemas.microsoft.com/office/drawing/2014/main" id="{DC19117C-8B34-4CC5-9C52-7DD5D591495F}"/>
              </a:ext>
            </a:extLst>
          </p:cNvPr>
          <p:cNvSpPr>
            <a:spLocks xmlns:a="http://schemas.openxmlformats.org/drawingml/2006/main" noGrp="1"/>
          </p:cNvSpPr>
          <p:nvPr/>
        </p:nvSpPr>
        <p:spPr>
          <a:xfrm xmlns:a="http://schemas.openxmlformats.org/drawingml/2006/main">
            <a:off x="9667875" y="2238375"/>
            <a:ext cx="2000250" cy="1000125"/>
          </a:xfrm>
          <a:prstGeom xmlns:a="http://schemas.openxmlformats.org/drawingml/2006/main" prst="roundRect">
            <a:avLst>
              <a:gd name="adj" fmla="val 9524"/>
            </a:avLst>
          </a:prstGeom>
          <a:solidFill xmlns:a="http://schemas.openxmlformats.org/drawingml/2006/main">
            <a:srgbClr val="EAF7F0"/>
          </a:solidFill>
          <a:ln xmlns:a="http://schemas.openxmlformats.org/drawingml/2006/main" w="14288">
            <a:solidFill>
              <a:srgbClr val="18794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275" b="1">
                <a:solidFill>
                  <a:srgbClr val="18794E"/>
                </a:solidFill>
                <a:latin typeface="DejaVu Sans"/>
                <a:ea typeface="DejaVu Sans"/>
                <a:cs typeface="DejaVu Sans"/>
              </a:defRPr>
            </a:pPr>
            <a:r>
              <a:rPr sz="1275" b="1">
                <a:solidFill>
                  <a:srgbClr val="18794E"/>
                </a:solidFill>
                <a:latin typeface="DejaVu Sans"/>
                <a:ea typeface="DejaVu Sans"/>
                <a:cs typeface="DejaVu Sans"/>
              </a:rPr>
              <a:t>/amr/mpc/</a:t>
            </a:r>
          </a:p>
          <a:p xmlns:a="http://schemas.openxmlformats.org/drawingml/2006/main">
            <a:pPr algn="ctr">
              <a:lnSpc>
                <a:spcPct val="95000"/>
              </a:lnSpc>
              <a:buNone/>
              <a:defRPr sz="1275" b="1">
                <a:solidFill>
                  <a:srgbClr val="18794E"/>
                </a:solidFill>
                <a:latin typeface="DejaVu Sans"/>
                <a:ea typeface="DejaVu Sans"/>
                <a:cs typeface="DejaVu Sans"/>
              </a:defRPr>
            </a:pPr>
            <a:r>
              <a:rPr sz="1275" b="1">
                <a:solidFill>
                  <a:srgbClr val="18794E"/>
                </a:solidFill>
                <a:latin typeface="DejaVu Sans"/>
                <a:ea typeface="DejaVu Sans"/>
                <a:cs typeface="DejaVu Sans"/>
              </a:rPr>
              <a:t>cmd_vel</a:t>
            </a:r>
          </a:p>
          <a:p xmlns:a="http://schemas.openxmlformats.org/drawingml/2006/main">
            <a:pPr algn="ctr">
              <a:lnSpc>
                <a:spcPct val="95000"/>
              </a:lnSpc>
              <a:buNone/>
              <a:defRPr sz="1275" b="1">
                <a:solidFill>
                  <a:srgbClr val="18794E"/>
                </a:solidFill>
                <a:latin typeface="DejaVu Sans"/>
                <a:ea typeface="DejaVu Sans"/>
                <a:cs typeface="DejaVu Sans"/>
              </a:defRPr>
            </a:pPr>
            <a:r>
              <a:rPr sz="1275" b="1">
                <a:solidFill>
                  <a:srgbClr val="18794E"/>
                </a:solidFill>
                <a:latin typeface="DejaVu Sans"/>
                <a:ea typeface="DejaVu Sans"/>
                <a:cs typeface="DejaVu Sans"/>
              </a:rPr>
              <a:t>geometry_msgs/Twist</a:t>
            </a:r>
          </a:p>
        </p:txBody>
      </p:sp>
      <p:cxnSp>
        <p:nvCxnSpPr>
          <p:cNvPr id="37" name=""/>
          <p:cNvCxnSpPr>
            <a:stCxn xmlns:a="http://schemas.openxmlformats.org/drawingml/2006/main" id="5" idx="3"/>
            <a:endCxn xmlns:a="http://schemas.openxmlformats.org/drawingml/2006/main" id="6" idx="1"/>
          </p:cNvCxnSpPr>
          <p:nvPr/>
        </p:nvCxnSpPr>
        <p:spPr>
          <a:xfrm xmlns:a="http://schemas.openxmlformats.org/drawingml/2006/main">
            <a:off x="2524125" y="2738438"/>
            <a:ext cx="285750" cy="0"/>
          </a:xfrm>
          <a:prstGeom xmlns:a="http://schemas.openxmlformats.org/drawingml/2006/main" prst="straightConnector1">
            <a:avLst/>
          </a:prstGeom>
          <a:ln xmlns:a="http://schemas.openxmlformats.org/drawingml/2006/main" w="23813">
            <a:solidFill>
              <a:srgbClr val="0077B6"/>
            </a:solidFill>
            <a:prstDash val="solid"/>
            <a:tailEnd type="triangle" w="sm" len="sm"/>
          </a:ln>
        </p:spPr>
      </p:cxnSp>
      <p:cxnSp>
        <p:nvCxnSpPr>
          <p:cNvPr id="38" name=""/>
          <p:cNvCxnSpPr>
            <a:stCxn xmlns:a="http://schemas.openxmlformats.org/drawingml/2006/main" id="6" idx="3"/>
            <a:endCxn xmlns:a="http://schemas.openxmlformats.org/drawingml/2006/main" id="7" idx="1"/>
          </p:cNvCxnSpPr>
          <p:nvPr/>
        </p:nvCxnSpPr>
        <p:spPr>
          <a:xfrm xmlns:a="http://schemas.openxmlformats.org/drawingml/2006/main">
            <a:off x="4810125" y="2738438"/>
            <a:ext cx="285750" cy="0"/>
          </a:xfrm>
          <a:prstGeom xmlns:a="http://schemas.openxmlformats.org/drawingml/2006/main" prst="straightConnector1">
            <a:avLst/>
          </a:prstGeom>
          <a:ln xmlns:a="http://schemas.openxmlformats.org/drawingml/2006/main" w="23813">
            <a:solidFill>
              <a:srgbClr val="0077B6"/>
            </a:solidFill>
            <a:prstDash val="solid"/>
            <a:tailEnd type="triangle" w="sm" len="sm"/>
          </a:ln>
        </p:spPr>
      </p:cxnSp>
      <p:cxnSp>
        <p:nvCxnSpPr>
          <p:cNvPr id="39" name=""/>
          <p:cNvCxnSpPr>
            <a:stCxn xmlns:a="http://schemas.openxmlformats.org/drawingml/2006/main" id="7" idx="3"/>
            <a:endCxn xmlns:a="http://schemas.openxmlformats.org/drawingml/2006/main" id="8" idx="1"/>
          </p:cNvCxnSpPr>
          <p:nvPr/>
        </p:nvCxnSpPr>
        <p:spPr>
          <a:xfrm xmlns:a="http://schemas.openxmlformats.org/drawingml/2006/main">
            <a:off x="7096125" y="2738438"/>
            <a:ext cx="285750" cy="0"/>
          </a:xfrm>
          <a:prstGeom xmlns:a="http://schemas.openxmlformats.org/drawingml/2006/main" prst="straightConnector1">
            <a:avLst/>
          </a:prstGeom>
          <a:ln xmlns:a="http://schemas.openxmlformats.org/drawingml/2006/main" w="23813">
            <a:solidFill>
              <a:srgbClr val="0077B6"/>
            </a:solidFill>
            <a:prstDash val="solid"/>
            <a:tailEnd type="triangle" w="sm" len="sm"/>
          </a:ln>
        </p:spPr>
      </p:cxnSp>
      <p:cxnSp>
        <p:nvCxnSpPr>
          <p:cNvPr id="40" name=""/>
          <p:cNvCxnSpPr>
            <a:stCxn xmlns:a="http://schemas.openxmlformats.org/drawingml/2006/main" id="8" idx="3"/>
            <a:endCxn xmlns:a="http://schemas.openxmlformats.org/drawingml/2006/main" id="9" idx="1"/>
          </p:cNvCxnSpPr>
          <p:nvPr/>
        </p:nvCxnSpPr>
        <p:spPr>
          <a:xfrm xmlns:a="http://schemas.openxmlformats.org/drawingml/2006/main">
            <a:off x="9382125" y="2738438"/>
            <a:ext cx="285750" cy="0"/>
          </a:xfrm>
          <a:prstGeom xmlns:a="http://schemas.openxmlformats.org/drawingml/2006/main" prst="straightConnector1">
            <a:avLst/>
          </a:prstGeom>
          <a:ln xmlns:a="http://schemas.openxmlformats.org/drawingml/2006/main" w="23813">
            <a:solidFill>
              <a:srgbClr val="18794E"/>
            </a:solidFill>
            <a:prstDash val="solid"/>
            <a:tailEnd type="triangle" w="sm" len="sm"/>
          </a:ln>
        </p:spPr>
      </p:cxnSp>
      <p:sp>
        <p:nvSpPr>
          <p:cNvPr id="14" name="">
            <a:extLst xmlns:a="http://schemas.openxmlformats.org/drawingml/2006/main">
              <a:ext uri="{FF2B5EF4-FFF2-40B4-BE49-F238E27FC236}">
                <a16:creationId xmlns:a16="http://schemas.microsoft.com/office/drawing/2014/main" id="{F31ECB1C-A7AB-45E7-AD54-E4CBAAF93383}"/>
              </a:ext>
            </a:extLst>
          </p:cNvPr>
          <p:cNvSpPr>
            <a:spLocks xmlns:a="http://schemas.openxmlformats.org/drawingml/2006/main" noGrp="1"/>
          </p:cNvSpPr>
          <p:nvPr/>
        </p:nvSpPr>
        <p:spPr>
          <a:xfrm xmlns:a="http://schemas.openxmlformats.org/drawingml/2006/main">
            <a:off x="2667000" y="1381125"/>
            <a:ext cx="2333625" cy="552450"/>
          </a:xfrm>
          <a:prstGeom xmlns:a="http://schemas.openxmlformats.org/drawingml/2006/main" prst="roundRect">
            <a:avLst>
              <a:gd name="adj" fmla="val 17241"/>
            </a:avLst>
          </a:prstGeom>
          <a:solidFill xmlns:a="http://schemas.openxmlformats.org/drawingml/2006/main">
            <a:srgbClr val="FFFFFF"/>
          </a:solidFill>
          <a:ln xmlns:a="http://schemas.openxmlformats.org/drawingml/2006/main" w="14288">
            <a:solidFill>
              <a:srgbClr val="00A6D6"/>
            </a:solidFill>
            <a:prstDash val="solid"/>
          </a:ln>
        </p:spPr>
        <p:txBody>
          <a:bodyPr xmlns:a="http://schemas.openxmlformats.org/drawingml/2006/main" lIns="95250" tIns="76200" rIns="95250" bIns="76200" anchor="ctr">
            <a:normAutofit fontScale="92024"/>
          </a:bodyPr>
          <a:lstStyle xmlns:a="http://schemas.openxmlformats.org/drawingml/2006/main"/>
          <a:p xmlns:a="http://schemas.openxmlformats.org/drawingml/2006/main">
            <a:pPr algn="ctr">
              <a:lnSpc>
                <a:spcPct val="95000"/>
              </a:lnSpc>
              <a:buNone/>
              <a:defRPr sz="1425" b="1">
                <a:solidFill>
                  <a:srgbClr val="0077B6"/>
                </a:solidFill>
                <a:latin typeface="DejaVu Sans"/>
                <a:ea typeface="DejaVu Sans"/>
                <a:cs typeface="DejaVu Sans"/>
              </a:defRPr>
            </a:pPr>
            <a:r>
              <a:rPr sz="1425" b="1">
                <a:solidFill>
                  <a:srgbClr val="0077B6"/>
                </a:solidFill>
                <a:latin typeface="DejaVu Sans"/>
                <a:ea typeface="DejaVu Sans"/>
                <a:cs typeface="DejaVu Sans"/>
              </a:rPr>
              <a:t>Map + global costmap</a:t>
            </a:r>
          </a:p>
        </p:txBody>
      </p:sp>
      <p:sp>
        <p:nvSpPr>
          <p:cNvPr id="15" name="">
            <a:extLst xmlns:a="http://schemas.openxmlformats.org/drawingml/2006/main">
              <a:ext uri="{FF2B5EF4-FFF2-40B4-BE49-F238E27FC236}">
                <a16:creationId xmlns:a16="http://schemas.microsoft.com/office/drawing/2014/main" id="{4BD2603C-51B0-4ED4-B9F9-06A1BB161D39}"/>
              </a:ext>
            </a:extLst>
          </p:cNvPr>
          <p:cNvSpPr>
            <a:spLocks xmlns:a="http://schemas.openxmlformats.org/drawingml/2006/main" noGrp="1"/>
          </p:cNvSpPr>
          <p:nvPr/>
        </p:nvSpPr>
        <p:spPr>
          <a:xfrm xmlns:a="http://schemas.openxmlformats.org/drawingml/2006/main">
            <a:off x="7191375" y="1381125"/>
            <a:ext cx="2381250" cy="552450"/>
          </a:xfrm>
          <a:prstGeom xmlns:a="http://schemas.openxmlformats.org/drawingml/2006/main" prst="roundRect">
            <a:avLst>
              <a:gd name="adj" fmla="val 17241"/>
            </a:avLst>
          </a:prstGeom>
          <a:solidFill xmlns:a="http://schemas.openxmlformats.org/drawingml/2006/main">
            <a:srgbClr val="FFFFFF"/>
          </a:solidFill>
          <a:ln xmlns:a="http://schemas.openxmlformats.org/drawingml/2006/main" w="14288">
            <a:solidFill>
              <a:srgbClr val="00A6D6"/>
            </a:solidFill>
            <a:prstDash val="solid"/>
          </a:ln>
        </p:spPr>
        <p:txBody>
          <a:bodyPr xmlns:a="http://schemas.openxmlformats.org/drawingml/2006/main" lIns="95250" tIns="76200" rIns="95250" bIns="76200" anchor="ctr">
            <a:normAutofit fontScale="85118"/>
          </a:bodyPr>
          <a:lstStyle xmlns:a="http://schemas.openxmlformats.org/drawingml/2006/main"/>
          <a:p xmlns:a="http://schemas.openxmlformats.org/drawingml/2006/main">
            <a:pPr algn="ctr">
              <a:lnSpc>
                <a:spcPct val="95000"/>
              </a:lnSpc>
              <a:buNone/>
              <a:defRPr sz="1425" b="1">
                <a:solidFill>
                  <a:srgbClr val="0077B6"/>
                </a:solidFill>
                <a:latin typeface="DejaVu Sans"/>
                <a:ea typeface="DejaVu Sans"/>
                <a:cs typeface="DejaVu Sans"/>
              </a:defRPr>
            </a:pPr>
            <a:r>
              <a:rPr sz="1425" b="1">
                <a:solidFill>
                  <a:srgbClr val="0077B6"/>
                </a:solidFill>
                <a:latin typeface="DejaVu Sans"/>
                <a:ea typeface="DejaVu Sans"/>
                <a:cs typeface="DejaVu Sans"/>
              </a:rPr>
              <a:t>front + rear PointCloud2</a:t>
            </a:r>
          </a:p>
        </p:txBody>
      </p:sp>
      <p:cxnSp>
        <p:nvCxnSpPr>
          <p:cNvPr id="43" name=""/>
          <p:cNvCxnSpPr>
            <a:stCxn xmlns:a="http://schemas.openxmlformats.org/drawingml/2006/main" id="14" idx="2"/>
            <a:endCxn xmlns:a="http://schemas.openxmlformats.org/drawingml/2006/main" id="6" idx="0"/>
          </p:cNvCxnSpPr>
          <p:nvPr/>
        </p:nvCxnSpPr>
        <p:spPr>
          <a:xfrm xmlns:a="http://schemas.openxmlformats.org/drawingml/2006/main" flipH="1">
            <a:off x="3810000" y="1933575"/>
            <a:ext cx="23813" cy="304800"/>
          </a:xfrm>
          <a:prstGeom xmlns:a="http://schemas.openxmlformats.org/drawingml/2006/main" prst="bentConnector4">
            <a:avLst>
              <a:gd name="adj1" fmla="val 0"/>
              <a:gd name="adj2" fmla="val 50000"/>
            </a:avLst>
          </a:prstGeom>
          <a:ln xmlns:a="http://schemas.openxmlformats.org/drawingml/2006/main" w="23813">
            <a:solidFill>
              <a:srgbClr val="00A6D6"/>
            </a:solidFill>
            <a:prstDash val="solid"/>
            <a:tailEnd type="triangle" w="sm" len="sm"/>
          </a:ln>
        </p:spPr>
      </p:cxnSp>
      <p:cxnSp>
        <p:nvCxnSpPr>
          <p:cNvPr id="44" name=""/>
          <p:cNvCxnSpPr>
            <a:stCxn xmlns:a="http://schemas.openxmlformats.org/drawingml/2006/main" id="15" idx="2"/>
            <a:endCxn xmlns:a="http://schemas.openxmlformats.org/drawingml/2006/main" id="8" idx="0"/>
          </p:cNvCxnSpPr>
          <p:nvPr/>
        </p:nvCxnSpPr>
        <p:spPr>
          <a:xfrm xmlns:a="http://schemas.openxmlformats.org/drawingml/2006/main">
            <a:off x="8382000" y="1933575"/>
            <a:ext cx="0" cy="304800"/>
          </a:xfrm>
          <a:prstGeom xmlns:a="http://schemas.openxmlformats.org/drawingml/2006/main" prst="straightConnector1">
            <a:avLst/>
          </a:prstGeom>
          <a:ln xmlns:a="http://schemas.openxmlformats.org/drawingml/2006/main" w="23813">
            <a:solidFill>
              <a:srgbClr val="00A6D6"/>
            </a:solidFill>
            <a:prstDash val="solid"/>
            <a:tailEnd type="triangle" w="sm" len="sm"/>
          </a:ln>
        </p:spPr>
      </p:cxnSp>
      <p:sp>
        <p:nvSpPr>
          <p:cNvPr id="18" name="">
            <a:extLst xmlns:a="http://schemas.openxmlformats.org/drawingml/2006/main">
              <a:ext uri="{FF2B5EF4-FFF2-40B4-BE49-F238E27FC236}">
                <a16:creationId xmlns:a16="http://schemas.microsoft.com/office/drawing/2014/main" id="{773C07B0-1D89-4B12-96B4-0B9E6DF4AE10}"/>
              </a:ext>
            </a:extLst>
          </p:cNvPr>
          <p:cNvSpPr>
            <a:spLocks xmlns:a="http://schemas.openxmlformats.org/drawingml/2006/main" noGrp="1"/>
          </p:cNvSpPr>
          <p:nvPr/>
        </p:nvSpPr>
        <p:spPr>
          <a:xfrm xmlns:a="http://schemas.openxmlformats.org/drawingml/2006/main">
            <a:off x="685800" y="40957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875" b="1">
                <a:solidFill>
                  <a:srgbClr val="102A43"/>
                </a:solidFill>
                <a:latin typeface="DejaVu Sans"/>
                <a:ea typeface="DejaVu Sans"/>
                <a:cs typeface="DejaVu Sans"/>
              </a:defRPr>
            </a:pPr>
            <a:r>
              <a:rPr sz="1875" b="1">
                <a:solidFill>
                  <a:srgbClr val="102A43"/>
                </a:solidFill>
                <a:latin typeface="DejaVu Sans"/>
                <a:ea typeface="DejaVu Sans"/>
                <a:cs typeface="DejaVu Sans"/>
              </a:rPr>
              <a:t>Current controller profile</a:t>
            </a:r>
          </a:p>
        </p:txBody>
      </p:sp>
      <p:sp>
        <p:nvSpPr>
          <p:cNvPr id="19" name="">
            <a:extLst xmlns:a="http://schemas.openxmlformats.org/drawingml/2006/main">
              <a:ext uri="{FF2B5EF4-FFF2-40B4-BE49-F238E27FC236}">
                <a16:creationId xmlns:a16="http://schemas.microsoft.com/office/drawing/2014/main" id="{64E8CD0E-7D0F-48A0-A3BC-6287622D7246}"/>
              </a:ext>
            </a:extLst>
          </p:cNvPr>
          <p:cNvSpPr>
            <a:spLocks xmlns:a="http://schemas.openxmlformats.org/drawingml/2006/main" noGrp="1"/>
          </p:cNvSpPr>
          <p:nvPr/>
        </p:nvSpPr>
        <p:spPr>
          <a:xfrm xmlns:a="http://schemas.openxmlformats.org/drawingml/2006/main">
            <a:off x="685800" y="4667250"/>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2325" b="1">
                <a:solidFill>
                  <a:srgbClr val="0077B6"/>
                </a:solidFill>
                <a:latin typeface="DejaVu Sans"/>
                <a:ea typeface="DejaVu Sans"/>
                <a:cs typeface="DejaVu Sans"/>
              </a:defRPr>
            </a:pPr>
            <a:r>
              <a:rPr sz="2325" b="1">
                <a:solidFill>
                  <a:srgbClr val="0077B6"/>
                </a:solidFill>
                <a:latin typeface="DejaVu Sans"/>
                <a:ea typeface="DejaVu Sans"/>
                <a:cs typeface="DejaVu Sans"/>
              </a:rPr>
              <a:t>0.5 m/s</a:t>
            </a:r>
          </a:p>
        </p:txBody>
      </p:sp>
      <p:sp>
        <p:nvSpPr>
          <p:cNvPr id="20" name="">
            <a:extLst xmlns:a="http://schemas.openxmlformats.org/drawingml/2006/main">
              <a:ext uri="{FF2B5EF4-FFF2-40B4-BE49-F238E27FC236}">
                <a16:creationId xmlns:a16="http://schemas.microsoft.com/office/drawing/2014/main" id="{CB8C5D82-4AA7-4384-B11C-D207B7B317C6}"/>
              </a:ext>
            </a:extLst>
          </p:cNvPr>
          <p:cNvSpPr>
            <a:spLocks xmlns:a="http://schemas.openxmlformats.org/drawingml/2006/main" noGrp="1"/>
          </p:cNvSpPr>
          <p:nvPr/>
        </p:nvSpPr>
        <p:spPr>
          <a:xfrm xmlns:a="http://schemas.openxmlformats.org/drawingml/2006/main">
            <a:off x="685800" y="51435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425" b="0">
                <a:solidFill>
                  <a:srgbClr val="536575"/>
                </a:solidFill>
                <a:latin typeface="DejaVu Sans"/>
                <a:ea typeface="DejaVu Sans"/>
                <a:cs typeface="DejaVu Sans"/>
              </a:defRPr>
            </a:pPr>
            <a:r>
              <a:rPr sz="1425" b="0">
                <a:solidFill>
                  <a:srgbClr val="536575"/>
                </a:solidFill>
                <a:latin typeface="DejaVu Sans"/>
                <a:ea typeface="DejaVu Sans"/>
                <a:cs typeface="DejaVu Sans"/>
              </a:rPr>
              <a:t>desired speed</a:t>
            </a:r>
          </a:p>
        </p:txBody>
      </p:sp>
      <p:sp>
        <p:nvSpPr>
          <p:cNvPr id="21" name="">
            <a:extLst xmlns:a="http://schemas.openxmlformats.org/drawingml/2006/main">
              <a:ext uri="{FF2B5EF4-FFF2-40B4-BE49-F238E27FC236}">
                <a16:creationId xmlns:a16="http://schemas.microsoft.com/office/drawing/2014/main" id="{473E0AA1-C3EB-4AA7-A259-7C2F957539CC}"/>
              </a:ext>
            </a:extLst>
          </p:cNvPr>
          <p:cNvSpPr>
            <a:spLocks xmlns:a="http://schemas.openxmlformats.org/drawingml/2006/main" noGrp="1"/>
          </p:cNvSpPr>
          <p:nvPr/>
        </p:nvSpPr>
        <p:spPr>
          <a:xfrm xmlns:a="http://schemas.openxmlformats.org/drawingml/2006/main">
            <a:off x="3448050" y="4667250"/>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2325" b="1">
                <a:solidFill>
                  <a:srgbClr val="0077B6"/>
                </a:solidFill>
                <a:latin typeface="DejaVu Sans"/>
                <a:ea typeface="DejaVu Sans"/>
                <a:cs typeface="DejaVu Sans"/>
              </a:defRPr>
            </a:pPr>
            <a:r>
              <a:rPr sz="2325" b="1">
                <a:solidFill>
                  <a:srgbClr val="0077B6"/>
                </a:solidFill>
                <a:latin typeface="DejaVu Sans"/>
                <a:ea typeface="DejaVu Sans"/>
                <a:cs typeface="DejaVu Sans"/>
              </a:rPr>
              <a:t>0.3–0.9 m</a:t>
            </a:r>
          </a:p>
        </p:txBody>
      </p:sp>
      <p:sp>
        <p:nvSpPr>
          <p:cNvPr id="22" name="">
            <a:extLst xmlns:a="http://schemas.openxmlformats.org/drawingml/2006/main">
              <a:ext uri="{FF2B5EF4-FFF2-40B4-BE49-F238E27FC236}">
                <a16:creationId xmlns:a16="http://schemas.microsoft.com/office/drawing/2014/main" id="{00D163CF-8334-4D59-A494-8B4984885C1E}"/>
              </a:ext>
            </a:extLst>
          </p:cNvPr>
          <p:cNvSpPr>
            <a:spLocks xmlns:a="http://schemas.openxmlformats.org/drawingml/2006/main" noGrp="1"/>
          </p:cNvSpPr>
          <p:nvPr/>
        </p:nvSpPr>
        <p:spPr>
          <a:xfrm xmlns:a="http://schemas.openxmlformats.org/drawingml/2006/main">
            <a:off x="3448050" y="51435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425" b="0">
                <a:solidFill>
                  <a:srgbClr val="536575"/>
                </a:solidFill>
                <a:latin typeface="DejaVu Sans"/>
                <a:ea typeface="DejaVu Sans"/>
                <a:cs typeface="DejaVu Sans"/>
              </a:defRPr>
            </a:pPr>
            <a:r>
              <a:rPr sz="1425" b="0">
                <a:solidFill>
                  <a:srgbClr val="536575"/>
                </a:solidFill>
                <a:latin typeface="DejaVu Sans"/>
                <a:ea typeface="DejaVu Sans"/>
                <a:cs typeface="DejaVu Sans"/>
              </a:rPr>
              <a:t>lookahead range</a:t>
            </a:r>
          </a:p>
        </p:txBody>
      </p:sp>
      <p:sp>
        <p:nvSpPr>
          <p:cNvPr id="23" name="">
            <a:extLst xmlns:a="http://schemas.openxmlformats.org/drawingml/2006/main">
              <a:ext uri="{FF2B5EF4-FFF2-40B4-BE49-F238E27FC236}">
                <a16:creationId xmlns:a16="http://schemas.microsoft.com/office/drawing/2014/main" id="{E9B3372D-E437-4810-A9A4-9CA40D409245}"/>
              </a:ext>
            </a:extLst>
          </p:cNvPr>
          <p:cNvSpPr>
            <a:spLocks xmlns:a="http://schemas.openxmlformats.org/drawingml/2006/main" noGrp="1"/>
          </p:cNvSpPr>
          <p:nvPr/>
        </p:nvSpPr>
        <p:spPr>
          <a:xfrm xmlns:a="http://schemas.openxmlformats.org/drawingml/2006/main">
            <a:off x="6210300" y="4667250"/>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2325" b="1">
                <a:solidFill>
                  <a:srgbClr val="0077B6"/>
                </a:solidFill>
                <a:latin typeface="DejaVu Sans"/>
                <a:ea typeface="DejaVu Sans"/>
                <a:cs typeface="DejaVu Sans"/>
              </a:defRPr>
            </a:pPr>
            <a:r>
              <a:rPr sz="2325" b="1">
                <a:solidFill>
                  <a:srgbClr val="0077B6"/>
                </a:solidFill>
                <a:latin typeface="DejaVu Sans"/>
                <a:ea typeface="DejaVu Sans"/>
                <a:cs typeface="DejaVu Sans"/>
              </a:rPr>
              <a:t>1.5 s</a:t>
            </a:r>
          </a:p>
        </p:txBody>
      </p:sp>
      <p:sp>
        <p:nvSpPr>
          <p:cNvPr id="24" name="">
            <a:extLst xmlns:a="http://schemas.openxmlformats.org/drawingml/2006/main">
              <a:ext uri="{FF2B5EF4-FFF2-40B4-BE49-F238E27FC236}">
                <a16:creationId xmlns:a16="http://schemas.microsoft.com/office/drawing/2014/main" id="{25B1A24F-2BAA-489D-8EB6-0B41BB2E0F79}"/>
              </a:ext>
            </a:extLst>
          </p:cNvPr>
          <p:cNvSpPr>
            <a:spLocks xmlns:a="http://schemas.openxmlformats.org/drawingml/2006/main" noGrp="1"/>
          </p:cNvSpPr>
          <p:nvPr/>
        </p:nvSpPr>
        <p:spPr>
          <a:xfrm xmlns:a="http://schemas.openxmlformats.org/drawingml/2006/main">
            <a:off x="6210300" y="51435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425" b="0">
                <a:solidFill>
                  <a:srgbClr val="536575"/>
                </a:solidFill>
                <a:latin typeface="DejaVu Sans"/>
                <a:ea typeface="DejaVu Sans"/>
                <a:cs typeface="DejaVu Sans"/>
              </a:defRPr>
            </a:pPr>
            <a:r>
              <a:rPr sz="1425" b="0">
                <a:solidFill>
                  <a:srgbClr val="536575"/>
                </a:solidFill>
                <a:latin typeface="DejaVu Sans"/>
                <a:ea typeface="DejaVu Sans"/>
                <a:cs typeface="DejaVu Sans"/>
              </a:rPr>
              <a:t>lookahead time</a:t>
            </a:r>
          </a:p>
        </p:txBody>
      </p:sp>
      <p:sp>
        <p:nvSpPr>
          <p:cNvPr id="25" name="">
            <a:extLst xmlns:a="http://schemas.openxmlformats.org/drawingml/2006/main">
              <a:ext uri="{FF2B5EF4-FFF2-40B4-BE49-F238E27FC236}">
                <a16:creationId xmlns:a16="http://schemas.microsoft.com/office/drawing/2014/main" id="{DC4563EF-0139-419D-A22B-6CD0C0D69D0B}"/>
              </a:ext>
            </a:extLst>
          </p:cNvPr>
          <p:cNvSpPr>
            <a:spLocks xmlns:a="http://schemas.openxmlformats.org/drawingml/2006/main" noGrp="1"/>
          </p:cNvSpPr>
          <p:nvPr/>
        </p:nvSpPr>
        <p:spPr>
          <a:xfrm xmlns:a="http://schemas.openxmlformats.org/drawingml/2006/main">
            <a:off x="8972550" y="4667250"/>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2325" b="1">
                <a:solidFill>
                  <a:srgbClr val="0077B6"/>
                </a:solidFill>
                <a:latin typeface="DejaVu Sans"/>
                <a:ea typeface="DejaVu Sans"/>
                <a:cs typeface="DejaVu Sans"/>
              </a:defRPr>
            </a:pPr>
            <a:r>
              <a:rPr sz="2325" b="1">
                <a:solidFill>
                  <a:srgbClr val="0077B6"/>
                </a:solidFill>
                <a:latin typeface="DejaVu Sans"/>
                <a:ea typeface="DejaVu Sans"/>
                <a:cs typeface="DejaVu Sans"/>
              </a:rPr>
              <a:t>1.2 x 0.8 m</a:t>
            </a:r>
          </a:p>
        </p:txBody>
      </p:sp>
      <p:sp>
        <p:nvSpPr>
          <p:cNvPr id="26" name="">
            <a:extLst xmlns:a="http://schemas.openxmlformats.org/drawingml/2006/main">
              <a:ext uri="{FF2B5EF4-FFF2-40B4-BE49-F238E27FC236}">
                <a16:creationId xmlns:a16="http://schemas.microsoft.com/office/drawing/2014/main" id="{D34F9E30-F40F-4EA7-9DCA-9ED289DDEC75}"/>
              </a:ext>
            </a:extLst>
          </p:cNvPr>
          <p:cNvSpPr>
            <a:spLocks xmlns:a="http://schemas.openxmlformats.org/drawingml/2006/main" noGrp="1"/>
          </p:cNvSpPr>
          <p:nvPr/>
        </p:nvSpPr>
        <p:spPr>
          <a:xfrm xmlns:a="http://schemas.openxmlformats.org/drawingml/2006/main">
            <a:off x="8972550" y="51435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425" b="0">
                <a:solidFill>
                  <a:srgbClr val="536575"/>
                </a:solidFill>
                <a:latin typeface="DejaVu Sans"/>
                <a:ea typeface="DejaVu Sans"/>
                <a:cs typeface="DejaVu Sans"/>
              </a:defRPr>
            </a:pPr>
            <a:r>
              <a:rPr sz="1425" b="0">
                <a:solidFill>
                  <a:srgbClr val="536575"/>
                </a:solidFill>
                <a:latin typeface="DejaVu Sans"/>
                <a:ea typeface="DejaVu Sans"/>
                <a:cs typeface="DejaVu Sans"/>
              </a:rPr>
              <a:t>software footprint</a:t>
            </a:r>
          </a:p>
        </p:txBody>
      </p:sp>
      <p:sp>
        <p:nvSpPr>
          <p:cNvPr id="27" name="">
            <a:extLst xmlns:a="http://schemas.openxmlformats.org/drawingml/2006/main">
              <a:ext uri="{FF2B5EF4-FFF2-40B4-BE49-F238E27FC236}">
                <a16:creationId xmlns:a16="http://schemas.microsoft.com/office/drawing/2014/main" id="{53D0898C-7C2B-4672-9276-085B6AB5CA7C}"/>
              </a:ext>
            </a:extLst>
          </p:cNvPr>
          <p:cNvSpPr>
            <a:spLocks xmlns:a="http://schemas.openxmlformats.org/drawingml/2006/main" noGrp="1"/>
          </p:cNvSpPr>
          <p:nvPr/>
        </p:nvSpPr>
        <p:spPr>
          <a:xfrm xmlns:a="http://schemas.openxmlformats.org/drawingml/2006/main">
            <a:off x="685800" y="59055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00" b="0">
                <a:solidFill>
                  <a:srgbClr val="B96B12"/>
                </a:solidFill>
                <a:latin typeface="DejaVu Sans"/>
                <a:ea typeface="DejaVu Sans"/>
                <a:cs typeface="DejaVu Sans"/>
              </a:defRPr>
            </a:pPr>
            <a:r>
              <a:rPr sz="1500" b="0">
                <a:solidFill>
                  <a:srgbClr val="B96B12"/>
                </a:solidFill>
                <a:latin typeface="DejaVu Sans"/>
                <a:ea typeface="DejaVu Sans"/>
                <a:cs typeface="DejaVu Sans"/>
              </a:rPr>
              <a:t>amr_mpc_controller is compatibility naming; the active algorithm is Regulated Pure Pursuit</a:t>
            </a:r>
          </a:p>
        </p:txBody>
      </p:sp>
    </p:spTree>
    <p:extLst>
      <p:ext uri="{BB962C8B-B14F-4D97-AF65-F5344CB8AC3E}">
        <p14:creationId xmlns:p14="http://schemas.microsoft.com/office/powerpoint/2010/main" val="138928312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9CBF39C-9124-4119-B09A-5DA57FF3DB2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ED72DC7-4EB7-4BA7-8BB3-B7DFD19A09F6}"/>
              </a:ext>
            </a:extLst>
          </p:cNvPr>
          <p:cNvSpPr>
            <a:spLocks xmlns:a="http://schemas.openxmlformats.org/drawingml/2006/main" noGrp="1"/>
          </p:cNvSpPr>
          <p:nvPr/>
        </p:nvSpPr>
        <p:spPr>
          <a:xfrm xmlns:a="http://schemas.openxmlformats.org/drawingml/2006/main">
            <a:off x="609600" y="323850"/>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3150" b="1">
                <a:solidFill>
                  <a:srgbClr val="102A43"/>
                </a:solidFill>
                <a:latin typeface="DejaVu Sans"/>
                <a:ea typeface="DejaVu Sans"/>
                <a:cs typeface="DejaVu Sans"/>
              </a:defRPr>
            </a:pPr>
            <a:r>
              <a:rPr sz="3150" b="1">
                <a:solidFill>
                  <a:srgbClr val="102A43"/>
                </a:solidFill>
                <a:latin typeface="DejaVu Sans"/>
                <a:ea typeface="DejaVu Sans"/>
                <a:cs typeface="DejaVu Sans"/>
              </a:rPr>
              <a:t>MoveIt and factory orchestration</a:t>
            </a:r>
          </a:p>
        </p:txBody>
      </p:sp>
      <p:sp>
        <p:nvSpPr>
          <p:cNvPr id="3" name="">
            <a:extLst xmlns:a="http://schemas.openxmlformats.org/drawingml/2006/main">
              <a:ext uri="{FF2B5EF4-FFF2-40B4-BE49-F238E27FC236}">
                <a16:creationId xmlns:a16="http://schemas.microsoft.com/office/drawing/2014/main" id="{EA3F965C-2E27-4CE1-B252-1A3ED8C1DEA4}"/>
              </a:ext>
            </a:extLst>
          </p:cNvPr>
          <p:cNvSpPr>
            <a:spLocks xmlns:a="http://schemas.openxmlformats.org/drawingml/2006/main" noGrp="1"/>
          </p:cNvSpPr>
          <p:nvPr/>
        </p:nvSpPr>
        <p:spPr>
          <a:xfrm xmlns:a="http://schemas.openxmlformats.org/drawingml/2006/main">
            <a:off x="628650" y="87630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75" b="0">
                <a:solidFill>
                  <a:srgbClr val="536575"/>
                </a:solidFill>
                <a:latin typeface="DejaVu Sans"/>
                <a:ea typeface="DejaVu Sans"/>
                <a:cs typeface="DejaVu Sans"/>
              </a:defRPr>
            </a:pPr>
            <a:r>
              <a:rPr sz="1575" b="0">
                <a:solidFill>
                  <a:srgbClr val="536575"/>
                </a:solidFill>
                <a:latin typeface="DejaVu Sans"/>
                <a:ea typeface="DejaVu Sans"/>
                <a:cs typeface="DejaVu Sans"/>
              </a:rPr>
              <a:t>Factory actions compose navigation and manipulation into a product cycle</a:t>
            </a:r>
          </a:p>
        </p:txBody>
      </p:sp>
      <p:sp>
        <p:nvSpPr>
          <p:cNvPr id="4" name="">
            <a:extLst xmlns:a="http://schemas.openxmlformats.org/drawingml/2006/main">
              <a:ext uri="{FF2B5EF4-FFF2-40B4-BE49-F238E27FC236}">
                <a16:creationId xmlns:a16="http://schemas.microsoft.com/office/drawing/2014/main" id="{56B25730-AEFD-47BD-9863-805D03389536}"/>
              </a:ext>
            </a:extLst>
          </p:cNvPr>
          <p:cNvSpPr>
            <a:spLocks xmlns:a="http://schemas.openxmlformats.org/drawingml/2006/main" noGrp="1"/>
          </p:cNvSpPr>
          <p:nvPr/>
        </p:nvSpPr>
        <p:spPr>
          <a:xfrm xmlns:a="http://schemas.openxmlformats.org/drawingml/2006/main">
            <a:off x="11144250" y="400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r">
              <a:lnSpc>
                <a:spcPct val="100000"/>
              </a:lnSpc>
              <a:buNone/>
              <a:defRPr sz="1350" b="1">
                <a:solidFill>
                  <a:srgbClr val="0077B6"/>
                </a:solidFill>
                <a:latin typeface="DejaVu Sans"/>
                <a:ea typeface="DejaVu Sans"/>
                <a:cs typeface="DejaVu Sans"/>
              </a:defRPr>
            </a:pPr>
            <a:r>
              <a:rPr sz="1350" b="1">
                <a:solidFill>
                  <a:srgbClr val="0077B6"/>
                </a:solidFill>
                <a:latin typeface="DejaVu Sans"/>
                <a:ea typeface="DejaVu Sans"/>
                <a:cs typeface="DejaVu Sans"/>
              </a:rPr>
              <a:t>07</a:t>
            </a:r>
          </a:p>
        </p:txBody>
      </p:sp>
      <p:sp>
        <p:nvSpPr>
          <p:cNvPr id="5" name="">
            <a:extLst xmlns:a="http://schemas.openxmlformats.org/drawingml/2006/main">
              <a:ext uri="{FF2B5EF4-FFF2-40B4-BE49-F238E27FC236}">
                <a16:creationId xmlns:a16="http://schemas.microsoft.com/office/drawing/2014/main" id="{803EA1E4-3815-4B19-98B9-60DFCCA3E384}"/>
              </a:ext>
            </a:extLst>
          </p:cNvPr>
          <p:cNvSpPr>
            <a:spLocks xmlns:a="http://schemas.openxmlformats.org/drawingml/2006/main" noGrp="1"/>
          </p:cNvSpPr>
          <p:nvPr/>
        </p:nvSpPr>
        <p:spPr>
          <a:xfrm xmlns:a="http://schemas.openxmlformats.org/drawingml/2006/main">
            <a:off x="523875" y="2047875"/>
            <a:ext cx="1666875" cy="819150"/>
          </a:xfrm>
          <a:prstGeom xmlns:a="http://schemas.openxmlformats.org/drawingml/2006/main" prst="roundRect">
            <a:avLst>
              <a:gd name="adj" fmla="val 11628"/>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575" b="1">
                <a:solidFill>
                  <a:srgbClr val="102A43"/>
                </a:solidFill>
                <a:latin typeface="DejaVu Sans"/>
                <a:ea typeface="DejaVu Sans"/>
                <a:cs typeface="DejaVu Sans"/>
              </a:defRPr>
            </a:pPr>
            <a:r>
              <a:rPr sz="1575" b="1">
                <a:solidFill>
                  <a:srgbClr val="102A43"/>
                </a:solidFill>
                <a:latin typeface="DejaVu Sans"/>
                <a:ea typeface="DejaVu Sans"/>
                <a:cs typeface="DejaVu Sans"/>
              </a:rPr>
              <a:t>Operator / CLI</a:t>
            </a:r>
          </a:p>
        </p:txBody>
      </p:sp>
      <p:sp>
        <p:nvSpPr>
          <p:cNvPr id="6" name="">
            <a:extLst xmlns:a="http://schemas.openxmlformats.org/drawingml/2006/main">
              <a:ext uri="{FF2B5EF4-FFF2-40B4-BE49-F238E27FC236}">
                <a16:creationId xmlns:a16="http://schemas.microsoft.com/office/drawing/2014/main" id="{A6538F1E-EA71-484F-BF7B-7535EE682DCB}"/>
              </a:ext>
            </a:extLst>
          </p:cNvPr>
          <p:cNvSpPr>
            <a:spLocks xmlns:a="http://schemas.openxmlformats.org/drawingml/2006/main" noGrp="1"/>
          </p:cNvSpPr>
          <p:nvPr/>
        </p:nvSpPr>
        <p:spPr>
          <a:xfrm xmlns:a="http://schemas.openxmlformats.org/drawingml/2006/main">
            <a:off x="2667000" y="1905000"/>
            <a:ext cx="2143125" cy="1104900"/>
          </a:xfrm>
          <a:prstGeom xmlns:a="http://schemas.openxmlformats.org/drawingml/2006/main" prst="roundRect">
            <a:avLst>
              <a:gd name="adj" fmla="val 8621"/>
            </a:avLst>
          </a:prstGeom>
          <a:solidFill xmlns:a="http://schemas.openxmlformats.org/drawingml/2006/main">
            <a:srgbClr val="102A43"/>
          </a:solidFill>
          <a:ln xmlns:a="http://schemas.openxmlformats.org/drawingml/2006/main" w="14288">
            <a:solidFill>
              <a:srgbClr val="102A43"/>
            </a:solidFill>
            <a:prstDash val="solid"/>
          </a:ln>
        </p:spPr>
        <p:txBody>
          <a:bodyPr xmlns:a="http://schemas.openxmlformats.org/drawingml/2006/main" lIns="95250" tIns="76200" rIns="95250" bIns="76200" anchor="ctr">
            <a:normAutofit fontScale="98310"/>
          </a:bodyPr>
          <a:lstStyle xmlns:a="http://schemas.openxmlformats.org/drawingml/2006/main"/>
          <a:p xmlns:a="http://schemas.openxmlformats.org/drawingml/2006/main">
            <a:pPr algn="ctr">
              <a:lnSpc>
                <a:spcPct val="95000"/>
              </a:lnSpc>
              <a:buNone/>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Factory supervisor</a:t>
            </a:r>
          </a:p>
          <a:p xmlns:a="http://schemas.openxmlformats.org/drawingml/2006/main">
            <a:pPr algn="ctr">
              <a:lnSpc>
                <a:spcPct val="95000"/>
              </a:lnSpc>
              <a:buNone/>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registry + queue + status</a:t>
            </a:r>
          </a:p>
        </p:txBody>
      </p:sp>
      <p:sp>
        <p:nvSpPr>
          <p:cNvPr id="7" name="">
            <a:extLst xmlns:a="http://schemas.openxmlformats.org/drawingml/2006/main">
              <a:ext uri="{FF2B5EF4-FFF2-40B4-BE49-F238E27FC236}">
                <a16:creationId xmlns:a16="http://schemas.microsoft.com/office/drawing/2014/main" id="{6CD95601-DFE1-424A-A45C-838BD74A16FA}"/>
              </a:ext>
            </a:extLst>
          </p:cNvPr>
          <p:cNvSpPr>
            <a:spLocks xmlns:a="http://schemas.openxmlformats.org/drawingml/2006/main" noGrp="1"/>
          </p:cNvSpPr>
          <p:nvPr/>
        </p:nvSpPr>
        <p:spPr>
          <a:xfrm xmlns:a="http://schemas.openxmlformats.org/drawingml/2006/main">
            <a:off x="5286375" y="1905000"/>
            <a:ext cx="1905000" cy="1104900"/>
          </a:xfrm>
          <a:prstGeom xmlns:a="http://schemas.openxmlformats.org/drawingml/2006/main" prst="roundRect">
            <a:avLst>
              <a:gd name="adj" fmla="val 8621"/>
            </a:avLst>
          </a:prstGeom>
          <a:solidFill xmlns:a="http://schemas.openxmlformats.org/drawingml/2006/main">
            <a:srgbClr val="EAF6FC"/>
          </a:solidFill>
          <a:ln xmlns:a="http://schemas.openxmlformats.org/drawingml/2006/main" w="14288">
            <a:solidFill>
              <a:srgbClr val="0077B6"/>
            </a:solidFill>
            <a:prstDash val="solid"/>
          </a:ln>
        </p:spPr>
        <p:txBody>
          <a:bodyPr xmlns:a="http://schemas.openxmlformats.org/drawingml/2006/main" lIns="95250" tIns="76200" rIns="95250" bIns="76200" anchor="ctr">
            <a:normAutofit fontScale="98310"/>
          </a:bodyPr>
          <a:lstStyle xmlns:a="http://schemas.openxmlformats.org/drawingml/2006/main"/>
          <a:p xmlns:a="http://schemas.openxmlformats.org/drawingml/2006/main">
            <a:pPr algn="ctr">
              <a:lnSpc>
                <a:spcPct val="95000"/>
              </a:lnSpc>
              <a:buNone/>
              <a:defRPr sz="1575" b="1">
                <a:solidFill>
                  <a:srgbClr val="102A43"/>
                </a:solidFill>
                <a:latin typeface="DejaVu Sans"/>
                <a:ea typeface="DejaVu Sans"/>
                <a:cs typeface="DejaVu Sans"/>
              </a:defRPr>
            </a:pPr>
            <a:r>
              <a:rPr sz="1575" b="1">
                <a:solidFill>
                  <a:srgbClr val="102A43"/>
                </a:solidFill>
                <a:latin typeface="DejaVu Sans"/>
                <a:ea typeface="DejaVu Sans"/>
                <a:cs typeface="DejaVu Sans"/>
              </a:rPr>
              <a:t>Mission + Nav2</a:t>
            </a:r>
          </a:p>
          <a:p xmlns:a="http://schemas.openxmlformats.org/drawingml/2006/main">
            <a:pPr algn="ctr">
              <a:lnSpc>
                <a:spcPct val="95000"/>
              </a:lnSpc>
              <a:buNone/>
              <a:defRPr sz="1575" b="1">
                <a:solidFill>
                  <a:srgbClr val="102A43"/>
                </a:solidFill>
                <a:latin typeface="DejaVu Sans"/>
                <a:ea typeface="DejaVu Sans"/>
                <a:cs typeface="DejaVu Sans"/>
              </a:defRPr>
            </a:pPr>
            <a:r>
              <a:rPr sz="1575" b="1">
                <a:solidFill>
                  <a:srgbClr val="102A43"/>
                </a:solidFill>
                <a:latin typeface="DejaVu Sans"/>
                <a:ea typeface="DejaVu Sans"/>
                <a:cs typeface="DejaVu Sans"/>
              </a:rPr>
              <a:t>station navigation</a:t>
            </a:r>
          </a:p>
        </p:txBody>
      </p:sp>
      <p:sp>
        <p:nvSpPr>
          <p:cNvPr id="8" name="">
            <a:extLst xmlns:a="http://schemas.openxmlformats.org/drawingml/2006/main">
              <a:ext uri="{FF2B5EF4-FFF2-40B4-BE49-F238E27FC236}">
                <a16:creationId xmlns:a16="http://schemas.microsoft.com/office/drawing/2014/main" id="{DAEDF85D-ACF6-4DE7-93F8-54FA089F533A}"/>
              </a:ext>
            </a:extLst>
          </p:cNvPr>
          <p:cNvSpPr>
            <a:spLocks xmlns:a="http://schemas.openxmlformats.org/drawingml/2006/main" noGrp="1"/>
          </p:cNvSpPr>
          <p:nvPr/>
        </p:nvSpPr>
        <p:spPr>
          <a:xfrm xmlns:a="http://schemas.openxmlformats.org/drawingml/2006/main">
            <a:off x="7667625" y="1905000"/>
            <a:ext cx="2000250" cy="1104900"/>
          </a:xfrm>
          <a:prstGeom xmlns:a="http://schemas.openxmlformats.org/drawingml/2006/main" prst="roundRect">
            <a:avLst>
              <a:gd name="adj" fmla="val 8621"/>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Cycle supervisor</a:t>
            </a:r>
          </a:p>
          <a:p xmlns:a="http://schemas.openxmlformats.org/drawingml/2006/main">
            <a:pPr algn="ctr">
              <a:lnSpc>
                <a:spcPct val="95000"/>
              </a:lnSpc>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ExecuteProductCycle</a:t>
            </a:r>
          </a:p>
        </p:txBody>
      </p:sp>
      <p:sp>
        <p:nvSpPr>
          <p:cNvPr id="9" name="">
            <a:extLst xmlns:a="http://schemas.openxmlformats.org/drawingml/2006/main">
              <a:ext uri="{FF2B5EF4-FFF2-40B4-BE49-F238E27FC236}">
                <a16:creationId xmlns:a16="http://schemas.microsoft.com/office/drawing/2014/main" id="{8EDF6B57-EF34-4C61-A934-F7F375B4A544}"/>
              </a:ext>
            </a:extLst>
          </p:cNvPr>
          <p:cNvSpPr>
            <a:spLocks xmlns:a="http://schemas.openxmlformats.org/drawingml/2006/main" noGrp="1"/>
          </p:cNvSpPr>
          <p:nvPr/>
        </p:nvSpPr>
        <p:spPr>
          <a:xfrm xmlns:a="http://schemas.openxmlformats.org/drawingml/2006/main">
            <a:off x="10144125" y="1905000"/>
            <a:ext cx="1619250" cy="1104900"/>
          </a:xfrm>
          <a:prstGeom xmlns:a="http://schemas.openxmlformats.org/drawingml/2006/main" prst="roundRect">
            <a:avLst>
              <a:gd name="adj" fmla="val 8621"/>
            </a:avLst>
          </a:prstGeom>
          <a:solidFill xmlns:a="http://schemas.openxmlformats.org/drawingml/2006/main">
            <a:srgbClr val="EAF6FC"/>
          </a:solidFill>
          <a:ln xmlns:a="http://schemas.openxmlformats.org/drawingml/2006/main" w="14288">
            <a:solidFill>
              <a:srgbClr val="0077B6"/>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350" b="1">
                <a:solidFill>
                  <a:srgbClr val="102A43"/>
                </a:solidFill>
                <a:latin typeface="DejaVu Sans"/>
                <a:ea typeface="DejaVu Sans"/>
                <a:cs typeface="DejaVu Sans"/>
              </a:defRPr>
            </a:pPr>
            <a:r>
              <a:rPr sz="1350" b="1">
                <a:solidFill>
                  <a:srgbClr val="102A43"/>
                </a:solidFill>
                <a:latin typeface="DejaVu Sans"/>
                <a:ea typeface="DejaVu Sans"/>
                <a:cs typeface="DejaVu Sans"/>
              </a:rPr>
              <a:t>MoveIt move_group</a:t>
            </a:r>
          </a:p>
          <a:p xmlns:a="http://schemas.openxmlformats.org/drawingml/2006/main">
            <a:pPr algn="ctr">
              <a:lnSpc>
                <a:spcPct val="95000"/>
              </a:lnSpc>
              <a:buNone/>
              <a:defRPr sz="1350" b="1">
                <a:solidFill>
                  <a:srgbClr val="102A43"/>
                </a:solidFill>
                <a:latin typeface="DejaVu Sans"/>
                <a:ea typeface="DejaVu Sans"/>
                <a:cs typeface="DejaVu Sans"/>
              </a:defRPr>
            </a:pPr>
            <a:r>
              <a:rPr sz="1350" b="1">
                <a:solidFill>
                  <a:srgbClr val="102A43"/>
                </a:solidFill>
                <a:latin typeface="DejaVu Sans"/>
                <a:ea typeface="DejaVu Sans"/>
                <a:cs typeface="DejaVu Sans"/>
              </a:rPr>
              <a:t>arm planning + execution</a:t>
            </a:r>
          </a:p>
        </p:txBody>
      </p:sp>
      <p:cxnSp>
        <p:nvCxnSpPr>
          <p:cNvPr id="29" name=""/>
          <p:cNvCxnSpPr>
            <a:stCxn xmlns:a="http://schemas.openxmlformats.org/drawingml/2006/main" id="5" idx="3"/>
            <a:endCxn xmlns:a="http://schemas.openxmlformats.org/drawingml/2006/main" id="6" idx="1"/>
          </p:cNvCxnSpPr>
          <p:nvPr/>
        </p:nvCxnSpPr>
        <p:spPr>
          <a:xfrm xmlns:a="http://schemas.openxmlformats.org/drawingml/2006/main">
            <a:off x="2190750" y="2457450"/>
            <a:ext cx="476250" cy="0"/>
          </a:xfrm>
          <a:prstGeom xmlns:a="http://schemas.openxmlformats.org/drawingml/2006/main" prst="straightConnector1">
            <a:avLst/>
          </a:prstGeom>
          <a:ln xmlns:a="http://schemas.openxmlformats.org/drawingml/2006/main" w="23813">
            <a:solidFill>
              <a:srgbClr val="0077B6"/>
            </a:solidFill>
            <a:prstDash val="solid"/>
            <a:tailEnd type="triangle" w="sm" len="sm"/>
          </a:ln>
        </p:spPr>
      </p:cxnSp>
      <p:cxnSp>
        <p:nvCxnSpPr>
          <p:cNvPr id="30" name=""/>
          <p:cNvCxnSpPr>
            <a:stCxn xmlns:a="http://schemas.openxmlformats.org/drawingml/2006/main" id="6" idx="3"/>
            <a:endCxn xmlns:a="http://schemas.openxmlformats.org/drawingml/2006/main" id="7" idx="1"/>
          </p:cNvCxnSpPr>
          <p:nvPr/>
        </p:nvCxnSpPr>
        <p:spPr>
          <a:xfrm xmlns:a="http://schemas.openxmlformats.org/drawingml/2006/main">
            <a:off x="4810125" y="2457450"/>
            <a:ext cx="476250" cy="0"/>
          </a:xfrm>
          <a:prstGeom xmlns:a="http://schemas.openxmlformats.org/drawingml/2006/main" prst="straightConnector1">
            <a:avLst/>
          </a:prstGeom>
          <a:ln xmlns:a="http://schemas.openxmlformats.org/drawingml/2006/main" w="23813">
            <a:solidFill>
              <a:srgbClr val="0077B6"/>
            </a:solidFill>
            <a:prstDash val="solid"/>
            <a:tailEnd type="triangle" w="sm" len="sm"/>
          </a:ln>
        </p:spPr>
      </p:cxnSp>
      <p:cxnSp>
        <p:nvCxnSpPr>
          <p:cNvPr id="31" name=""/>
          <p:cNvCxnSpPr>
            <a:stCxn xmlns:a="http://schemas.openxmlformats.org/drawingml/2006/main" id="6" idx="2"/>
            <a:endCxn xmlns:a="http://schemas.openxmlformats.org/drawingml/2006/main" id="8" idx="2"/>
          </p:cNvCxnSpPr>
          <p:nvPr/>
        </p:nvCxnSpPr>
        <p:spPr>
          <a:xfrm xmlns:a="http://schemas.openxmlformats.org/drawingml/2006/main">
            <a:off x="3738563" y="3009900"/>
            <a:ext cx="4929188" cy="228600"/>
          </a:xfrm>
          <a:prstGeom xmlns:a="http://schemas.openxmlformats.org/drawingml/2006/main" prst="bentConnector4">
            <a:avLst/>
          </a:prstGeom>
          <a:ln xmlns:a="http://schemas.openxmlformats.org/drawingml/2006/main" w="23813">
            <a:solidFill>
              <a:srgbClr val="0077B6"/>
            </a:solidFill>
            <a:prstDash val="solid"/>
            <a:tailEnd type="triangle" w="sm" len="sm"/>
          </a:ln>
        </p:spPr>
      </p:cxnSp>
      <p:cxnSp>
        <p:nvCxnSpPr>
          <p:cNvPr id="32" name=""/>
          <p:cNvCxnSpPr>
            <a:stCxn xmlns:a="http://schemas.openxmlformats.org/drawingml/2006/main" id="8" idx="3"/>
            <a:endCxn xmlns:a="http://schemas.openxmlformats.org/drawingml/2006/main" id="9" idx="1"/>
          </p:cNvCxnSpPr>
          <p:nvPr/>
        </p:nvCxnSpPr>
        <p:spPr>
          <a:xfrm xmlns:a="http://schemas.openxmlformats.org/drawingml/2006/main">
            <a:off x="9667875" y="2457450"/>
            <a:ext cx="476250" cy="0"/>
          </a:xfrm>
          <a:prstGeom xmlns:a="http://schemas.openxmlformats.org/drawingml/2006/main" prst="straightConnector1">
            <a:avLst/>
          </a:prstGeom>
          <a:ln xmlns:a="http://schemas.openxmlformats.org/drawingml/2006/main" w="23813">
            <a:solidFill>
              <a:srgbClr val="0077B6"/>
            </a:solidFill>
            <a:prstDash val="solid"/>
            <a:tailEnd type="triangle" w="sm" len="sm"/>
          </a:ln>
        </p:spPr>
      </p:cxnSp>
      <p:sp>
        <p:nvSpPr>
          <p:cNvPr id="14" name="">
            <a:extLst xmlns:a="http://schemas.openxmlformats.org/drawingml/2006/main">
              <a:ext uri="{FF2B5EF4-FFF2-40B4-BE49-F238E27FC236}">
                <a16:creationId xmlns:a16="http://schemas.microsoft.com/office/drawing/2014/main" id="{E511F9FD-2C4A-4C85-AD35-E086A5CB9AD7}"/>
              </a:ext>
            </a:extLst>
          </p:cNvPr>
          <p:cNvSpPr>
            <a:spLocks xmlns:a="http://schemas.openxmlformats.org/drawingml/2006/main" noGrp="1"/>
          </p:cNvSpPr>
          <p:nvPr/>
        </p:nvSpPr>
        <p:spPr>
          <a:xfrm xmlns:a="http://schemas.openxmlformats.org/drawingml/2006/main">
            <a:off x="666750" y="3676650"/>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800" b="1">
                <a:solidFill>
                  <a:srgbClr val="102A43"/>
                </a:solidFill>
                <a:latin typeface="DejaVu Sans"/>
                <a:ea typeface="DejaVu Sans"/>
                <a:cs typeface="DejaVu Sans"/>
              </a:defRPr>
            </a:pPr>
            <a:r>
              <a:rPr sz="1800" b="1">
                <a:solidFill>
                  <a:srgbClr val="102A43"/>
                </a:solidFill>
                <a:latin typeface="DejaVu Sans"/>
                <a:ea typeface="DejaVu Sans"/>
                <a:cs typeface="DejaVu Sans"/>
              </a:rPr>
              <a:t>Public factory interfaces</a:t>
            </a:r>
          </a:p>
        </p:txBody>
      </p:sp>
      <p:sp>
        <p:nvSpPr>
          <p:cNvPr id="15" name="">
            <a:extLst xmlns:a="http://schemas.openxmlformats.org/drawingml/2006/main">
              <a:ext uri="{FF2B5EF4-FFF2-40B4-BE49-F238E27FC236}">
                <a16:creationId xmlns:a16="http://schemas.microsoft.com/office/drawing/2014/main" id="{80E37E16-7407-4272-AA66-578013E9BF2B}"/>
              </a:ext>
            </a:extLst>
          </p:cNvPr>
          <p:cNvSpPr>
            <a:spLocks xmlns:a="http://schemas.openxmlformats.org/drawingml/2006/main" noGrp="1"/>
          </p:cNvSpPr>
          <p:nvPr/>
        </p:nvSpPr>
        <p:spPr>
          <a:xfrm xmlns:a="http://schemas.openxmlformats.org/drawingml/2006/main">
            <a:off x="666750" y="40957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0000"/>
              </a:lnSpc>
              <a:buNone/>
              <a:defRPr sz="1425" b="0">
                <a:solidFill>
                  <a:srgbClr val="334E68"/>
                </a:solidFill>
                <a:latin typeface="DejaVu Sans"/>
                <a:ea typeface="DejaVu Sans"/>
                <a:cs typeface="DejaVu Sans"/>
              </a:defRPr>
            </a:pPr>
            <a:r>
              <a:rPr sz="1425" b="0">
                <a:solidFill>
                  <a:srgbClr val="334E68"/>
                </a:solidFill>
                <a:latin typeface="DejaVu Sans"/>
                <a:ea typeface="DejaVu Sans"/>
                <a:cs typeface="DejaVu Sans"/>
              </a:rPr>
              <a:t>TransportProduct  |  RunSequence  |  NavigateStation  |  SetOperationMode  |  stop / cancel</a:t>
            </a:r>
          </a:p>
        </p:txBody>
      </p:sp>
      <p:sp>
        <p:nvSpPr>
          <p:cNvPr id="16" name="">
            <a:extLst xmlns:a="http://schemas.openxmlformats.org/drawingml/2006/main">
              <a:ext uri="{FF2B5EF4-FFF2-40B4-BE49-F238E27FC236}">
                <a16:creationId xmlns:a16="http://schemas.microsoft.com/office/drawing/2014/main" id="{5E594F9C-3974-4C0B-97F2-70F61C458402}"/>
              </a:ext>
            </a:extLst>
          </p:cNvPr>
          <p:cNvSpPr>
            <a:spLocks xmlns:a="http://schemas.openxmlformats.org/drawingml/2006/main" noGrp="1"/>
          </p:cNvSpPr>
          <p:nvPr/>
        </p:nvSpPr>
        <p:spPr>
          <a:xfrm xmlns:a="http://schemas.openxmlformats.org/drawingml/2006/main">
            <a:off x="666750" y="476250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800" b="1">
                <a:solidFill>
                  <a:srgbClr val="102A43"/>
                </a:solidFill>
                <a:latin typeface="DejaVu Sans"/>
                <a:ea typeface="DejaVu Sans"/>
                <a:cs typeface="DejaVu Sans"/>
              </a:defRPr>
            </a:pPr>
            <a:r>
              <a:rPr sz="1800" b="1">
                <a:solidFill>
                  <a:srgbClr val="102A43"/>
                </a:solidFill>
                <a:latin typeface="DejaVu Sans"/>
                <a:ea typeface="DejaVu Sans"/>
                <a:cs typeface="DejaVu Sans"/>
              </a:rPr>
              <a:t>Evidence gates</a:t>
            </a:r>
          </a:p>
        </p:txBody>
      </p:sp>
      <p:sp>
        <p:nvSpPr>
          <p:cNvPr id="17" name="">
            <a:extLst xmlns:a="http://schemas.openxmlformats.org/drawingml/2006/main">
              <a:ext uri="{FF2B5EF4-FFF2-40B4-BE49-F238E27FC236}">
                <a16:creationId xmlns:a16="http://schemas.microsoft.com/office/drawing/2014/main" id="{F36A481F-A97D-4A85-950E-19A0F170401B}"/>
              </a:ext>
            </a:extLst>
          </p:cNvPr>
          <p:cNvSpPr>
            <a:spLocks xmlns:a="http://schemas.openxmlformats.org/drawingml/2006/main" noGrp="1"/>
          </p:cNvSpPr>
          <p:nvPr/>
        </p:nvSpPr>
        <p:spPr>
          <a:xfrm xmlns:a="http://schemas.openxmlformats.org/drawingml/2006/main">
            <a:off x="666750" y="51625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0000"/>
              </a:lnSpc>
              <a:buNone/>
              <a:defRPr sz="1425" b="0">
                <a:solidFill>
                  <a:srgbClr val="334E68"/>
                </a:solidFill>
                <a:latin typeface="DejaVu Sans"/>
                <a:ea typeface="DejaVu Sans"/>
                <a:cs typeface="DejaVu Sans"/>
              </a:defRPr>
            </a:pPr>
            <a:r>
              <a:rPr sz="1425" b="0">
                <a:solidFill>
                  <a:srgbClr val="334E68"/>
                </a:solidFill>
                <a:latin typeface="DejaVu Sans"/>
                <a:ea typeface="DejaVu Sans"/>
                <a:cs typeface="DejaVu Sans"/>
              </a:rPr>
              <a:t>tag identity + five stable observations + contact freshness + pose tolerance + attachment state</a:t>
            </a:r>
          </a:p>
        </p:txBody>
      </p:sp>
      <p:sp>
        <p:nvSpPr>
          <p:cNvPr id="18" name="">
            <a:extLst xmlns:a="http://schemas.openxmlformats.org/drawingml/2006/main">
              <a:ext uri="{FF2B5EF4-FFF2-40B4-BE49-F238E27FC236}">
                <a16:creationId xmlns:a16="http://schemas.microsoft.com/office/drawing/2014/main" id="{2D2310AE-C390-4781-B3F3-D6C81D710433}"/>
              </a:ext>
            </a:extLst>
          </p:cNvPr>
          <p:cNvSpPr>
            <a:spLocks xmlns:a="http://schemas.openxmlformats.org/drawingml/2006/main" noGrp="1"/>
          </p:cNvSpPr>
          <p:nvPr/>
        </p:nvSpPr>
        <p:spPr>
          <a:xfrm xmlns:a="http://schemas.openxmlformats.org/drawingml/2006/main">
            <a:off x="666750" y="5810250"/>
            <a:ext cx="3429000" cy="666750"/>
          </a:xfrm>
          <a:prstGeom xmlns:a="http://schemas.openxmlformats.org/drawingml/2006/main" prst="roundRect">
            <a:avLst>
              <a:gd name="adj" fmla="val 14286"/>
            </a:avLst>
          </a:prstGeom>
          <a:solidFill xmlns:a="http://schemas.openxmlformats.org/drawingml/2006/main">
            <a:srgbClr val="EAF7F0"/>
          </a:solidFill>
          <a:ln xmlns:a="http://schemas.openxmlformats.org/drawingml/2006/main" w="14288">
            <a:solidFill>
              <a:srgbClr val="18794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575" b="1">
                <a:solidFill>
                  <a:srgbClr val="18794E"/>
                </a:solidFill>
                <a:latin typeface="DejaVu Sans"/>
                <a:ea typeface="DejaVu Sans"/>
                <a:cs typeface="DejaVu Sans"/>
              </a:defRPr>
            </a:pPr>
            <a:r>
              <a:rPr sz="1575" b="1">
                <a:solidFill>
                  <a:srgbClr val="18794E"/>
                </a:solidFill>
                <a:latin typeface="DejaVu Sans"/>
                <a:ea typeface="DejaVu Sans"/>
                <a:cs typeface="DejaVu Sans"/>
              </a:rPr>
              <a:t>Autonomous scope</a:t>
            </a:r>
          </a:p>
          <a:p xmlns:a="http://schemas.openxmlformats.org/drawingml/2006/main">
            <a:pPr algn="ctr">
              <a:lnSpc>
                <a:spcPct val="95000"/>
              </a:lnSpc>
              <a:buNone/>
              <a:defRPr sz="1575" b="1">
                <a:solidFill>
                  <a:srgbClr val="18794E"/>
                </a:solidFill>
                <a:latin typeface="DejaVu Sans"/>
                <a:ea typeface="DejaVu Sans"/>
                <a:cs typeface="DejaVu Sans"/>
              </a:defRPr>
            </a:pPr>
            <a:r>
              <a:rPr sz="1575" b="1">
                <a:solidFill>
                  <a:srgbClr val="18794E"/>
                </a:solidFill>
                <a:latin typeface="DejaVu Sans"/>
                <a:ea typeface="DejaVu Sans"/>
                <a:cs typeface="DejaVu Sans"/>
              </a:rPr>
              <a:t>Product 101 + Product 102</a:t>
            </a:r>
          </a:p>
        </p:txBody>
      </p:sp>
      <p:sp>
        <p:nvSpPr>
          <p:cNvPr id="19" name="">
            <a:extLst xmlns:a="http://schemas.openxmlformats.org/drawingml/2006/main">
              <a:ext uri="{FF2B5EF4-FFF2-40B4-BE49-F238E27FC236}">
                <a16:creationId xmlns:a16="http://schemas.microsoft.com/office/drawing/2014/main" id="{708FD132-17AD-4383-B61B-4968DB1FC6C2}"/>
              </a:ext>
            </a:extLst>
          </p:cNvPr>
          <p:cNvSpPr>
            <a:spLocks xmlns:a="http://schemas.openxmlformats.org/drawingml/2006/main" noGrp="1"/>
          </p:cNvSpPr>
          <p:nvPr/>
        </p:nvSpPr>
        <p:spPr>
          <a:xfrm xmlns:a="http://schemas.openxmlformats.org/drawingml/2006/main">
            <a:off x="8096250" y="5810250"/>
            <a:ext cx="3476625" cy="666750"/>
          </a:xfrm>
          <a:prstGeom xmlns:a="http://schemas.openxmlformats.org/drawingml/2006/main" prst="roundRect">
            <a:avLst>
              <a:gd name="adj" fmla="val 14286"/>
            </a:avLst>
          </a:prstGeom>
          <a:solidFill xmlns:a="http://schemas.openxmlformats.org/drawingml/2006/main">
            <a:srgbClr val="FFF4E5"/>
          </a:solidFill>
          <a:ln xmlns:a="http://schemas.openxmlformats.org/drawingml/2006/main" w="14288">
            <a:solidFill>
              <a:srgbClr val="B96B1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575" b="1">
                <a:solidFill>
                  <a:srgbClr val="B96B12"/>
                </a:solidFill>
                <a:latin typeface="DejaVu Sans"/>
                <a:ea typeface="DejaVu Sans"/>
                <a:cs typeface="DejaVu Sans"/>
              </a:defRPr>
            </a:pPr>
            <a:r>
              <a:rPr sz="1575" b="1">
                <a:solidFill>
                  <a:srgbClr val="B96B12"/>
                </a:solidFill>
                <a:latin typeface="DejaVu Sans"/>
                <a:ea typeface="DejaVu Sans"/>
                <a:cs typeface="DejaVu Sans"/>
              </a:rPr>
              <a:t>Product 103 remains disabled</a:t>
            </a:r>
          </a:p>
        </p:txBody>
      </p:sp>
    </p:spTree>
    <p:extLst>
      <p:ext uri="{BB962C8B-B14F-4D97-AF65-F5344CB8AC3E}">
        <p14:creationId xmlns:p14="http://schemas.microsoft.com/office/powerpoint/2010/main" val="5155355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422513F-72AB-4562-97DB-5A10204736B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C824D39-B391-4E82-A2E6-1EFC0CB10212}"/>
              </a:ext>
            </a:extLst>
          </p:cNvPr>
          <p:cNvSpPr>
            <a:spLocks xmlns:a="http://schemas.openxmlformats.org/drawingml/2006/main" noGrp="1"/>
          </p:cNvSpPr>
          <p:nvPr/>
        </p:nvSpPr>
        <p:spPr>
          <a:xfrm xmlns:a="http://schemas.openxmlformats.org/drawingml/2006/main">
            <a:off x="609600" y="323850"/>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3150" b="1">
                <a:solidFill>
                  <a:srgbClr val="102A43"/>
                </a:solidFill>
                <a:latin typeface="DejaVu Sans"/>
                <a:ea typeface="DejaVu Sans"/>
                <a:cs typeface="DejaVu Sans"/>
              </a:defRPr>
            </a:pPr>
            <a:r>
              <a:rPr sz="3150" b="1">
                <a:solidFill>
                  <a:srgbClr val="102A43"/>
                </a:solidFill>
                <a:latin typeface="DejaVu Sans"/>
                <a:ea typeface="DejaVu Sans"/>
                <a:cs typeface="DejaVu Sans"/>
              </a:rPr>
              <a:t>Command authority and fail-closed motion</a:t>
            </a:r>
          </a:p>
        </p:txBody>
      </p:sp>
      <p:sp>
        <p:nvSpPr>
          <p:cNvPr id="3" name="">
            <a:extLst xmlns:a="http://schemas.openxmlformats.org/drawingml/2006/main">
              <a:ext uri="{FF2B5EF4-FFF2-40B4-BE49-F238E27FC236}">
                <a16:creationId xmlns:a16="http://schemas.microsoft.com/office/drawing/2014/main" id="{57504F00-8A0F-42EB-BEE8-3C0629745573}"/>
              </a:ext>
            </a:extLst>
          </p:cNvPr>
          <p:cNvSpPr>
            <a:spLocks xmlns:a="http://schemas.openxmlformats.org/drawingml/2006/main" noGrp="1"/>
          </p:cNvSpPr>
          <p:nvPr/>
        </p:nvSpPr>
        <p:spPr>
          <a:xfrm xmlns:a="http://schemas.openxmlformats.org/drawingml/2006/main">
            <a:off x="628650" y="87630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75" b="0">
                <a:solidFill>
                  <a:srgbClr val="536575"/>
                </a:solidFill>
                <a:latin typeface="DejaVu Sans"/>
                <a:ea typeface="DejaVu Sans"/>
                <a:cs typeface="DejaVu Sans"/>
              </a:defRPr>
            </a:pPr>
            <a:r>
              <a:rPr sz="1575" b="0">
                <a:solidFill>
                  <a:srgbClr val="536575"/>
                </a:solidFill>
                <a:latin typeface="DejaVu Sans"/>
                <a:ea typeface="DejaVu Sans"/>
                <a:cs typeface="DejaVu Sans"/>
              </a:rPr>
              <a:t>Every layer must prove that a velocity request remains admissible</a:t>
            </a:r>
          </a:p>
        </p:txBody>
      </p:sp>
      <p:sp>
        <p:nvSpPr>
          <p:cNvPr id="4" name="">
            <a:extLst xmlns:a="http://schemas.openxmlformats.org/drawingml/2006/main">
              <a:ext uri="{FF2B5EF4-FFF2-40B4-BE49-F238E27FC236}">
                <a16:creationId xmlns:a16="http://schemas.microsoft.com/office/drawing/2014/main" id="{0CD028D5-D685-4CEA-BAFF-32E006C6A1CF}"/>
              </a:ext>
            </a:extLst>
          </p:cNvPr>
          <p:cNvSpPr>
            <a:spLocks xmlns:a="http://schemas.openxmlformats.org/drawingml/2006/main" noGrp="1"/>
          </p:cNvSpPr>
          <p:nvPr/>
        </p:nvSpPr>
        <p:spPr>
          <a:xfrm xmlns:a="http://schemas.openxmlformats.org/drawingml/2006/main">
            <a:off x="11144250" y="400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r">
              <a:lnSpc>
                <a:spcPct val="100000"/>
              </a:lnSpc>
              <a:buNone/>
              <a:defRPr sz="1350" b="1">
                <a:solidFill>
                  <a:srgbClr val="0077B6"/>
                </a:solidFill>
                <a:latin typeface="DejaVu Sans"/>
                <a:ea typeface="DejaVu Sans"/>
                <a:cs typeface="DejaVu Sans"/>
              </a:defRPr>
            </a:pPr>
            <a:r>
              <a:rPr sz="1350" b="1">
                <a:solidFill>
                  <a:srgbClr val="0077B6"/>
                </a:solidFill>
                <a:latin typeface="DejaVu Sans"/>
                <a:ea typeface="DejaVu Sans"/>
                <a:cs typeface="DejaVu Sans"/>
              </a:rPr>
              <a:t>08</a:t>
            </a:r>
          </a:p>
        </p:txBody>
      </p:sp>
      <p:sp>
        <p:nvSpPr>
          <p:cNvPr id="5" name="">
            <a:extLst xmlns:a="http://schemas.openxmlformats.org/drawingml/2006/main">
              <a:ext uri="{FF2B5EF4-FFF2-40B4-BE49-F238E27FC236}">
                <a16:creationId xmlns:a16="http://schemas.microsoft.com/office/drawing/2014/main" id="{0806909B-B123-43A3-A901-7B80A0375391}"/>
              </a:ext>
            </a:extLst>
          </p:cNvPr>
          <p:cNvSpPr>
            <a:spLocks xmlns:a="http://schemas.openxmlformats.org/drawingml/2006/main" noGrp="1"/>
          </p:cNvSpPr>
          <p:nvPr/>
        </p:nvSpPr>
        <p:spPr>
          <a:xfrm xmlns:a="http://schemas.openxmlformats.org/drawingml/2006/main">
            <a:off x="428625" y="2238375"/>
            <a:ext cx="1476375" cy="876300"/>
          </a:xfrm>
          <a:prstGeom xmlns:a="http://schemas.openxmlformats.org/drawingml/2006/main" prst="roundRect">
            <a:avLst>
              <a:gd name="adj" fmla="val 10870"/>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Nav2 request</a:t>
            </a:r>
          </a:p>
          <a:p xmlns:a="http://schemas.openxmlformats.org/drawingml/2006/main">
            <a:pPr algn="ctr">
              <a:lnSpc>
                <a:spcPct val="95000"/>
              </a:lnSpc>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Twist</a:t>
            </a:r>
          </a:p>
        </p:txBody>
      </p:sp>
      <p:sp>
        <p:nvSpPr>
          <p:cNvPr id="6" name="">
            <a:extLst xmlns:a="http://schemas.openxmlformats.org/drawingml/2006/main">
              <a:ext uri="{FF2B5EF4-FFF2-40B4-BE49-F238E27FC236}">
                <a16:creationId xmlns:a16="http://schemas.microsoft.com/office/drawing/2014/main" id="{E85C4774-BA9F-4EFA-82D3-C1F3055AC514}"/>
              </a:ext>
            </a:extLst>
          </p:cNvPr>
          <p:cNvSpPr>
            <a:spLocks xmlns:a="http://schemas.openxmlformats.org/drawingml/2006/main" noGrp="1"/>
          </p:cNvSpPr>
          <p:nvPr/>
        </p:nvSpPr>
        <p:spPr>
          <a:xfrm xmlns:a="http://schemas.openxmlformats.org/drawingml/2006/main">
            <a:off x="2190750" y="1809750"/>
            <a:ext cx="2762250" cy="1714500"/>
          </a:xfrm>
          <a:prstGeom xmlns:a="http://schemas.openxmlformats.org/drawingml/2006/main" prst="roundRect">
            <a:avLst>
              <a:gd name="adj" fmla="val 5556"/>
            </a:avLst>
          </a:prstGeom>
          <a:solidFill xmlns:a="http://schemas.openxmlformats.org/drawingml/2006/main">
            <a:srgbClr val="102A43"/>
          </a:solidFill>
          <a:ln xmlns:a="http://schemas.openxmlformats.org/drawingml/2006/main" w="14288">
            <a:solidFill>
              <a:srgbClr val="102A43"/>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COMMAND ARBITRATION</a:t>
            </a:r>
          </a:p>
          <a:p xmlns:a="http://schemas.openxmlformats.org/drawingml/2006/main">
            <a:pPr algn="ctr">
              <a:lnSpc>
                <a:spcPct val="95000"/>
              </a:lnSpc>
              <a:buNone/>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freshness | planar validity</a:t>
            </a:r>
          </a:p>
          <a:p xmlns:a="http://schemas.openxmlformats.org/drawingml/2006/main">
            <a:pPr algn="ctr">
              <a:lnSpc>
                <a:spcPct val="95000"/>
              </a:lnSpc>
              <a:buNone/>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manipulator permission</a:t>
            </a:r>
          </a:p>
          <a:p xmlns:a="http://schemas.openxmlformats.org/drawingml/2006/main">
            <a:pPr algn="ctr">
              <a:lnSpc>
                <a:spcPct val="95000"/>
              </a:lnSpc>
              <a:buNone/>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base readiness | limits</a:t>
            </a:r>
          </a:p>
        </p:txBody>
      </p:sp>
      <p:sp>
        <p:nvSpPr>
          <p:cNvPr id="7" name="">
            <a:extLst xmlns:a="http://schemas.openxmlformats.org/drawingml/2006/main">
              <a:ext uri="{FF2B5EF4-FFF2-40B4-BE49-F238E27FC236}">
                <a16:creationId xmlns:a16="http://schemas.microsoft.com/office/drawing/2014/main" id="{ECA31DFF-C5AB-4CAF-A3ED-42CE4569925B}"/>
              </a:ext>
            </a:extLst>
          </p:cNvPr>
          <p:cNvSpPr>
            <a:spLocks xmlns:a="http://schemas.openxmlformats.org/drawingml/2006/main" noGrp="1"/>
          </p:cNvSpPr>
          <p:nvPr/>
        </p:nvSpPr>
        <p:spPr>
          <a:xfrm xmlns:a="http://schemas.openxmlformats.org/drawingml/2006/main">
            <a:off x="5238750" y="2190750"/>
            <a:ext cx="2095500" cy="971550"/>
          </a:xfrm>
          <a:prstGeom xmlns:a="http://schemas.openxmlformats.org/drawingml/2006/main" prst="roundRect">
            <a:avLst>
              <a:gd name="adj" fmla="val 9804"/>
            </a:avLst>
          </a:prstGeom>
          <a:solidFill xmlns:a="http://schemas.openxmlformats.org/drawingml/2006/main">
            <a:srgbClr val="EAF7F0"/>
          </a:solidFill>
          <a:ln xmlns:a="http://schemas.openxmlformats.org/drawingml/2006/main" w="14288">
            <a:solidFill>
              <a:srgbClr val="18794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350" b="1">
                <a:solidFill>
                  <a:srgbClr val="18794E"/>
                </a:solidFill>
                <a:latin typeface="DejaVu Sans"/>
                <a:ea typeface="DejaVu Sans"/>
                <a:cs typeface="DejaVu Sans"/>
              </a:defRPr>
            </a:pPr>
            <a:r>
              <a:rPr sz="1350" b="1">
                <a:solidFill>
                  <a:srgbClr val="18794E"/>
                </a:solidFill>
                <a:latin typeface="DejaVu Sans"/>
                <a:ea typeface="DejaVu Sans"/>
                <a:cs typeface="DejaVu Sans"/>
              </a:rPr>
              <a:t>/amr/control/</a:t>
            </a:r>
          </a:p>
          <a:p xmlns:a="http://schemas.openxmlformats.org/drawingml/2006/main">
            <a:pPr algn="ctr">
              <a:lnSpc>
                <a:spcPct val="95000"/>
              </a:lnSpc>
              <a:buNone/>
              <a:defRPr sz="1350" b="1">
                <a:solidFill>
                  <a:srgbClr val="18794E"/>
                </a:solidFill>
                <a:latin typeface="DejaVu Sans"/>
                <a:ea typeface="DejaVu Sans"/>
                <a:cs typeface="DejaVu Sans"/>
              </a:defRPr>
            </a:pPr>
            <a:r>
              <a:rPr sz="1350" b="1">
                <a:solidFill>
                  <a:srgbClr val="18794E"/>
                </a:solidFill>
                <a:latin typeface="DejaVu Sans"/>
                <a:ea typeface="DejaVu Sans"/>
                <a:cs typeface="DejaVu Sans"/>
              </a:rPr>
              <a:t>cmd_vel</a:t>
            </a:r>
          </a:p>
          <a:p xmlns:a="http://schemas.openxmlformats.org/drawingml/2006/main">
            <a:pPr algn="ctr">
              <a:lnSpc>
                <a:spcPct val="95000"/>
              </a:lnSpc>
              <a:buNone/>
              <a:defRPr sz="1350" b="1">
                <a:solidFill>
                  <a:srgbClr val="18794E"/>
                </a:solidFill>
                <a:latin typeface="DejaVu Sans"/>
                <a:ea typeface="DejaVu Sans"/>
                <a:cs typeface="DejaVu Sans"/>
              </a:defRPr>
            </a:pPr>
            <a:r>
              <a:rPr sz="1350" b="1">
                <a:solidFill>
                  <a:srgbClr val="18794E"/>
                </a:solidFill>
                <a:latin typeface="DejaVu Sans"/>
                <a:ea typeface="DejaVu Sans"/>
                <a:cs typeface="DejaVu Sans"/>
              </a:rPr>
              <a:t>TwistStamped</a:t>
            </a:r>
          </a:p>
        </p:txBody>
      </p:sp>
      <p:sp>
        <p:nvSpPr>
          <p:cNvPr id="8" name="">
            <a:extLst xmlns:a="http://schemas.openxmlformats.org/drawingml/2006/main">
              <a:ext uri="{FF2B5EF4-FFF2-40B4-BE49-F238E27FC236}">
                <a16:creationId xmlns:a16="http://schemas.microsoft.com/office/drawing/2014/main" id="{7179D865-626C-40E4-87E4-B05AF52FA5BF}"/>
              </a:ext>
            </a:extLst>
          </p:cNvPr>
          <p:cNvSpPr>
            <a:spLocks xmlns:a="http://schemas.openxmlformats.org/drawingml/2006/main" noGrp="1"/>
          </p:cNvSpPr>
          <p:nvPr/>
        </p:nvSpPr>
        <p:spPr>
          <a:xfrm xmlns:a="http://schemas.openxmlformats.org/drawingml/2006/main">
            <a:off x="7620000" y="2143125"/>
            <a:ext cx="2000250" cy="1066800"/>
          </a:xfrm>
          <a:prstGeom xmlns:a="http://schemas.openxmlformats.org/drawingml/2006/main" prst="roundRect">
            <a:avLst>
              <a:gd name="adj" fmla="val 8929"/>
            </a:avLst>
          </a:prstGeom>
          <a:solidFill xmlns:a="http://schemas.openxmlformats.org/drawingml/2006/main">
            <a:srgbClr val="EAF6FC"/>
          </a:solidFill>
          <a:ln xmlns:a="http://schemas.openxmlformats.org/drawingml/2006/main" w="14288">
            <a:solidFill>
              <a:srgbClr val="0077B6"/>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425" b="1">
                <a:solidFill>
                  <a:srgbClr val="102A43"/>
                </a:solidFill>
                <a:latin typeface="DejaVu Sans"/>
                <a:ea typeface="DejaVu Sans"/>
                <a:cs typeface="DejaVu Sans"/>
              </a:defRPr>
            </a:pPr>
            <a:r>
              <a:rPr sz="1425" b="1">
                <a:solidFill>
                  <a:srgbClr val="102A43"/>
                </a:solidFill>
                <a:latin typeface="DejaVu Sans"/>
                <a:ea typeface="DejaVu Sans"/>
                <a:cs typeface="DejaVu Sans"/>
              </a:rPr>
              <a:t>Base adapter</a:t>
            </a:r>
          </a:p>
          <a:p xmlns:a="http://schemas.openxmlformats.org/drawingml/2006/main">
            <a:pPr algn="ctr">
              <a:lnSpc>
                <a:spcPct val="95000"/>
              </a:lnSpc>
              <a:buNone/>
              <a:defRPr sz="1425" b="1">
                <a:solidFill>
                  <a:srgbClr val="102A43"/>
                </a:solidFill>
                <a:latin typeface="DejaVu Sans"/>
                <a:ea typeface="DejaVu Sans"/>
                <a:cs typeface="DejaVu Sans"/>
              </a:defRPr>
            </a:pPr>
            <a:r>
              <a:rPr sz="1425" b="1">
                <a:solidFill>
                  <a:srgbClr val="102A43"/>
                </a:solidFill>
                <a:latin typeface="DejaVu Sans"/>
                <a:ea typeface="DejaVu Sans"/>
                <a:cs typeface="DejaVu Sans"/>
              </a:rPr>
              <a:t>revalidate + zero stale</a:t>
            </a:r>
          </a:p>
        </p:txBody>
      </p:sp>
      <p:sp>
        <p:nvSpPr>
          <p:cNvPr id="9" name="">
            <a:extLst xmlns:a="http://schemas.openxmlformats.org/drawingml/2006/main">
              <a:ext uri="{FF2B5EF4-FFF2-40B4-BE49-F238E27FC236}">
                <a16:creationId xmlns:a16="http://schemas.microsoft.com/office/drawing/2014/main" id="{D8EDC3F6-4DC0-4804-821F-9F0A4B7417BE}"/>
              </a:ext>
            </a:extLst>
          </p:cNvPr>
          <p:cNvSpPr>
            <a:spLocks xmlns:a="http://schemas.openxmlformats.org/drawingml/2006/main" noGrp="1"/>
          </p:cNvSpPr>
          <p:nvPr/>
        </p:nvSpPr>
        <p:spPr>
          <a:xfrm xmlns:a="http://schemas.openxmlformats.org/drawingml/2006/main">
            <a:off x="9906000" y="2143125"/>
            <a:ext cx="1809750" cy="1066800"/>
          </a:xfrm>
          <a:prstGeom xmlns:a="http://schemas.openxmlformats.org/drawingml/2006/main" prst="roundRect">
            <a:avLst>
              <a:gd name="adj" fmla="val 8929"/>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350" b="1">
                <a:solidFill>
                  <a:srgbClr val="102A43"/>
                </a:solidFill>
                <a:latin typeface="DejaVu Sans"/>
                <a:ea typeface="DejaVu Sans"/>
                <a:cs typeface="DejaVu Sans"/>
              </a:defRPr>
            </a:pPr>
            <a:r>
              <a:rPr sz="1350" b="1">
                <a:solidFill>
                  <a:srgbClr val="102A43"/>
                </a:solidFill>
                <a:latin typeface="DejaVu Sans"/>
                <a:ea typeface="DejaVu Sans"/>
                <a:cs typeface="DejaVu Sans"/>
              </a:rPr>
              <a:t>Bridge + Gazebo</a:t>
            </a:r>
          </a:p>
          <a:p xmlns:a="http://schemas.openxmlformats.org/drawingml/2006/main">
            <a:pPr algn="ctr">
              <a:lnSpc>
                <a:spcPct val="95000"/>
              </a:lnSpc>
              <a:buNone/>
              <a:defRPr sz="1350" b="1">
                <a:solidFill>
                  <a:srgbClr val="102A43"/>
                </a:solidFill>
                <a:latin typeface="DejaVu Sans"/>
                <a:ea typeface="DejaVu Sans"/>
                <a:cs typeface="DejaVu Sans"/>
              </a:defRPr>
            </a:pPr>
            <a:r>
              <a:rPr sz="1350" b="1">
                <a:solidFill>
                  <a:srgbClr val="102A43"/>
                </a:solidFill>
                <a:latin typeface="DejaVu Sans"/>
                <a:ea typeface="DejaVu Sans"/>
                <a:cs typeface="DejaVu Sans"/>
              </a:rPr>
              <a:t>watchdog expiry</a:t>
            </a:r>
          </a:p>
        </p:txBody>
      </p:sp>
      <p:cxnSp>
        <p:nvCxnSpPr>
          <p:cNvPr id="35" name=""/>
          <p:cNvCxnSpPr>
            <a:stCxn xmlns:a="http://schemas.openxmlformats.org/drawingml/2006/main" id="5" idx="3"/>
            <a:endCxn xmlns:a="http://schemas.openxmlformats.org/drawingml/2006/main" id="6" idx="1"/>
          </p:cNvCxnSpPr>
          <p:nvPr/>
        </p:nvCxnSpPr>
        <p:spPr>
          <a:xfrm xmlns:a="http://schemas.openxmlformats.org/drawingml/2006/main" flipV="1">
            <a:off x="1905000" y="2667000"/>
            <a:ext cx="285750" cy="9525"/>
          </a:xfrm>
          <a:prstGeom xmlns:a="http://schemas.openxmlformats.org/drawingml/2006/main" prst="straightConnector1">
            <a:avLst/>
          </a:prstGeom>
          <a:ln xmlns:a="http://schemas.openxmlformats.org/drawingml/2006/main" w="23813">
            <a:solidFill>
              <a:srgbClr val="0077B6"/>
            </a:solidFill>
            <a:prstDash val="solid"/>
            <a:tailEnd type="triangle" w="sm" len="sm"/>
          </a:ln>
        </p:spPr>
      </p:cxnSp>
      <p:cxnSp>
        <p:nvCxnSpPr>
          <p:cNvPr id="36" name=""/>
          <p:cNvCxnSpPr>
            <a:stCxn xmlns:a="http://schemas.openxmlformats.org/drawingml/2006/main" id="6" idx="3"/>
            <a:endCxn xmlns:a="http://schemas.openxmlformats.org/drawingml/2006/main" id="7" idx="1"/>
          </p:cNvCxnSpPr>
          <p:nvPr/>
        </p:nvCxnSpPr>
        <p:spPr>
          <a:xfrm xmlns:a="http://schemas.openxmlformats.org/drawingml/2006/main">
            <a:off x="4953000" y="2667000"/>
            <a:ext cx="285750" cy="9525"/>
          </a:xfrm>
          <a:prstGeom xmlns:a="http://schemas.openxmlformats.org/drawingml/2006/main" prst="straightConnector1">
            <a:avLst/>
          </a:prstGeom>
          <a:ln xmlns:a="http://schemas.openxmlformats.org/drawingml/2006/main" w="23813">
            <a:solidFill>
              <a:srgbClr val="18794E"/>
            </a:solidFill>
            <a:prstDash val="solid"/>
            <a:tailEnd type="triangle" w="sm" len="sm"/>
          </a:ln>
        </p:spPr>
      </p:cxnSp>
      <p:cxnSp>
        <p:nvCxnSpPr>
          <p:cNvPr id="37" name=""/>
          <p:cNvCxnSpPr>
            <a:stCxn xmlns:a="http://schemas.openxmlformats.org/drawingml/2006/main" id="7" idx="3"/>
            <a:endCxn xmlns:a="http://schemas.openxmlformats.org/drawingml/2006/main" id="8" idx="1"/>
          </p:cNvCxnSpPr>
          <p:nvPr/>
        </p:nvCxnSpPr>
        <p:spPr>
          <a:xfrm xmlns:a="http://schemas.openxmlformats.org/drawingml/2006/main">
            <a:off x="7334250" y="2676525"/>
            <a:ext cx="285750" cy="0"/>
          </a:xfrm>
          <a:prstGeom xmlns:a="http://schemas.openxmlformats.org/drawingml/2006/main" prst="straightConnector1">
            <a:avLst/>
          </a:prstGeom>
          <a:ln xmlns:a="http://schemas.openxmlformats.org/drawingml/2006/main" w="23813">
            <a:solidFill>
              <a:srgbClr val="18794E"/>
            </a:solidFill>
            <a:prstDash val="solid"/>
            <a:tailEnd type="triangle" w="sm" len="sm"/>
          </a:ln>
        </p:spPr>
      </p:cxnSp>
      <p:cxnSp>
        <p:nvCxnSpPr>
          <p:cNvPr id="38" name=""/>
          <p:cNvCxnSpPr>
            <a:stCxn xmlns:a="http://schemas.openxmlformats.org/drawingml/2006/main" id="8" idx="3"/>
            <a:endCxn xmlns:a="http://schemas.openxmlformats.org/drawingml/2006/main" id="9" idx="1"/>
          </p:cNvCxnSpPr>
          <p:nvPr/>
        </p:nvCxnSpPr>
        <p:spPr>
          <a:xfrm xmlns:a="http://schemas.openxmlformats.org/drawingml/2006/main">
            <a:off x="9620250" y="2676525"/>
            <a:ext cx="285750" cy="0"/>
          </a:xfrm>
          <a:prstGeom xmlns:a="http://schemas.openxmlformats.org/drawingml/2006/main" prst="straightConnector1">
            <a:avLst/>
          </a:prstGeom>
          <a:ln xmlns:a="http://schemas.openxmlformats.org/drawingml/2006/main" w="23813">
            <a:solidFill>
              <a:srgbClr val="0077B6"/>
            </a:solidFill>
            <a:prstDash val="solid"/>
            <a:tailEnd type="triangle" w="sm" len="sm"/>
          </a:ln>
        </p:spPr>
      </p:cxnSp>
      <p:sp>
        <p:nvSpPr>
          <p:cNvPr id="14" name="">
            <a:extLst xmlns:a="http://schemas.openxmlformats.org/drawingml/2006/main">
              <a:ext uri="{FF2B5EF4-FFF2-40B4-BE49-F238E27FC236}">
                <a16:creationId xmlns:a16="http://schemas.microsoft.com/office/drawing/2014/main" id="{AA601436-37E3-4D82-913A-B5BD1111238B}"/>
              </a:ext>
            </a:extLst>
          </p:cNvPr>
          <p:cNvSpPr>
            <a:spLocks xmlns:a="http://schemas.openxmlformats.org/drawingml/2006/main" noGrp="1"/>
          </p:cNvSpPr>
          <p:nvPr/>
        </p:nvSpPr>
        <p:spPr>
          <a:xfrm xmlns:a="http://schemas.openxmlformats.org/drawingml/2006/main">
            <a:off x="2333625" y="37147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350" b="1">
                <a:solidFill>
                  <a:srgbClr val="0077B6"/>
                </a:solidFill>
                <a:latin typeface="DejaVu Sans"/>
                <a:ea typeface="DejaVu Sans"/>
                <a:cs typeface="DejaVu Sans"/>
              </a:defRPr>
            </a:pPr>
            <a:r>
              <a:rPr sz="1350" b="1">
                <a:solidFill>
                  <a:srgbClr val="0077B6"/>
                </a:solidFill>
                <a:latin typeface="DejaVu Sans"/>
                <a:ea typeface="DejaVu Sans"/>
                <a:cs typeface="DejaVu Sans"/>
              </a:rPr>
              <a:t>Sole project-owned velocity publisher</a:t>
            </a:r>
          </a:p>
        </p:txBody>
      </p:sp>
      <p:sp>
        <p:nvSpPr>
          <p:cNvPr id="15" name="">
            <a:extLst xmlns:a="http://schemas.openxmlformats.org/drawingml/2006/main">
              <a:ext uri="{FF2B5EF4-FFF2-40B4-BE49-F238E27FC236}">
                <a16:creationId xmlns:a16="http://schemas.microsoft.com/office/drawing/2014/main" id="{BA92CFC2-9773-416C-A9FC-71F08C9212DC}"/>
              </a:ext>
            </a:extLst>
          </p:cNvPr>
          <p:cNvSpPr>
            <a:spLocks xmlns:a="http://schemas.openxmlformats.org/drawingml/2006/main" noGrp="1"/>
          </p:cNvSpPr>
          <p:nvPr/>
        </p:nvSpPr>
        <p:spPr>
          <a:xfrm xmlns:a="http://schemas.openxmlformats.org/drawingml/2006/main">
            <a:off x="523875" y="4714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2100" b="1">
                <a:solidFill>
                  <a:srgbClr val="0077B6"/>
                </a:solidFill>
                <a:latin typeface="DejaVu Sans"/>
                <a:ea typeface="DejaVu Sans"/>
                <a:cs typeface="DejaVu Sans"/>
              </a:defRPr>
            </a:pPr>
            <a:r>
              <a:rPr sz="2100" b="1">
                <a:solidFill>
                  <a:srgbClr val="0077B6"/>
                </a:solidFill>
                <a:latin typeface="DejaVu Sans"/>
                <a:ea typeface="DejaVu Sans"/>
                <a:cs typeface="DejaVu Sans"/>
              </a:rPr>
              <a:t>20 Hz</a:t>
            </a:r>
          </a:p>
        </p:txBody>
      </p:sp>
      <p:sp>
        <p:nvSpPr>
          <p:cNvPr id="16" name="">
            <a:extLst xmlns:a="http://schemas.openxmlformats.org/drawingml/2006/main">
              <a:ext uri="{FF2B5EF4-FFF2-40B4-BE49-F238E27FC236}">
                <a16:creationId xmlns:a16="http://schemas.microsoft.com/office/drawing/2014/main" id="{B5452AE0-13FE-429C-88D2-393BDB7C9D41}"/>
              </a:ext>
            </a:extLst>
          </p:cNvPr>
          <p:cNvSpPr>
            <a:spLocks xmlns:a="http://schemas.openxmlformats.org/drawingml/2006/main" noGrp="1"/>
          </p:cNvSpPr>
          <p:nvPr/>
        </p:nvSpPr>
        <p:spPr>
          <a:xfrm xmlns:a="http://schemas.openxmlformats.org/drawingml/2006/main">
            <a:off x="523875" y="5191125"/>
            <a:ext cx="2047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ctr">
              <a:lnSpc>
                <a:spcPct val="100000"/>
              </a:lnSpc>
              <a:buNone/>
              <a:defRPr sz="1275" b="0">
                <a:solidFill>
                  <a:srgbClr val="536575"/>
                </a:solidFill>
                <a:latin typeface="DejaVu Sans"/>
                <a:ea typeface="DejaVu Sans"/>
                <a:cs typeface="DejaVu Sans"/>
              </a:defRPr>
            </a:pPr>
            <a:r>
              <a:rPr sz="1275" b="0">
                <a:solidFill>
                  <a:srgbClr val="536575"/>
                </a:solidFill>
                <a:latin typeface="DejaVu Sans"/>
                <a:ea typeface="DejaVu Sans"/>
                <a:cs typeface="DejaVu Sans"/>
              </a:rPr>
              <a:t>arbitration output</a:t>
            </a:r>
          </a:p>
        </p:txBody>
      </p:sp>
      <p:sp>
        <p:nvSpPr>
          <p:cNvPr id="17" name="">
            <a:extLst xmlns:a="http://schemas.openxmlformats.org/drawingml/2006/main">
              <a:ext uri="{FF2B5EF4-FFF2-40B4-BE49-F238E27FC236}">
                <a16:creationId xmlns:a16="http://schemas.microsoft.com/office/drawing/2014/main" id="{07571BBF-96F7-48D0-B42D-46C13A2AD9AC}"/>
              </a:ext>
            </a:extLst>
          </p:cNvPr>
          <p:cNvSpPr>
            <a:spLocks xmlns:a="http://schemas.openxmlformats.org/drawingml/2006/main" noGrp="1"/>
          </p:cNvSpPr>
          <p:nvPr/>
        </p:nvSpPr>
        <p:spPr>
          <a:xfrm xmlns:a="http://schemas.openxmlformats.org/drawingml/2006/main">
            <a:off x="2809875" y="4714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2100" b="1">
                <a:solidFill>
                  <a:srgbClr val="0077B6"/>
                </a:solidFill>
                <a:latin typeface="DejaVu Sans"/>
                <a:ea typeface="DejaVu Sans"/>
                <a:cs typeface="DejaVu Sans"/>
              </a:defRPr>
            </a:pPr>
            <a:r>
              <a:rPr sz="2100" b="1">
                <a:solidFill>
                  <a:srgbClr val="0077B6"/>
                </a:solidFill>
                <a:latin typeface="DejaVu Sans"/>
                <a:ea typeface="DejaVu Sans"/>
                <a:cs typeface="DejaVu Sans"/>
              </a:rPr>
              <a:t>200 ms</a:t>
            </a:r>
          </a:p>
        </p:txBody>
      </p:sp>
      <p:sp>
        <p:nvSpPr>
          <p:cNvPr id="18" name="">
            <a:extLst xmlns:a="http://schemas.openxmlformats.org/drawingml/2006/main">
              <a:ext uri="{FF2B5EF4-FFF2-40B4-BE49-F238E27FC236}">
                <a16:creationId xmlns:a16="http://schemas.microsoft.com/office/drawing/2014/main" id="{77B3159B-A33D-4946-9FF4-29262C2B5DCC}"/>
              </a:ext>
            </a:extLst>
          </p:cNvPr>
          <p:cNvSpPr>
            <a:spLocks xmlns:a="http://schemas.openxmlformats.org/drawingml/2006/main" noGrp="1"/>
          </p:cNvSpPr>
          <p:nvPr/>
        </p:nvSpPr>
        <p:spPr>
          <a:xfrm xmlns:a="http://schemas.openxmlformats.org/drawingml/2006/main">
            <a:off x="2809875" y="5191125"/>
            <a:ext cx="2047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83333"/>
          </a:bodyPr>
          <a:lstStyle xmlns:a="http://schemas.openxmlformats.org/drawingml/2006/main"/>
          <a:p xmlns:a="http://schemas.openxmlformats.org/drawingml/2006/main">
            <a:pPr algn="ctr">
              <a:lnSpc>
                <a:spcPct val="100000"/>
              </a:lnSpc>
              <a:buNone/>
              <a:defRPr sz="1275" b="0">
                <a:solidFill>
                  <a:srgbClr val="536575"/>
                </a:solidFill>
                <a:latin typeface="DejaVu Sans"/>
                <a:ea typeface="DejaVu Sans"/>
                <a:cs typeface="DejaVu Sans"/>
              </a:defRPr>
            </a:pPr>
            <a:r>
              <a:rPr sz="1275" b="0">
                <a:solidFill>
                  <a:srgbClr val="536575"/>
                </a:solidFill>
                <a:latin typeface="DejaVu Sans"/>
                <a:ea typeface="DejaVu Sans"/>
                <a:cs typeface="DejaVu Sans"/>
              </a:rPr>
              <a:t>command timeout + lifespan</a:t>
            </a:r>
          </a:p>
        </p:txBody>
      </p:sp>
      <p:sp>
        <p:nvSpPr>
          <p:cNvPr id="19" name="">
            <a:extLst xmlns:a="http://schemas.openxmlformats.org/drawingml/2006/main">
              <a:ext uri="{FF2B5EF4-FFF2-40B4-BE49-F238E27FC236}">
                <a16:creationId xmlns:a16="http://schemas.microsoft.com/office/drawing/2014/main" id="{23972C64-BEB7-444C-BC8C-B7F12A5BD7C0}"/>
              </a:ext>
            </a:extLst>
          </p:cNvPr>
          <p:cNvSpPr>
            <a:spLocks xmlns:a="http://schemas.openxmlformats.org/drawingml/2006/main" noGrp="1"/>
          </p:cNvSpPr>
          <p:nvPr/>
        </p:nvSpPr>
        <p:spPr>
          <a:xfrm xmlns:a="http://schemas.openxmlformats.org/drawingml/2006/main">
            <a:off x="5095875" y="4714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2100" b="1">
                <a:solidFill>
                  <a:srgbClr val="0077B6"/>
                </a:solidFill>
                <a:latin typeface="DejaVu Sans"/>
                <a:ea typeface="DejaVu Sans"/>
                <a:cs typeface="DejaVu Sans"/>
              </a:defRPr>
            </a:pPr>
            <a:r>
              <a:rPr sz="2100" b="1">
                <a:solidFill>
                  <a:srgbClr val="0077B6"/>
                </a:solidFill>
                <a:latin typeface="DejaVu Sans"/>
                <a:ea typeface="DejaVu Sans"/>
                <a:cs typeface="DejaVu Sans"/>
              </a:rPr>
              <a:t>0.5 m/s</a:t>
            </a:r>
          </a:p>
        </p:txBody>
      </p:sp>
      <p:sp>
        <p:nvSpPr>
          <p:cNvPr id="20" name="">
            <a:extLst xmlns:a="http://schemas.openxmlformats.org/drawingml/2006/main">
              <a:ext uri="{FF2B5EF4-FFF2-40B4-BE49-F238E27FC236}">
                <a16:creationId xmlns:a16="http://schemas.microsoft.com/office/drawing/2014/main" id="{3F1E1999-B3FF-462B-8660-A3A5E621D858}"/>
              </a:ext>
            </a:extLst>
          </p:cNvPr>
          <p:cNvSpPr>
            <a:spLocks xmlns:a="http://schemas.openxmlformats.org/drawingml/2006/main" noGrp="1"/>
          </p:cNvSpPr>
          <p:nvPr/>
        </p:nvSpPr>
        <p:spPr>
          <a:xfrm xmlns:a="http://schemas.openxmlformats.org/drawingml/2006/main">
            <a:off x="5095875" y="5191125"/>
            <a:ext cx="2047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ctr">
              <a:lnSpc>
                <a:spcPct val="100000"/>
              </a:lnSpc>
              <a:buNone/>
              <a:defRPr sz="1275" b="0">
                <a:solidFill>
                  <a:srgbClr val="536575"/>
                </a:solidFill>
                <a:latin typeface="DejaVu Sans"/>
                <a:ea typeface="DejaVu Sans"/>
                <a:cs typeface="DejaVu Sans"/>
              </a:defRPr>
            </a:pPr>
            <a:r>
              <a:rPr sz="1275" b="0">
                <a:solidFill>
                  <a:srgbClr val="536575"/>
                </a:solidFill>
                <a:latin typeface="DejaVu Sans"/>
                <a:ea typeface="DejaVu Sans"/>
                <a:cs typeface="DejaVu Sans"/>
              </a:rPr>
              <a:t>linear limit</a:t>
            </a:r>
          </a:p>
        </p:txBody>
      </p:sp>
      <p:sp>
        <p:nvSpPr>
          <p:cNvPr id="21" name="">
            <a:extLst xmlns:a="http://schemas.openxmlformats.org/drawingml/2006/main">
              <a:ext uri="{FF2B5EF4-FFF2-40B4-BE49-F238E27FC236}">
                <a16:creationId xmlns:a16="http://schemas.microsoft.com/office/drawing/2014/main" id="{C4A80BF2-B717-4695-99C6-8126B9450419}"/>
              </a:ext>
            </a:extLst>
          </p:cNvPr>
          <p:cNvSpPr>
            <a:spLocks xmlns:a="http://schemas.openxmlformats.org/drawingml/2006/main" noGrp="1"/>
          </p:cNvSpPr>
          <p:nvPr/>
        </p:nvSpPr>
        <p:spPr>
          <a:xfrm xmlns:a="http://schemas.openxmlformats.org/drawingml/2006/main">
            <a:off x="7381875" y="4714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2100" b="1">
                <a:solidFill>
                  <a:srgbClr val="0077B6"/>
                </a:solidFill>
                <a:latin typeface="DejaVu Sans"/>
                <a:ea typeface="DejaVu Sans"/>
                <a:cs typeface="DejaVu Sans"/>
              </a:defRPr>
            </a:pPr>
            <a:r>
              <a:rPr sz="2100" b="1">
                <a:solidFill>
                  <a:srgbClr val="0077B6"/>
                </a:solidFill>
                <a:latin typeface="DejaVu Sans"/>
                <a:ea typeface="DejaVu Sans"/>
                <a:cs typeface="DejaVu Sans"/>
              </a:rPr>
              <a:t>0.4 rad/s</a:t>
            </a:r>
          </a:p>
        </p:txBody>
      </p:sp>
      <p:sp>
        <p:nvSpPr>
          <p:cNvPr id="22" name="">
            <a:extLst xmlns:a="http://schemas.openxmlformats.org/drawingml/2006/main">
              <a:ext uri="{FF2B5EF4-FFF2-40B4-BE49-F238E27FC236}">
                <a16:creationId xmlns:a16="http://schemas.microsoft.com/office/drawing/2014/main" id="{2B7FEEC4-C8B4-462C-92B1-4FA8593DF6DE}"/>
              </a:ext>
            </a:extLst>
          </p:cNvPr>
          <p:cNvSpPr>
            <a:spLocks xmlns:a="http://schemas.openxmlformats.org/drawingml/2006/main" noGrp="1"/>
          </p:cNvSpPr>
          <p:nvPr/>
        </p:nvSpPr>
        <p:spPr>
          <a:xfrm xmlns:a="http://schemas.openxmlformats.org/drawingml/2006/main">
            <a:off x="7381875" y="5191125"/>
            <a:ext cx="2047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ctr">
              <a:lnSpc>
                <a:spcPct val="100000"/>
              </a:lnSpc>
              <a:buNone/>
              <a:defRPr sz="1275" b="0">
                <a:solidFill>
                  <a:srgbClr val="536575"/>
                </a:solidFill>
                <a:latin typeface="DejaVu Sans"/>
                <a:ea typeface="DejaVu Sans"/>
                <a:cs typeface="DejaVu Sans"/>
              </a:defRPr>
            </a:pPr>
            <a:r>
              <a:rPr sz="1275" b="0">
                <a:solidFill>
                  <a:srgbClr val="536575"/>
                </a:solidFill>
                <a:latin typeface="DejaVu Sans"/>
                <a:ea typeface="DejaVu Sans"/>
                <a:cs typeface="DejaVu Sans"/>
              </a:rPr>
              <a:t>angular limit</a:t>
            </a:r>
          </a:p>
        </p:txBody>
      </p:sp>
      <p:sp>
        <p:nvSpPr>
          <p:cNvPr id="23" name="">
            <a:extLst xmlns:a="http://schemas.openxmlformats.org/drawingml/2006/main">
              <a:ext uri="{FF2B5EF4-FFF2-40B4-BE49-F238E27FC236}">
                <a16:creationId xmlns:a16="http://schemas.microsoft.com/office/drawing/2014/main" id="{08ABCEFB-3BF4-4DA4-97B8-9F2D0EC25219}"/>
              </a:ext>
            </a:extLst>
          </p:cNvPr>
          <p:cNvSpPr>
            <a:spLocks xmlns:a="http://schemas.openxmlformats.org/drawingml/2006/main" noGrp="1"/>
          </p:cNvSpPr>
          <p:nvPr/>
        </p:nvSpPr>
        <p:spPr>
          <a:xfrm xmlns:a="http://schemas.openxmlformats.org/drawingml/2006/main">
            <a:off x="9667875" y="47148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2100" b="1">
                <a:solidFill>
                  <a:srgbClr val="0077B6"/>
                </a:solidFill>
                <a:latin typeface="DejaVu Sans"/>
                <a:ea typeface="DejaVu Sans"/>
                <a:cs typeface="DejaVu Sans"/>
              </a:defRPr>
            </a:pPr>
            <a:r>
              <a:rPr sz="2100" b="1">
                <a:solidFill>
                  <a:srgbClr val="0077B6"/>
                </a:solidFill>
                <a:latin typeface="DejaVu Sans"/>
                <a:ea typeface="DejaVu Sans"/>
                <a:cs typeface="DejaVu Sans"/>
              </a:rPr>
              <a:t>0.025 m/s</a:t>
            </a:r>
          </a:p>
        </p:txBody>
      </p:sp>
      <p:sp>
        <p:nvSpPr>
          <p:cNvPr id="24" name="">
            <a:extLst xmlns:a="http://schemas.openxmlformats.org/drawingml/2006/main">
              <a:ext uri="{FF2B5EF4-FFF2-40B4-BE49-F238E27FC236}">
                <a16:creationId xmlns:a16="http://schemas.microsoft.com/office/drawing/2014/main" id="{7BE41F00-E882-48F8-8D3F-304C2231CFE8}"/>
              </a:ext>
            </a:extLst>
          </p:cNvPr>
          <p:cNvSpPr>
            <a:spLocks xmlns:a="http://schemas.openxmlformats.org/drawingml/2006/main" noGrp="1"/>
          </p:cNvSpPr>
          <p:nvPr/>
        </p:nvSpPr>
        <p:spPr>
          <a:xfrm xmlns:a="http://schemas.openxmlformats.org/drawingml/2006/main">
            <a:off x="9667875" y="5191125"/>
            <a:ext cx="2047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ctr">
              <a:lnSpc>
                <a:spcPct val="100000"/>
              </a:lnSpc>
              <a:buNone/>
              <a:defRPr sz="1275" b="0">
                <a:solidFill>
                  <a:srgbClr val="536575"/>
                </a:solidFill>
                <a:latin typeface="DejaVu Sans"/>
                <a:ea typeface="DejaVu Sans"/>
                <a:cs typeface="DejaVu Sans"/>
              </a:defRPr>
            </a:pPr>
            <a:r>
              <a:rPr sz="1275" b="0">
                <a:solidFill>
                  <a:srgbClr val="536575"/>
                </a:solidFill>
                <a:latin typeface="DejaVu Sans"/>
                <a:ea typeface="DejaVu Sans"/>
                <a:cs typeface="DejaVu Sans"/>
              </a:rPr>
              <a:t>nominal change per tick</a:t>
            </a:r>
          </a:p>
        </p:txBody>
      </p:sp>
      <p:sp>
        <p:nvSpPr>
          <p:cNvPr id="25" name="">
            <a:extLst xmlns:a="http://schemas.openxmlformats.org/drawingml/2006/main">
              <a:ext uri="{FF2B5EF4-FFF2-40B4-BE49-F238E27FC236}">
                <a16:creationId xmlns:a16="http://schemas.microsoft.com/office/drawing/2014/main" id="{B37028C3-E07C-4997-B610-9E1CC5F53EB2}"/>
              </a:ext>
            </a:extLst>
          </p:cNvPr>
          <p:cNvSpPr>
            <a:spLocks xmlns:a="http://schemas.openxmlformats.org/drawingml/2006/main" noGrp="1"/>
          </p:cNvSpPr>
          <p:nvPr/>
        </p:nvSpPr>
        <p:spPr>
          <a:xfrm xmlns:a="http://schemas.openxmlformats.org/drawingml/2006/main">
            <a:off x="1190625" y="5905500"/>
            <a:ext cx="9810750" cy="552450"/>
          </a:xfrm>
          <a:prstGeom xmlns:a="http://schemas.openxmlformats.org/drawingml/2006/main" prst="roundRect">
            <a:avLst>
              <a:gd name="adj" fmla="val 17241"/>
            </a:avLst>
          </a:prstGeom>
          <a:solidFill xmlns:a="http://schemas.openxmlformats.org/drawingml/2006/main">
            <a:srgbClr val="FFF4E5"/>
          </a:solidFill>
          <a:ln xmlns:a="http://schemas.openxmlformats.org/drawingml/2006/main" w="14288">
            <a:solidFill>
              <a:srgbClr val="B96B1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650" b="1">
                <a:solidFill>
                  <a:srgbClr val="B96B12"/>
                </a:solidFill>
                <a:latin typeface="DejaVu Sans"/>
                <a:ea typeface="DejaVu Sans"/>
                <a:cs typeface="DejaVu Sans"/>
              </a:defRPr>
            </a:pPr>
            <a:r>
              <a:rPr sz="1650" b="1">
                <a:solidFill>
                  <a:srgbClr val="B96B12"/>
                </a:solidFill>
                <a:latin typeface="DejaVu Sans"/>
                <a:ea typeface="DejaVu Sans"/>
                <a:cs typeface="DejaVu Sans"/>
              </a:rPr>
              <a:t>Missing, stale, invalid or contradictory evidence stops or rejects motion</a:t>
            </a:r>
          </a:p>
        </p:txBody>
      </p:sp>
    </p:spTree>
    <p:extLst>
      <p:ext uri="{BB962C8B-B14F-4D97-AF65-F5344CB8AC3E}">
        <p14:creationId xmlns:p14="http://schemas.microsoft.com/office/powerpoint/2010/main" val="4551494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655DA4B-0200-4562-931D-3823830942F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27E505-A7AC-4A25-BEFE-7702A3C2ACA8}"/>
              </a:ext>
            </a:extLst>
          </p:cNvPr>
          <p:cNvSpPr>
            <a:spLocks xmlns:a="http://schemas.openxmlformats.org/drawingml/2006/main" noGrp="1"/>
          </p:cNvSpPr>
          <p:nvPr/>
        </p:nvSpPr>
        <p:spPr>
          <a:xfrm xmlns:a="http://schemas.openxmlformats.org/drawingml/2006/main">
            <a:off x="609600" y="323850"/>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3150" b="1">
                <a:solidFill>
                  <a:srgbClr val="102A43"/>
                </a:solidFill>
                <a:latin typeface="DejaVu Sans"/>
                <a:ea typeface="DejaVu Sans"/>
                <a:cs typeface="DejaVu Sans"/>
              </a:defRPr>
            </a:pPr>
            <a:r>
              <a:rPr sz="3150" b="1">
                <a:solidFill>
                  <a:srgbClr val="102A43"/>
                </a:solidFill>
                <a:latin typeface="DejaVu Sans"/>
                <a:ea typeface="DejaVu Sans"/>
                <a:cs typeface="DejaVu Sans"/>
              </a:rPr>
              <a:t>Theory and project calculations</a:t>
            </a:r>
          </a:p>
        </p:txBody>
      </p:sp>
      <p:sp>
        <p:nvSpPr>
          <p:cNvPr id="3" name="">
            <a:extLst xmlns:a="http://schemas.openxmlformats.org/drawingml/2006/main">
              <a:ext uri="{FF2B5EF4-FFF2-40B4-BE49-F238E27FC236}">
                <a16:creationId xmlns:a16="http://schemas.microsoft.com/office/drawing/2014/main" id="{E3124453-4680-4AB5-83CB-6EEA343BAEA5}"/>
              </a:ext>
            </a:extLst>
          </p:cNvPr>
          <p:cNvSpPr>
            <a:spLocks xmlns:a="http://schemas.openxmlformats.org/drawingml/2006/main" noGrp="1"/>
          </p:cNvSpPr>
          <p:nvPr/>
        </p:nvSpPr>
        <p:spPr>
          <a:xfrm xmlns:a="http://schemas.openxmlformats.org/drawingml/2006/main">
            <a:off x="628650" y="87630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75" b="0">
                <a:solidFill>
                  <a:srgbClr val="536575"/>
                </a:solidFill>
                <a:latin typeface="DejaVu Sans"/>
                <a:ea typeface="DejaVu Sans"/>
                <a:cs typeface="DejaVu Sans"/>
              </a:defRPr>
            </a:pPr>
            <a:r>
              <a:rPr sz="1575" b="0">
                <a:solidFill>
                  <a:srgbClr val="536575"/>
                </a:solidFill>
                <a:latin typeface="DejaVu Sans"/>
                <a:ea typeface="DejaVu Sans"/>
                <a:cs typeface="DejaVu Sans"/>
              </a:rPr>
              <a:t>Current software parameters explain odometry, timing and navigation geometry</a:t>
            </a:r>
          </a:p>
        </p:txBody>
      </p:sp>
      <p:sp>
        <p:nvSpPr>
          <p:cNvPr id="4" name="">
            <a:extLst xmlns:a="http://schemas.openxmlformats.org/drawingml/2006/main">
              <a:ext uri="{FF2B5EF4-FFF2-40B4-BE49-F238E27FC236}">
                <a16:creationId xmlns:a16="http://schemas.microsoft.com/office/drawing/2014/main" id="{C133FA84-04BE-4656-B2E4-441DEA598EE0}"/>
              </a:ext>
            </a:extLst>
          </p:cNvPr>
          <p:cNvSpPr>
            <a:spLocks xmlns:a="http://schemas.openxmlformats.org/drawingml/2006/main" noGrp="1"/>
          </p:cNvSpPr>
          <p:nvPr/>
        </p:nvSpPr>
        <p:spPr>
          <a:xfrm xmlns:a="http://schemas.openxmlformats.org/drawingml/2006/main">
            <a:off x="11144250" y="400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r">
              <a:lnSpc>
                <a:spcPct val="100000"/>
              </a:lnSpc>
              <a:buNone/>
              <a:defRPr sz="1350" b="1">
                <a:solidFill>
                  <a:srgbClr val="0077B6"/>
                </a:solidFill>
                <a:latin typeface="DejaVu Sans"/>
                <a:ea typeface="DejaVu Sans"/>
                <a:cs typeface="DejaVu Sans"/>
              </a:defRPr>
            </a:pPr>
            <a:r>
              <a:rPr sz="1350" b="1">
                <a:solidFill>
                  <a:srgbClr val="0077B6"/>
                </a:solidFill>
                <a:latin typeface="DejaVu Sans"/>
                <a:ea typeface="DejaVu Sans"/>
                <a:cs typeface="DejaVu Sans"/>
              </a:rPr>
              <a:t>09</a:t>
            </a:r>
          </a:p>
        </p:txBody>
      </p:sp>
      <p:sp>
        <p:nvSpPr>
          <p:cNvPr id="5" name="">
            <a:extLst xmlns:a="http://schemas.openxmlformats.org/drawingml/2006/main">
              <a:ext uri="{FF2B5EF4-FFF2-40B4-BE49-F238E27FC236}">
                <a16:creationId xmlns:a16="http://schemas.microsoft.com/office/drawing/2014/main" id="{C7C3943E-3014-4FAF-9DE0-4F837339F75F}"/>
              </a:ext>
            </a:extLst>
          </p:cNvPr>
          <p:cNvSpPr>
            <a:spLocks xmlns:a="http://schemas.openxmlformats.org/drawingml/2006/main" noGrp="1"/>
          </p:cNvSpPr>
          <p:nvPr/>
        </p:nvSpPr>
        <p:spPr>
          <a:xfrm xmlns:a="http://schemas.openxmlformats.org/drawingml/2006/main">
            <a:off x="666750" y="1381125"/>
            <a:ext cx="5048250" cy="552450"/>
          </a:xfrm>
          <a:prstGeom xmlns:a="http://schemas.openxmlformats.org/drawingml/2006/main" prst="roundRect">
            <a:avLst>
              <a:gd name="adj" fmla="val 17241"/>
            </a:avLst>
          </a:prstGeom>
          <a:solidFill xmlns:a="http://schemas.openxmlformats.org/drawingml/2006/main">
            <a:srgbClr val="102A43"/>
          </a:solidFill>
          <a:ln xmlns:a="http://schemas.openxmlformats.org/drawingml/2006/main" w="14288">
            <a:solidFill>
              <a:srgbClr val="102A43"/>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DIFFERENTIAL DRIVE</a:t>
            </a:r>
          </a:p>
        </p:txBody>
      </p:sp>
      <p:sp>
        <p:nvSpPr>
          <p:cNvPr id="6" name="">
            <a:extLst xmlns:a="http://schemas.openxmlformats.org/drawingml/2006/main">
              <a:ext uri="{FF2B5EF4-FFF2-40B4-BE49-F238E27FC236}">
                <a16:creationId xmlns:a16="http://schemas.microsoft.com/office/drawing/2014/main" id="{EA9041B3-B853-4CE9-8484-0D70C2112024}"/>
              </a:ext>
            </a:extLst>
          </p:cNvPr>
          <p:cNvSpPr>
            <a:spLocks xmlns:a="http://schemas.openxmlformats.org/drawingml/2006/main" noGrp="1"/>
          </p:cNvSpPr>
          <p:nvPr/>
        </p:nvSpPr>
        <p:spPr>
          <a:xfrm xmlns:a="http://schemas.openxmlformats.org/drawingml/2006/main">
            <a:off x="876300" y="2238375"/>
            <a:ext cx="4667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lnSpc>
                <a:spcPct val="100000"/>
              </a:lnSpc>
              <a:buNone/>
              <a:defRPr sz="2175" b="1">
                <a:solidFill>
                  <a:srgbClr val="102A43"/>
                </a:solidFill>
                <a:latin typeface="DejaVu Sans"/>
                <a:ea typeface="DejaVu Sans"/>
                <a:cs typeface="DejaVu Sans"/>
              </a:defRPr>
            </a:pPr>
            <a:r>
              <a:rPr sz="2175" b="1">
                <a:solidFill>
                  <a:srgbClr val="102A43"/>
                </a:solidFill>
                <a:latin typeface="DejaVu Sans"/>
                <a:ea typeface="DejaVu Sans"/>
                <a:cs typeface="DejaVu Sans"/>
              </a:rPr>
              <a:t>v = r/2 (omega_L + omega_R)</a:t>
            </a:r>
          </a:p>
          <a:p xmlns:a="http://schemas.openxmlformats.org/drawingml/2006/main">
            <a:pPr algn="ctr">
              <a:lnSpc>
                <a:spcPct val="100000"/>
              </a:lnSpc>
              <a:buNone/>
              <a:defRPr sz="2175" b="1">
                <a:solidFill>
                  <a:srgbClr val="102A43"/>
                </a:solidFill>
                <a:latin typeface="DejaVu Sans"/>
                <a:ea typeface="DejaVu Sans"/>
                <a:cs typeface="DejaVu Sans"/>
              </a:defRPr>
            </a:pPr>
            <a:r>
              <a:rPr sz="2175" b="1">
                <a:solidFill>
                  <a:srgbClr val="102A43"/>
                </a:solidFill>
                <a:latin typeface="DejaVu Sans"/>
                <a:ea typeface="DejaVu Sans"/>
                <a:cs typeface="DejaVu Sans"/>
              </a:rPr>
              <a:t>omega = r/L (omega_R - omega_L)</a:t>
            </a:r>
          </a:p>
        </p:txBody>
      </p:sp>
      <p:sp>
        <p:nvSpPr>
          <p:cNvPr id="7" name="">
            <a:extLst xmlns:a="http://schemas.openxmlformats.org/drawingml/2006/main">
              <a:ext uri="{FF2B5EF4-FFF2-40B4-BE49-F238E27FC236}">
                <a16:creationId xmlns:a16="http://schemas.microsoft.com/office/drawing/2014/main" id="{4C488308-D70B-4AD3-B3E9-61AEB7AC31FE}"/>
              </a:ext>
            </a:extLst>
          </p:cNvPr>
          <p:cNvSpPr>
            <a:spLocks xmlns:a="http://schemas.openxmlformats.org/drawingml/2006/main" noGrp="1"/>
          </p:cNvSpPr>
          <p:nvPr/>
        </p:nvSpPr>
        <p:spPr>
          <a:xfrm xmlns:a="http://schemas.openxmlformats.org/drawingml/2006/main">
            <a:off x="1095375" y="3238500"/>
            <a:ext cx="423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725" b="0">
                <a:solidFill>
                  <a:srgbClr val="0077B6"/>
                </a:solidFill>
                <a:latin typeface="DejaVu Sans"/>
                <a:ea typeface="DejaVu Sans"/>
                <a:cs typeface="DejaVu Sans"/>
              </a:defRPr>
            </a:pPr>
            <a:r>
              <a:rPr sz="1725" b="0">
                <a:solidFill>
                  <a:srgbClr val="0077B6"/>
                </a:solidFill>
                <a:latin typeface="DejaVu Sans"/>
                <a:ea typeface="DejaVu Sans"/>
                <a:cs typeface="DejaVu Sans"/>
              </a:rPr>
              <a:t>r = 0.1128 m     L = 0.566 m</a:t>
            </a:r>
          </a:p>
        </p:txBody>
      </p:sp>
      <p:sp>
        <p:nvSpPr>
          <p:cNvPr id="8" name="">
            <a:extLst xmlns:a="http://schemas.openxmlformats.org/drawingml/2006/main">
              <a:ext uri="{FF2B5EF4-FFF2-40B4-BE49-F238E27FC236}">
                <a16:creationId xmlns:a16="http://schemas.microsoft.com/office/drawing/2014/main" id="{ADA84755-7B85-4C33-A8C3-116CC6F14486}"/>
              </a:ext>
            </a:extLst>
          </p:cNvPr>
          <p:cNvSpPr>
            <a:spLocks xmlns:a="http://schemas.openxmlformats.org/drawingml/2006/main" noGrp="1"/>
          </p:cNvSpPr>
          <p:nvPr/>
        </p:nvSpPr>
        <p:spPr>
          <a:xfrm xmlns:a="http://schemas.openxmlformats.org/drawingml/2006/main">
            <a:off x="809625" y="4048125"/>
            <a:ext cx="2190750" cy="1143000"/>
          </a:xfrm>
          <a:prstGeom xmlns:a="http://schemas.openxmlformats.org/drawingml/2006/main" prst="roundRect">
            <a:avLst>
              <a:gd name="adj" fmla="val 8333"/>
            </a:avLst>
          </a:prstGeom>
          <a:solidFill xmlns:a="http://schemas.openxmlformats.org/drawingml/2006/main">
            <a:srgbClr val="EAF6FC"/>
          </a:solidFill>
          <a:ln xmlns:a="http://schemas.openxmlformats.org/drawingml/2006/main" w="14288">
            <a:solidFill>
              <a:srgbClr val="0077B6"/>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425" b="1">
                <a:solidFill>
                  <a:srgbClr val="102A43"/>
                </a:solidFill>
                <a:latin typeface="DejaVu Sans"/>
                <a:ea typeface="DejaVu Sans"/>
                <a:cs typeface="DejaVu Sans"/>
              </a:defRPr>
            </a:pPr>
            <a:r>
              <a:rPr sz="1425" b="1">
                <a:solidFill>
                  <a:srgbClr val="102A43"/>
                </a:solidFill>
                <a:latin typeface="DejaVu Sans"/>
                <a:ea typeface="DejaVu Sans"/>
                <a:cs typeface="DejaVu Sans"/>
              </a:rPr>
              <a:t>Equal +1 rad wheel motion</a:t>
            </a:r>
          </a:p>
          <a:p xmlns:a="http://schemas.openxmlformats.org/drawingml/2006/main">
            <a:pPr algn="ctr">
              <a:lnSpc>
                <a:spcPct val="95000"/>
              </a:lnSpc>
              <a:buNone/>
              <a:defRPr sz="1425" b="1">
                <a:solidFill>
                  <a:srgbClr val="102A43"/>
                </a:solidFill>
                <a:latin typeface="DejaVu Sans"/>
                <a:ea typeface="DejaVu Sans"/>
                <a:cs typeface="DejaVu Sans"/>
              </a:defRPr>
            </a:pPr>
            <a:r>
              <a:rPr sz="1425" b="1">
                <a:solidFill>
                  <a:srgbClr val="102A43"/>
                </a:solidFill>
                <a:latin typeface="DejaVu Sans"/>
                <a:ea typeface="DejaVu Sans"/>
                <a:cs typeface="DejaVu Sans"/>
              </a:rPr>
              <a:t>Delta s = 0.1128 m</a:t>
            </a:r>
          </a:p>
          <a:p xmlns:a="http://schemas.openxmlformats.org/drawingml/2006/main">
            <a:pPr algn="ctr">
              <a:lnSpc>
                <a:spcPct val="95000"/>
              </a:lnSpc>
              <a:buNone/>
              <a:defRPr sz="1425" b="1">
                <a:solidFill>
                  <a:srgbClr val="102A43"/>
                </a:solidFill>
                <a:latin typeface="DejaVu Sans"/>
                <a:ea typeface="DejaVu Sans"/>
                <a:cs typeface="DejaVu Sans"/>
              </a:defRPr>
            </a:pPr>
            <a:r>
              <a:rPr sz="1425" b="1">
                <a:solidFill>
                  <a:srgbClr val="102A43"/>
                </a:solidFill>
                <a:latin typeface="DejaVu Sans"/>
                <a:ea typeface="DejaVu Sans"/>
                <a:cs typeface="DejaVu Sans"/>
              </a:rPr>
              <a:t>Delta theta = 0</a:t>
            </a:r>
          </a:p>
        </p:txBody>
      </p:sp>
      <p:sp>
        <p:nvSpPr>
          <p:cNvPr id="9" name="">
            <a:extLst xmlns:a="http://schemas.openxmlformats.org/drawingml/2006/main">
              <a:ext uri="{FF2B5EF4-FFF2-40B4-BE49-F238E27FC236}">
                <a16:creationId xmlns:a16="http://schemas.microsoft.com/office/drawing/2014/main" id="{177866FD-DDB3-4E51-BB3B-0CF2D08415EA}"/>
              </a:ext>
            </a:extLst>
          </p:cNvPr>
          <p:cNvSpPr>
            <a:spLocks xmlns:a="http://schemas.openxmlformats.org/drawingml/2006/main" noGrp="1"/>
          </p:cNvSpPr>
          <p:nvPr/>
        </p:nvSpPr>
        <p:spPr>
          <a:xfrm xmlns:a="http://schemas.openxmlformats.org/drawingml/2006/main">
            <a:off x="3333750" y="4048125"/>
            <a:ext cx="2190750" cy="1143000"/>
          </a:xfrm>
          <a:prstGeom xmlns:a="http://schemas.openxmlformats.org/drawingml/2006/main" prst="roundRect">
            <a:avLst>
              <a:gd name="adj" fmla="val 8333"/>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90621"/>
          </a:bodyPr>
          <a:lstStyle xmlns:a="http://schemas.openxmlformats.org/drawingml/2006/main"/>
          <a:p xmlns:a="http://schemas.openxmlformats.org/drawingml/2006/main">
            <a:pPr algn="ctr">
              <a:lnSpc>
                <a:spcPct val="95000"/>
              </a:lnSpc>
              <a:buNone/>
              <a:defRPr sz="1425" b="1">
                <a:solidFill>
                  <a:srgbClr val="102A43"/>
                </a:solidFill>
                <a:latin typeface="DejaVu Sans"/>
                <a:ea typeface="DejaVu Sans"/>
                <a:cs typeface="DejaVu Sans"/>
              </a:defRPr>
            </a:pPr>
            <a:r>
              <a:rPr sz="1425" b="1">
                <a:solidFill>
                  <a:srgbClr val="102A43"/>
                </a:solidFill>
                <a:latin typeface="DejaVu Sans"/>
                <a:ea typeface="DejaVu Sans"/>
                <a:cs typeface="DejaVu Sans"/>
              </a:rPr>
              <a:t>Opposite +/-1 rad motion</a:t>
            </a:r>
          </a:p>
          <a:p xmlns:a="http://schemas.openxmlformats.org/drawingml/2006/main">
            <a:pPr algn="ctr">
              <a:lnSpc>
                <a:spcPct val="95000"/>
              </a:lnSpc>
              <a:buNone/>
              <a:defRPr sz="1425" b="1">
                <a:solidFill>
                  <a:srgbClr val="102A43"/>
                </a:solidFill>
                <a:latin typeface="DejaVu Sans"/>
                <a:ea typeface="DejaVu Sans"/>
                <a:cs typeface="DejaVu Sans"/>
              </a:defRPr>
            </a:pPr>
            <a:r>
              <a:rPr sz="1425" b="1">
                <a:solidFill>
                  <a:srgbClr val="102A43"/>
                </a:solidFill>
                <a:latin typeface="DejaVu Sans"/>
                <a:ea typeface="DejaVu Sans"/>
                <a:cs typeface="DejaVu Sans"/>
              </a:rPr>
              <a:t>Delta s = 0</a:t>
            </a:r>
          </a:p>
          <a:p xmlns:a="http://schemas.openxmlformats.org/drawingml/2006/main">
            <a:pPr algn="ctr">
              <a:lnSpc>
                <a:spcPct val="95000"/>
              </a:lnSpc>
              <a:buNone/>
              <a:defRPr sz="1425" b="1">
                <a:solidFill>
                  <a:srgbClr val="102A43"/>
                </a:solidFill>
                <a:latin typeface="DejaVu Sans"/>
                <a:ea typeface="DejaVu Sans"/>
                <a:cs typeface="DejaVu Sans"/>
              </a:defRPr>
            </a:pPr>
            <a:r>
              <a:rPr sz="1425" b="1">
                <a:solidFill>
                  <a:srgbClr val="102A43"/>
                </a:solidFill>
                <a:latin typeface="DejaVu Sans"/>
                <a:ea typeface="DejaVu Sans"/>
                <a:cs typeface="DejaVu Sans"/>
              </a:rPr>
              <a:t>Delta theta = 0.3986 rad</a:t>
            </a:r>
          </a:p>
        </p:txBody>
      </p:sp>
      <p:sp>
        <p:nvSpPr>
          <p:cNvPr id="10" name="">
            <a:extLst xmlns:a="http://schemas.openxmlformats.org/drawingml/2006/main">
              <a:ext uri="{FF2B5EF4-FFF2-40B4-BE49-F238E27FC236}">
                <a16:creationId xmlns:a16="http://schemas.microsoft.com/office/drawing/2014/main" id="{E2BE2716-BDCC-456F-ADDD-C1C0D3821CDF}"/>
              </a:ext>
            </a:extLst>
          </p:cNvPr>
          <p:cNvSpPr>
            <a:spLocks xmlns:a="http://schemas.openxmlformats.org/drawingml/2006/main" noGrp="1"/>
          </p:cNvSpPr>
          <p:nvPr/>
        </p:nvSpPr>
        <p:spPr>
          <a:xfrm xmlns:a="http://schemas.openxmlformats.org/drawingml/2006/main">
            <a:off x="1143000" y="5524500"/>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ctr">
              <a:lnSpc>
                <a:spcPct val="100000"/>
              </a:lnSpc>
              <a:buNone/>
              <a:defRPr sz="1275" b="0">
                <a:solidFill>
                  <a:srgbClr val="536575"/>
                </a:solidFill>
                <a:latin typeface="DejaVu Sans"/>
                <a:ea typeface="DejaVu Sans"/>
                <a:cs typeface="DejaVu Sans"/>
              </a:defRPr>
            </a:pPr>
            <a:r>
              <a:rPr sz="1275" b="0">
                <a:solidFill>
                  <a:srgbClr val="536575"/>
                </a:solidFill>
                <a:latin typeface="DejaVu Sans"/>
                <a:ea typeface="DejaVu Sans"/>
                <a:cs typeface="DejaVu Sans"/>
              </a:rPr>
              <a:t>Source: diff_drive.hpp</a:t>
            </a:r>
          </a:p>
        </p:txBody>
      </p:sp>
      <p:sp>
        <p:nvSpPr>
          <p:cNvPr id="11" name="">
            <a:extLst xmlns:a="http://schemas.openxmlformats.org/drawingml/2006/main">
              <a:ext uri="{FF2B5EF4-FFF2-40B4-BE49-F238E27FC236}">
                <a16:creationId xmlns:a16="http://schemas.microsoft.com/office/drawing/2014/main" id="{6054F642-8F8E-42B9-BF25-E93D3220C7D6}"/>
              </a:ext>
            </a:extLst>
          </p:cNvPr>
          <p:cNvSpPr>
            <a:spLocks xmlns:a="http://schemas.openxmlformats.org/drawingml/2006/main" noGrp="1"/>
          </p:cNvSpPr>
          <p:nvPr/>
        </p:nvSpPr>
        <p:spPr>
          <a:xfrm xmlns:a="http://schemas.openxmlformats.org/drawingml/2006/main">
            <a:off x="6429375" y="1381125"/>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875" b="1">
                <a:solidFill>
                  <a:srgbClr val="102A43"/>
                </a:solidFill>
                <a:latin typeface="DejaVu Sans"/>
                <a:ea typeface="DejaVu Sans"/>
                <a:cs typeface="DejaVu Sans"/>
              </a:defRPr>
            </a:pPr>
            <a:r>
              <a:rPr sz="1875" b="1">
                <a:solidFill>
                  <a:srgbClr val="102A43"/>
                </a:solidFill>
                <a:latin typeface="DejaVu Sans"/>
                <a:ea typeface="DejaVu Sans"/>
                <a:cs typeface="DejaVu Sans"/>
              </a:rPr>
              <a:t>NAVIGATION GEOMETRY</a:t>
            </a:r>
          </a:p>
        </p:txBody>
      </p:sp>
      <p:sp>
        <p:nvSpPr>
          <p:cNvPr id="12" name="">
            <a:extLst xmlns:a="http://schemas.openxmlformats.org/drawingml/2006/main">
              <a:ext uri="{FF2B5EF4-FFF2-40B4-BE49-F238E27FC236}">
                <a16:creationId xmlns:a16="http://schemas.microsoft.com/office/drawing/2014/main" id="{D5FC1CA2-4B5B-42ED-986B-F638DE83D512}"/>
              </a:ext>
            </a:extLst>
          </p:cNvPr>
          <p:cNvSpPr>
            <a:spLocks xmlns:a="http://schemas.openxmlformats.org/drawingml/2006/main" noGrp="1"/>
          </p:cNvSpPr>
          <p:nvPr/>
        </p:nvSpPr>
        <p:spPr>
          <a:xfrm xmlns:a="http://schemas.openxmlformats.org/drawingml/2006/main">
            <a:off x="6429375" y="2047875"/>
            <a:ext cx="2000250" cy="723900"/>
          </a:xfrm>
          <a:prstGeom xmlns:a="http://schemas.openxmlformats.org/drawingml/2006/main" prst="roundRect">
            <a:avLst>
              <a:gd name="adj" fmla="val 13158"/>
            </a:avLst>
          </a:prstGeom>
          <a:solidFill xmlns:a="http://schemas.openxmlformats.org/drawingml/2006/main">
            <a:srgbClr val="EAF6FC"/>
          </a:solidFill>
          <a:ln xmlns:a="http://schemas.openxmlformats.org/drawingml/2006/main" w="14288">
            <a:solidFill>
              <a:srgbClr val="0077B6"/>
            </a:solidFill>
            <a:prstDash val="solid"/>
          </a:ln>
        </p:spPr>
        <p:txBody>
          <a:bodyPr xmlns:a="http://schemas.openxmlformats.org/drawingml/2006/main" lIns="95250" tIns="76200" rIns="95250" bIns="76200" anchor="ctr">
            <a:normAutofit fontScale="91333"/>
          </a:bodyPr>
          <a:lstStyle xmlns:a="http://schemas.openxmlformats.org/drawingml/2006/main"/>
          <a:p xmlns:a="http://schemas.openxmlformats.org/drawingml/2006/main">
            <a:pPr algn="ctr">
              <a:lnSpc>
                <a:spcPct val="95000"/>
              </a:lnSpc>
              <a:buNone/>
              <a:defRPr sz="1950" b="1">
                <a:solidFill>
                  <a:srgbClr val="0077B6"/>
                </a:solidFill>
                <a:latin typeface="DejaVu Sans"/>
                <a:ea typeface="DejaVu Sans"/>
                <a:cs typeface="DejaVu Sans"/>
              </a:defRPr>
            </a:pPr>
            <a:r>
              <a:rPr sz="1950" b="1">
                <a:solidFill>
                  <a:srgbClr val="0077B6"/>
                </a:solidFill>
                <a:latin typeface="DejaVu Sans"/>
                <a:ea typeface="DejaVu Sans"/>
                <a:cs typeface="DejaVu Sans"/>
              </a:rPr>
              <a:t>100 x 100 cells</a:t>
            </a:r>
          </a:p>
        </p:txBody>
      </p:sp>
      <p:sp>
        <p:nvSpPr>
          <p:cNvPr id="13" name="">
            <a:extLst xmlns:a="http://schemas.openxmlformats.org/drawingml/2006/main">
              <a:ext uri="{FF2B5EF4-FFF2-40B4-BE49-F238E27FC236}">
                <a16:creationId xmlns:a16="http://schemas.microsoft.com/office/drawing/2014/main" id="{882E369B-BE5B-4000-9F81-EB4A5D2FA008}"/>
              </a:ext>
            </a:extLst>
          </p:cNvPr>
          <p:cNvSpPr>
            <a:spLocks xmlns:a="http://schemas.openxmlformats.org/drawingml/2006/main" noGrp="1"/>
          </p:cNvSpPr>
          <p:nvPr/>
        </p:nvSpPr>
        <p:spPr>
          <a:xfrm xmlns:a="http://schemas.openxmlformats.org/drawingml/2006/main">
            <a:off x="8572500" y="2143125"/>
            <a:ext cx="2905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Autofit/>
          </a:bodyPr>
          <a:lstStyle xmlns:a="http://schemas.openxmlformats.org/drawingml/2006/main"/>
          <a:p xmlns:a="http://schemas.openxmlformats.org/drawingml/2006/main">
            <a:pPr algn="l">
              <a:lnSpc>
                <a:spcPct val="100000"/>
              </a:lnSpc>
              <a:buNone/>
              <a:defRPr sz="1425" b="0">
                <a:solidFill>
                  <a:srgbClr val="334E68"/>
                </a:solidFill>
                <a:latin typeface="DejaVu Sans"/>
                <a:ea typeface="DejaVu Sans"/>
                <a:cs typeface="DejaVu Sans"/>
              </a:defRPr>
            </a:pPr>
            <a:r>
              <a:rPr sz="1425" b="0">
                <a:solidFill>
                  <a:srgbClr val="334E68"/>
                </a:solidFill>
                <a:latin typeface="DejaVu Sans"/>
                <a:ea typeface="DejaVu Sans"/>
                <a:cs typeface="DejaVu Sans"/>
              </a:rPr>
              <a:t>5 m local costmap / 0.05 m resolution</a:t>
            </a:r>
          </a:p>
        </p:txBody>
      </p:sp>
      <p:sp>
        <p:nvSpPr>
          <p:cNvPr id="14" name="">
            <a:extLst xmlns:a="http://schemas.openxmlformats.org/drawingml/2006/main">
              <a:ext uri="{FF2B5EF4-FFF2-40B4-BE49-F238E27FC236}">
                <a16:creationId xmlns:a16="http://schemas.microsoft.com/office/drawing/2014/main" id="{3039823D-5053-44E7-898E-6BEDFD247DBE}"/>
              </a:ext>
            </a:extLst>
          </p:cNvPr>
          <p:cNvSpPr>
            <a:spLocks xmlns:a="http://schemas.openxmlformats.org/drawingml/2006/main" noGrp="1"/>
          </p:cNvSpPr>
          <p:nvPr/>
        </p:nvSpPr>
        <p:spPr>
          <a:xfrm xmlns:a="http://schemas.openxmlformats.org/drawingml/2006/main">
            <a:off x="6429375" y="3095625"/>
            <a:ext cx="2000250" cy="723900"/>
          </a:xfrm>
          <a:prstGeom xmlns:a="http://schemas.openxmlformats.org/drawingml/2006/main" prst="roundRect">
            <a:avLst>
              <a:gd name="adj" fmla="val 13158"/>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950" b="1">
                <a:solidFill>
                  <a:srgbClr val="102A43"/>
                </a:solidFill>
                <a:latin typeface="DejaVu Sans"/>
                <a:ea typeface="DejaVu Sans"/>
                <a:cs typeface="DejaVu Sans"/>
              </a:defRPr>
            </a:pPr>
            <a:r>
              <a:rPr sz="1950" b="1">
                <a:solidFill>
                  <a:srgbClr val="102A43"/>
                </a:solidFill>
                <a:latin typeface="DejaVu Sans"/>
                <a:ea typeface="DejaVu Sans"/>
                <a:cs typeface="DejaVu Sans"/>
              </a:rPr>
              <a:t>11 cells</a:t>
            </a:r>
          </a:p>
        </p:txBody>
      </p:sp>
      <p:sp>
        <p:nvSpPr>
          <p:cNvPr id="15" name="">
            <a:extLst xmlns:a="http://schemas.openxmlformats.org/drawingml/2006/main">
              <a:ext uri="{FF2B5EF4-FFF2-40B4-BE49-F238E27FC236}">
                <a16:creationId xmlns:a16="http://schemas.microsoft.com/office/drawing/2014/main" id="{03D3FB2E-DFD2-4AA0-B8A0-9988935673FB}"/>
              </a:ext>
            </a:extLst>
          </p:cNvPr>
          <p:cNvSpPr>
            <a:spLocks xmlns:a="http://schemas.openxmlformats.org/drawingml/2006/main" noGrp="1"/>
          </p:cNvSpPr>
          <p:nvPr/>
        </p:nvSpPr>
        <p:spPr>
          <a:xfrm xmlns:a="http://schemas.openxmlformats.org/drawingml/2006/main">
            <a:off x="8572500" y="3190875"/>
            <a:ext cx="2905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Autofit/>
          </a:bodyPr>
          <a:lstStyle xmlns:a="http://schemas.openxmlformats.org/drawingml/2006/main"/>
          <a:p xmlns:a="http://schemas.openxmlformats.org/drawingml/2006/main">
            <a:pPr algn="l">
              <a:lnSpc>
                <a:spcPct val="100000"/>
              </a:lnSpc>
              <a:buNone/>
              <a:defRPr sz="1425" b="0">
                <a:solidFill>
                  <a:srgbClr val="334E68"/>
                </a:solidFill>
                <a:latin typeface="DejaVu Sans"/>
                <a:ea typeface="DejaVu Sans"/>
                <a:cs typeface="DejaVu Sans"/>
              </a:defRPr>
            </a:pPr>
            <a:r>
              <a:rPr sz="1425" b="0">
                <a:solidFill>
                  <a:srgbClr val="334E68"/>
                </a:solidFill>
                <a:latin typeface="DejaVu Sans"/>
                <a:ea typeface="DejaVu Sans"/>
                <a:cs typeface="DejaVu Sans"/>
              </a:rPr>
              <a:t>0.55 m inflation / 0.05 m resolution</a:t>
            </a:r>
          </a:p>
        </p:txBody>
      </p:sp>
      <p:sp>
        <p:nvSpPr>
          <p:cNvPr id="16" name="">
            <a:extLst xmlns:a="http://schemas.openxmlformats.org/drawingml/2006/main">
              <a:ext uri="{FF2B5EF4-FFF2-40B4-BE49-F238E27FC236}">
                <a16:creationId xmlns:a16="http://schemas.microsoft.com/office/drawing/2014/main" id="{9726D7EA-04C2-4B71-ACF4-9048C5953E68}"/>
              </a:ext>
            </a:extLst>
          </p:cNvPr>
          <p:cNvSpPr>
            <a:spLocks xmlns:a="http://schemas.openxmlformats.org/drawingml/2006/main" noGrp="1"/>
          </p:cNvSpPr>
          <p:nvPr/>
        </p:nvSpPr>
        <p:spPr>
          <a:xfrm xmlns:a="http://schemas.openxmlformats.org/drawingml/2006/main">
            <a:off x="6429375" y="4143375"/>
            <a:ext cx="2000250" cy="723900"/>
          </a:xfrm>
          <a:prstGeom xmlns:a="http://schemas.openxmlformats.org/drawingml/2006/main" prst="roundRect">
            <a:avLst>
              <a:gd name="adj" fmla="val 13158"/>
            </a:avLst>
          </a:prstGeom>
          <a:solidFill xmlns:a="http://schemas.openxmlformats.org/drawingml/2006/main">
            <a:srgbClr val="EAF7F0"/>
          </a:solidFill>
          <a:ln xmlns:a="http://schemas.openxmlformats.org/drawingml/2006/main" w="14288">
            <a:solidFill>
              <a:srgbClr val="18794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950" b="1">
                <a:solidFill>
                  <a:srgbClr val="18794E"/>
                </a:solidFill>
                <a:latin typeface="DejaVu Sans"/>
                <a:ea typeface="DejaVu Sans"/>
                <a:cs typeface="DejaVu Sans"/>
              </a:defRPr>
            </a:pPr>
            <a:r>
              <a:rPr sz="1950" b="1">
                <a:solidFill>
                  <a:srgbClr val="18794E"/>
                </a:solidFill>
                <a:latin typeface="DejaVu Sans"/>
                <a:ea typeface="DejaVu Sans"/>
                <a:cs typeface="DejaVu Sans"/>
              </a:rPr>
              <a:t>0.75 m</a:t>
            </a:r>
          </a:p>
        </p:txBody>
      </p:sp>
      <p:sp>
        <p:nvSpPr>
          <p:cNvPr id="17" name="">
            <a:extLst xmlns:a="http://schemas.openxmlformats.org/drawingml/2006/main">
              <a:ext uri="{FF2B5EF4-FFF2-40B4-BE49-F238E27FC236}">
                <a16:creationId xmlns:a16="http://schemas.microsoft.com/office/drawing/2014/main" id="{EBCD5881-6433-4B86-B228-7DF7FE08A319}"/>
              </a:ext>
            </a:extLst>
          </p:cNvPr>
          <p:cNvSpPr>
            <a:spLocks xmlns:a="http://schemas.openxmlformats.org/drawingml/2006/main" noGrp="1"/>
          </p:cNvSpPr>
          <p:nvPr/>
        </p:nvSpPr>
        <p:spPr>
          <a:xfrm xmlns:a="http://schemas.openxmlformats.org/drawingml/2006/main">
            <a:off x="8572500" y="4238625"/>
            <a:ext cx="2905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Autofit/>
          </a:bodyPr>
          <a:lstStyle xmlns:a="http://schemas.openxmlformats.org/drawingml/2006/main"/>
          <a:p xmlns:a="http://schemas.openxmlformats.org/drawingml/2006/main">
            <a:pPr algn="l">
              <a:lnSpc>
                <a:spcPct val="100000"/>
              </a:lnSpc>
              <a:buNone/>
              <a:defRPr sz="1425" b="0">
                <a:solidFill>
                  <a:srgbClr val="334E68"/>
                </a:solidFill>
                <a:latin typeface="DejaVu Sans"/>
                <a:ea typeface="DejaVu Sans"/>
                <a:cs typeface="DejaVu Sans"/>
              </a:defRPr>
            </a:pPr>
            <a:r>
              <a:rPr sz="1425" b="0">
                <a:solidFill>
                  <a:srgbClr val="334E68"/>
                </a:solidFill>
                <a:latin typeface="DejaVu Sans"/>
                <a:ea typeface="DejaVu Sans"/>
                <a:cs typeface="DejaVu Sans"/>
              </a:rPr>
              <a:t>RPP: 0.5 m/s x 1.5 s lookahead time</a:t>
            </a:r>
          </a:p>
        </p:txBody>
      </p:sp>
      <p:sp>
        <p:nvSpPr>
          <p:cNvPr id="18" name="">
            <a:extLst xmlns:a="http://schemas.openxmlformats.org/drawingml/2006/main">
              <a:ext uri="{FF2B5EF4-FFF2-40B4-BE49-F238E27FC236}">
                <a16:creationId xmlns:a16="http://schemas.microsoft.com/office/drawing/2014/main" id="{6268D1AB-244B-43FF-A04C-BCBF99625AFD}"/>
              </a:ext>
            </a:extLst>
          </p:cNvPr>
          <p:cNvSpPr>
            <a:spLocks xmlns:a="http://schemas.openxmlformats.org/drawingml/2006/main" noGrp="1"/>
          </p:cNvSpPr>
          <p:nvPr/>
        </p:nvSpPr>
        <p:spPr>
          <a:xfrm xmlns:a="http://schemas.openxmlformats.org/drawingml/2006/main">
            <a:off x="6429375" y="5191125"/>
            <a:ext cx="2000250" cy="723900"/>
          </a:xfrm>
          <a:prstGeom xmlns:a="http://schemas.openxmlformats.org/drawingml/2006/main" prst="roundRect">
            <a:avLst>
              <a:gd name="adj" fmla="val 13158"/>
            </a:avLst>
          </a:prstGeom>
          <a:solidFill xmlns:a="http://schemas.openxmlformats.org/drawingml/2006/main">
            <a:srgbClr val="FFF4E5"/>
          </a:solidFill>
          <a:ln xmlns:a="http://schemas.openxmlformats.org/drawingml/2006/main" w="14288">
            <a:solidFill>
              <a:srgbClr val="B96B12"/>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lnSpc>
                <a:spcPct val="95000"/>
              </a:lnSpc>
              <a:buNone/>
              <a:defRPr sz="1650" b="1">
                <a:solidFill>
                  <a:srgbClr val="B96B12"/>
                </a:solidFill>
                <a:latin typeface="DejaVu Sans"/>
                <a:ea typeface="DejaVu Sans"/>
                <a:cs typeface="DejaVu Sans"/>
              </a:defRPr>
            </a:pPr>
            <a:r>
              <a:rPr sz="1650" b="1">
                <a:solidFill>
                  <a:srgbClr val="B96B12"/>
                </a:solidFill>
                <a:latin typeface="DejaVu Sans"/>
                <a:ea typeface="DejaVu Sans"/>
                <a:cs typeface="DejaVu Sans"/>
              </a:rPr>
              <a:t>0.025 m/s per tick</a:t>
            </a:r>
          </a:p>
        </p:txBody>
      </p:sp>
      <p:sp>
        <p:nvSpPr>
          <p:cNvPr id="19" name="">
            <a:extLst xmlns:a="http://schemas.openxmlformats.org/drawingml/2006/main">
              <a:ext uri="{FF2B5EF4-FFF2-40B4-BE49-F238E27FC236}">
                <a16:creationId xmlns:a16="http://schemas.microsoft.com/office/drawing/2014/main" id="{58C7205F-B51E-4BF3-BF97-9C5FE4B6C3D0}"/>
              </a:ext>
            </a:extLst>
          </p:cNvPr>
          <p:cNvSpPr>
            <a:spLocks xmlns:a="http://schemas.openxmlformats.org/drawingml/2006/main" noGrp="1"/>
          </p:cNvSpPr>
          <p:nvPr/>
        </p:nvSpPr>
        <p:spPr>
          <a:xfrm xmlns:a="http://schemas.openxmlformats.org/drawingml/2006/main">
            <a:off x="8572500" y="5286375"/>
            <a:ext cx="2905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Autofit/>
          </a:bodyPr>
          <a:lstStyle xmlns:a="http://schemas.openxmlformats.org/drawingml/2006/main"/>
          <a:p xmlns:a="http://schemas.openxmlformats.org/drawingml/2006/main">
            <a:pPr algn="l">
              <a:lnSpc>
                <a:spcPct val="100000"/>
              </a:lnSpc>
              <a:buNone/>
              <a:defRPr sz="1425" b="0">
                <a:solidFill>
                  <a:srgbClr val="334E68"/>
                </a:solidFill>
                <a:latin typeface="DejaVu Sans"/>
                <a:ea typeface="DejaVu Sans"/>
                <a:cs typeface="DejaVu Sans"/>
              </a:defRPr>
            </a:pPr>
            <a:r>
              <a:rPr sz="1425" b="0">
                <a:solidFill>
                  <a:srgbClr val="334E68"/>
                </a:solidFill>
                <a:latin typeface="DejaVu Sans"/>
                <a:ea typeface="DejaVu Sans"/>
                <a:cs typeface="DejaVu Sans"/>
              </a:rPr>
              <a:t>0.5 m/s² acceleration x 0.05 s at 20 Hz</a:t>
            </a:r>
          </a:p>
        </p:txBody>
      </p:sp>
    </p:spTree>
    <p:extLst>
      <p:ext uri="{BB962C8B-B14F-4D97-AF65-F5344CB8AC3E}">
        <p14:creationId xmlns:p14="http://schemas.microsoft.com/office/powerpoint/2010/main" val="81969316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09F73FB-A6BC-4413-8C80-0EE9F87AEC6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444EE5-7E7D-4DE6-A43F-BCE82DF759D2}"/>
              </a:ext>
            </a:extLst>
          </p:cNvPr>
          <p:cNvSpPr>
            <a:spLocks xmlns:a="http://schemas.openxmlformats.org/drawingml/2006/main" noGrp="1"/>
          </p:cNvSpPr>
          <p:nvPr/>
        </p:nvSpPr>
        <p:spPr>
          <a:xfrm xmlns:a="http://schemas.openxmlformats.org/drawingml/2006/main">
            <a:off x="609600" y="323850"/>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3150" b="1">
                <a:solidFill>
                  <a:srgbClr val="102A43"/>
                </a:solidFill>
                <a:latin typeface="DejaVu Sans"/>
                <a:ea typeface="DejaVu Sans"/>
                <a:cs typeface="DejaVu Sans"/>
              </a:defRPr>
            </a:pPr>
            <a:r>
              <a:rPr sz="3150" b="1">
                <a:solidFill>
                  <a:srgbClr val="102A43"/>
                </a:solidFill>
                <a:latin typeface="DejaVu Sans"/>
                <a:ea typeface="DejaVu Sans"/>
                <a:cs typeface="DejaVu Sans"/>
              </a:rPr>
              <a:t>Current software state</a:t>
            </a:r>
          </a:p>
        </p:txBody>
      </p:sp>
      <p:sp>
        <p:nvSpPr>
          <p:cNvPr id="3" name="">
            <a:extLst xmlns:a="http://schemas.openxmlformats.org/drawingml/2006/main">
              <a:ext uri="{FF2B5EF4-FFF2-40B4-BE49-F238E27FC236}">
                <a16:creationId xmlns:a16="http://schemas.microsoft.com/office/drawing/2014/main" id="{27356701-43CF-4679-94DF-FAF39C12820E}"/>
              </a:ext>
            </a:extLst>
          </p:cNvPr>
          <p:cNvSpPr>
            <a:spLocks xmlns:a="http://schemas.openxmlformats.org/drawingml/2006/main" noGrp="1"/>
          </p:cNvSpPr>
          <p:nvPr/>
        </p:nvSpPr>
        <p:spPr>
          <a:xfrm xmlns:a="http://schemas.openxmlformats.org/drawingml/2006/main">
            <a:off x="628650" y="87630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575" b="0">
                <a:solidFill>
                  <a:srgbClr val="536575"/>
                </a:solidFill>
                <a:latin typeface="DejaVu Sans"/>
                <a:ea typeface="DejaVu Sans"/>
                <a:cs typeface="DejaVu Sans"/>
              </a:defRPr>
            </a:pPr>
            <a:r>
              <a:rPr sz="1575" b="0">
                <a:solidFill>
                  <a:srgbClr val="536575"/>
                </a:solidFill>
                <a:latin typeface="DejaVu Sans"/>
                <a:ea typeface="DejaVu Sans"/>
                <a:cs typeface="DejaVu Sans"/>
              </a:rPr>
              <a:t>Implemented source and remaining runtime evidence are separate claims</a:t>
            </a:r>
          </a:p>
        </p:txBody>
      </p:sp>
      <p:sp>
        <p:nvSpPr>
          <p:cNvPr id="4" name="">
            <a:extLst xmlns:a="http://schemas.openxmlformats.org/drawingml/2006/main">
              <a:ext uri="{FF2B5EF4-FFF2-40B4-BE49-F238E27FC236}">
                <a16:creationId xmlns:a16="http://schemas.microsoft.com/office/drawing/2014/main" id="{3AA603F1-1153-495C-AB63-B7A53AD4495A}"/>
              </a:ext>
            </a:extLst>
          </p:cNvPr>
          <p:cNvSpPr>
            <a:spLocks xmlns:a="http://schemas.openxmlformats.org/drawingml/2006/main" noGrp="1"/>
          </p:cNvSpPr>
          <p:nvPr/>
        </p:nvSpPr>
        <p:spPr>
          <a:xfrm xmlns:a="http://schemas.openxmlformats.org/drawingml/2006/main">
            <a:off x="11144250" y="400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r">
              <a:lnSpc>
                <a:spcPct val="100000"/>
              </a:lnSpc>
              <a:buNone/>
              <a:defRPr sz="1350" b="1">
                <a:solidFill>
                  <a:srgbClr val="0077B6"/>
                </a:solidFill>
                <a:latin typeface="DejaVu Sans"/>
                <a:ea typeface="DejaVu Sans"/>
                <a:cs typeface="DejaVu Sans"/>
              </a:defRPr>
            </a:pPr>
            <a:r>
              <a:rPr sz="1350" b="1">
                <a:solidFill>
                  <a:srgbClr val="0077B6"/>
                </a:solidFill>
                <a:latin typeface="DejaVu Sans"/>
                <a:ea typeface="DejaVu Sans"/>
                <a:cs typeface="DejaVu Sans"/>
              </a:rPr>
              <a:t>10</a:t>
            </a:r>
          </a:p>
        </p:txBody>
      </p:sp>
      <p:sp>
        <p:nvSpPr>
          <p:cNvPr id="5" name="">
            <a:extLst xmlns:a="http://schemas.openxmlformats.org/drawingml/2006/main">
              <a:ext uri="{FF2B5EF4-FFF2-40B4-BE49-F238E27FC236}">
                <a16:creationId xmlns:a16="http://schemas.microsoft.com/office/drawing/2014/main" id="{AA1105FA-A4F4-4720-AE64-7CE674429197}"/>
              </a:ext>
            </a:extLst>
          </p:cNvPr>
          <p:cNvSpPr>
            <a:spLocks xmlns:a="http://schemas.openxmlformats.org/drawingml/2006/main" noGrp="1"/>
          </p:cNvSpPr>
          <p:nvPr/>
        </p:nvSpPr>
        <p:spPr>
          <a:xfrm xmlns:a="http://schemas.openxmlformats.org/drawingml/2006/main">
            <a:off x="762000" y="1381125"/>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800" b="1">
                <a:solidFill>
                  <a:srgbClr val="18794E"/>
                </a:solidFill>
                <a:latin typeface="DejaVu Sans"/>
                <a:ea typeface="DejaVu Sans"/>
                <a:cs typeface="DejaVu Sans"/>
              </a:defRPr>
            </a:pPr>
            <a:r>
              <a:rPr sz="1800" b="1">
                <a:solidFill>
                  <a:srgbClr val="18794E"/>
                </a:solidFill>
                <a:latin typeface="DejaVu Sans"/>
                <a:ea typeface="DejaVu Sans"/>
                <a:cs typeface="DejaVu Sans"/>
              </a:rPr>
              <a:t>IMPLEMENTED IN SOURCE</a:t>
            </a:r>
          </a:p>
        </p:txBody>
      </p:sp>
      <p:sp>
        <p:nvSpPr>
          <p:cNvPr id="6" name="">
            <a:extLst xmlns:a="http://schemas.openxmlformats.org/drawingml/2006/main">
              <a:ext uri="{FF2B5EF4-FFF2-40B4-BE49-F238E27FC236}">
                <a16:creationId xmlns:a16="http://schemas.microsoft.com/office/drawing/2014/main" id="{85BFF4D7-5398-47C7-B0DD-D404BD8261ED}"/>
              </a:ext>
            </a:extLst>
          </p:cNvPr>
          <p:cNvSpPr>
            <a:spLocks xmlns:a="http://schemas.openxmlformats.org/drawingml/2006/main" noGrp="1"/>
          </p:cNvSpPr>
          <p:nvPr/>
        </p:nvSpPr>
        <p:spPr>
          <a:xfrm xmlns:a="http://schemas.openxmlformats.org/drawingml/2006/main">
            <a:off x="6762750" y="1381125"/>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t">
            <a:noAutofit/>
          </a:bodyPr>
          <a:lstStyle xmlns:a="http://schemas.openxmlformats.org/drawingml/2006/main"/>
          <a:p xmlns:a="http://schemas.openxmlformats.org/drawingml/2006/main">
            <a:pPr algn="l">
              <a:lnSpc>
                <a:spcPct val="100000"/>
              </a:lnSpc>
              <a:buNone/>
              <a:defRPr sz="1800" b="1">
                <a:solidFill>
                  <a:srgbClr val="B96B12"/>
                </a:solidFill>
                <a:latin typeface="DejaVu Sans"/>
                <a:ea typeface="DejaVu Sans"/>
                <a:cs typeface="DejaVu Sans"/>
              </a:defRPr>
            </a:pPr>
            <a:r>
              <a:rPr sz="1800" b="1">
                <a:solidFill>
                  <a:srgbClr val="B96B12"/>
                </a:solidFill>
                <a:latin typeface="DejaVu Sans"/>
                <a:ea typeface="DejaVu Sans"/>
                <a:cs typeface="DejaVu Sans"/>
              </a:rPr>
              <a:t>PENDING EVIDENCE</a:t>
            </a:r>
          </a:p>
        </p:txBody>
      </p:sp>
      <p:sp>
        <p:nvSpPr>
          <p:cNvPr id="7" name="">
            <a:extLst xmlns:a="http://schemas.openxmlformats.org/drawingml/2006/main">
              <a:ext uri="{FF2B5EF4-FFF2-40B4-BE49-F238E27FC236}">
                <a16:creationId xmlns:a16="http://schemas.microsoft.com/office/drawing/2014/main" id="{240917B0-4B23-4F38-A125-3A79140877A7}"/>
              </a:ext>
            </a:extLst>
          </p:cNvPr>
          <p:cNvSpPr>
            <a:spLocks xmlns:a="http://schemas.openxmlformats.org/drawingml/2006/main" noGrp="1"/>
          </p:cNvSpPr>
          <p:nvPr/>
        </p:nvSpPr>
        <p:spPr>
          <a:xfrm xmlns:a="http://schemas.openxmlformats.org/drawingml/2006/main">
            <a:off x="666750" y="1857375"/>
            <a:ext cx="5095875" cy="3190875"/>
          </a:xfrm>
          <a:prstGeom xmlns:a="http://schemas.openxmlformats.org/drawingml/2006/main" prst="roundRect">
            <a:avLst>
              <a:gd name="adj" fmla="val 2985"/>
            </a:avLst>
          </a:prstGeom>
          <a:solidFill xmlns:a="http://schemas.openxmlformats.org/drawingml/2006/main">
            <a:srgbClr val="EAF7F0"/>
          </a:solidFill>
          <a:ln xmlns:a="http://schemas.openxmlformats.org/drawingml/2006/main" w="14288">
            <a:solidFill>
              <a:srgbClr val="18794E"/>
            </a:solidFill>
            <a:prstDash val="solid"/>
          </a:ln>
        </p:spPr>
        <p:txBody>
          <a:bodyPr xmlns:a="http://schemas.openxmlformats.org/drawingml/2006/main" lIns="95250" tIns="76200" rIns="95250" bIns="76200" anchor="ctr">
            <a:normAutofit/>
          </a:bodyPr>
          <a:lstStyle xmlns:a="http://schemas.openxmlformats.org/drawingml/2006/main"/>
          <a:p xmlns:a="http://schemas.openxmlformats.org/drawingml/2006/main">
            <a:r>
              <a:t/>
            </a:r>
          </a:p>
        </p:txBody>
      </p:sp>
      <p:sp>
        <p:nvSpPr>
          <p:cNvPr id="8" name="">
            <a:extLst xmlns:a="http://schemas.openxmlformats.org/drawingml/2006/main">
              <a:ext uri="{FF2B5EF4-FFF2-40B4-BE49-F238E27FC236}">
                <a16:creationId xmlns:a16="http://schemas.microsoft.com/office/drawing/2014/main" id="{64645E82-28B9-4BB8-868F-5692A67CF10A}"/>
              </a:ext>
            </a:extLst>
          </p:cNvPr>
          <p:cNvSpPr>
            <a:spLocks xmlns:a="http://schemas.openxmlformats.org/drawingml/2006/main" noGrp="1"/>
          </p:cNvSpPr>
          <p:nvPr/>
        </p:nvSpPr>
        <p:spPr>
          <a:xfrm xmlns:a="http://schemas.openxmlformats.org/drawingml/2006/main">
            <a:off x="876300" y="2095500"/>
            <a:ext cx="4667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96537"/>
          </a:bodyPr>
          <a:lstStyle xmlns:a="http://schemas.openxmlformats.org/drawingml/2006/main"/>
          <a:p xmlns:a="http://schemas.openxmlformats.org/drawingml/2006/main">
            <a:pPr marL="228600" indent="-114300">
              <a:lnSpc>
                <a:spcPct val="100000"/>
              </a:lnSpc>
              <a:spcAft>
                <a:spcPts val="1000"/>
              </a:spcAft>
              <a:buNone/>
              <a:defRPr sz="1725">
                <a:solidFill>
                  <a:srgbClr val="102A43"/>
                </a:solidFill>
                <a:latin typeface="DejaVu Sans"/>
                <a:ea typeface="DejaVu Sans"/>
                <a:cs typeface="DejaVu Sans"/>
              </a:defRPr>
            </a:pPr>
            <a:r>
              <a:rPr sz="1725">
                <a:solidFill>
                  <a:srgbClr val="102A43"/>
                </a:solidFill>
                <a:latin typeface="DejaVu Sans"/>
                <a:ea typeface="DejaVu Sans"/>
                <a:cs typeface="DejaVu Sans"/>
              </a:rPr>
              <a:t>Typed public interfaces and ownership registry</a:t>
            </a:r>
          </a:p>
          <a:p xmlns:a="http://schemas.openxmlformats.org/drawingml/2006/main">
            <a:pPr marL="228600" indent="-114300">
              <a:lnSpc>
                <a:spcPct val="100000"/>
              </a:lnSpc>
              <a:spcAft>
                <a:spcPts val="1000"/>
              </a:spcAft>
              <a:buNone/>
              <a:defRPr sz="1725">
                <a:solidFill>
                  <a:srgbClr val="102A43"/>
                </a:solidFill>
                <a:latin typeface="DejaVu Sans"/>
                <a:ea typeface="DejaVu Sans"/>
                <a:cs typeface="DejaVu Sans"/>
              </a:defRPr>
            </a:pPr>
            <a:r>
              <a:rPr sz="1725">
                <a:solidFill>
                  <a:srgbClr val="102A43"/>
                </a:solidFill>
                <a:latin typeface="DejaVu Sans"/>
                <a:ea typeface="DejaVu Sans"/>
                <a:cs typeface="DejaVu Sans"/>
              </a:rPr>
              <a:t>Adapters, localization, perception and TF model</a:t>
            </a:r>
          </a:p>
          <a:p xmlns:a="http://schemas.openxmlformats.org/drawingml/2006/main">
            <a:pPr marL="228600" indent="-114300">
              <a:lnSpc>
                <a:spcPct val="100000"/>
              </a:lnSpc>
              <a:spcAft>
                <a:spcPts val="1000"/>
              </a:spcAft>
              <a:buNone/>
              <a:defRPr sz="1725">
                <a:solidFill>
                  <a:srgbClr val="102A43"/>
                </a:solidFill>
                <a:latin typeface="DejaVu Sans"/>
                <a:ea typeface="DejaVu Sans"/>
                <a:cs typeface="DejaVu Sans"/>
              </a:defRPr>
            </a:pPr>
            <a:r>
              <a:rPr sz="1725">
                <a:solidFill>
                  <a:srgbClr val="102A43"/>
                </a:solidFill>
                <a:latin typeface="DejaVu Sans"/>
                <a:ea typeface="DejaVu Sans"/>
                <a:cs typeface="DejaVu Sans"/>
              </a:rPr>
              <a:t>Nav2 RPP pipeline and command arbitration</a:t>
            </a:r>
          </a:p>
          <a:p xmlns:a="http://schemas.openxmlformats.org/drawingml/2006/main">
            <a:pPr marL="228600" indent="-114300">
              <a:lnSpc>
                <a:spcPct val="100000"/>
              </a:lnSpc>
              <a:spcAft>
                <a:spcPts val="1000"/>
              </a:spcAft>
              <a:buNone/>
              <a:defRPr sz="1725">
                <a:solidFill>
                  <a:srgbClr val="102A43"/>
                </a:solidFill>
                <a:latin typeface="DejaVu Sans"/>
                <a:ea typeface="DejaVu Sans"/>
                <a:cs typeface="DejaVu Sans"/>
              </a:defRPr>
            </a:pPr>
            <a:r>
              <a:rPr sz="1725">
                <a:solidFill>
                  <a:srgbClr val="102A43"/>
                </a:solidFill>
                <a:latin typeface="DejaVu Sans"/>
                <a:ea typeface="DejaVu Sans"/>
                <a:cs typeface="DejaVu Sans"/>
              </a:rPr>
              <a:t>Factory cycles for Product 101 and 102</a:t>
            </a:r>
          </a:p>
          <a:p xmlns:a="http://schemas.openxmlformats.org/drawingml/2006/main">
            <a:pPr marL="228600" indent="-114300">
              <a:lnSpc>
                <a:spcPct val="100000"/>
              </a:lnSpc>
              <a:spcAft>
                <a:spcPts val="1000"/>
              </a:spcAft>
              <a:buNone/>
              <a:defRPr sz="1725">
                <a:solidFill>
                  <a:srgbClr val="102A43"/>
                </a:solidFill>
                <a:latin typeface="DejaVu Sans"/>
                <a:ea typeface="DejaVu Sans"/>
                <a:cs typeface="DejaVu Sans"/>
              </a:defRPr>
            </a:pPr>
            <a:r>
              <a:rPr sz="1725">
                <a:solidFill>
                  <a:srgbClr val="102A43"/>
                </a:solidFill>
                <a:latin typeface="DejaVu Sans"/>
                <a:ea typeface="DejaVu Sans"/>
                <a:cs typeface="DejaVu Sans"/>
              </a:rPr>
              <a:t>Fail-closed freshness and interlock gates</a:t>
            </a:r>
          </a:p>
        </p:txBody>
      </p:sp>
      <p:sp>
        <p:nvSpPr>
          <p:cNvPr id="9" name="">
            <a:extLst xmlns:a="http://schemas.openxmlformats.org/drawingml/2006/main">
              <a:ext uri="{FF2B5EF4-FFF2-40B4-BE49-F238E27FC236}">
                <a16:creationId xmlns:a16="http://schemas.microsoft.com/office/drawing/2014/main" id="{D0AF3801-21C3-4179-8F76-A6ACE49EEB1C}"/>
              </a:ext>
            </a:extLst>
          </p:cNvPr>
          <p:cNvSpPr>
            <a:spLocks xmlns:a="http://schemas.openxmlformats.org/drawingml/2006/main" noGrp="1"/>
          </p:cNvSpPr>
          <p:nvPr/>
        </p:nvSpPr>
        <p:spPr>
          <a:xfrm xmlns:a="http://schemas.openxmlformats.org/drawingml/2006/main">
            <a:off x="6524625" y="1857375"/>
            <a:ext cx="5000625" cy="3190875"/>
          </a:xfrm>
          <a:prstGeom xmlns:a="http://schemas.openxmlformats.org/drawingml/2006/main" prst="roundRect">
            <a:avLst>
              <a:gd name="adj" fmla="val 2985"/>
            </a:avLst>
          </a:prstGeom>
          <a:solidFill xmlns:a="http://schemas.openxmlformats.org/drawingml/2006/main">
            <a:srgbClr val="FFF4E5"/>
          </a:solidFill>
          <a:ln xmlns:a="http://schemas.openxmlformats.org/drawingml/2006/main" w="14288">
            <a:solidFill>
              <a:srgbClr val="B96B12"/>
            </a:solidFill>
            <a:prstDash val="solid"/>
          </a:ln>
        </p:spPr>
        <p:txBody>
          <a:bodyPr xmlns:a="http://schemas.openxmlformats.org/drawingml/2006/main" lIns="95250" tIns="76200" rIns="95250" bIns="76200" anchor="ctr">
            <a:normAutofit/>
          </a:bodyPr>
          <a:lstStyle xmlns:a="http://schemas.openxmlformats.org/drawingml/2006/main"/>
          <a:p xmlns:a="http://schemas.openxmlformats.org/drawingml/2006/main">
            <a:r>
              <a:t/>
            </a:r>
          </a:p>
        </p:txBody>
      </p:sp>
      <p:sp>
        <p:nvSpPr>
          <p:cNvPr id="10" name="">
            <a:extLst xmlns:a="http://schemas.openxmlformats.org/drawingml/2006/main">
              <a:ext uri="{FF2B5EF4-FFF2-40B4-BE49-F238E27FC236}">
                <a16:creationId xmlns:a16="http://schemas.microsoft.com/office/drawing/2014/main" id="{387ACAB2-447E-4AE1-ABC3-32E19E7873E4}"/>
              </a:ext>
            </a:extLst>
          </p:cNvPr>
          <p:cNvSpPr>
            <a:spLocks xmlns:a="http://schemas.openxmlformats.org/drawingml/2006/main" noGrp="1"/>
          </p:cNvSpPr>
          <p:nvPr/>
        </p:nvSpPr>
        <p:spPr>
          <a:xfrm xmlns:a="http://schemas.openxmlformats.org/drawingml/2006/main">
            <a:off x="6762750" y="2095500"/>
            <a:ext cx="45243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19050" rIns="38100" bIns="19050" anchor="t">
            <a:normAutofit fontScale="97146"/>
          </a:bodyPr>
          <a:lstStyle xmlns:a="http://schemas.openxmlformats.org/drawingml/2006/main"/>
          <a:p xmlns:a="http://schemas.openxmlformats.org/drawingml/2006/main">
            <a:pPr marL="228600" indent="-114300">
              <a:lnSpc>
                <a:spcPct val="100000"/>
              </a:lnSpc>
              <a:spcAft>
                <a:spcPts val="1000"/>
              </a:spcAft>
              <a:buNone/>
              <a:defRPr sz="1725">
                <a:solidFill>
                  <a:srgbClr val="102A43"/>
                </a:solidFill>
                <a:latin typeface="DejaVu Sans"/>
                <a:ea typeface="DejaVu Sans"/>
                <a:cs typeface="DejaVu Sans"/>
              </a:defRPr>
            </a:pPr>
            <a:r>
              <a:rPr sz="1725">
                <a:solidFill>
                  <a:srgbClr val="102A43"/>
                </a:solidFill>
                <a:latin typeface="DejaVu Sans"/>
                <a:ea typeface="DejaVu Sans"/>
                <a:cs typeface="DejaVu Sans"/>
              </a:rPr>
              <a:t>Fresh Phase 15 mapping runtime proof</a:t>
            </a:r>
          </a:p>
          <a:p xmlns:a="http://schemas.openxmlformats.org/drawingml/2006/main">
            <a:pPr marL="228600" indent="-114300">
              <a:lnSpc>
                <a:spcPct val="100000"/>
              </a:lnSpc>
              <a:spcAft>
                <a:spcPts val="1000"/>
              </a:spcAft>
              <a:buNone/>
              <a:defRPr sz="1725">
                <a:solidFill>
                  <a:srgbClr val="102A43"/>
                </a:solidFill>
                <a:latin typeface="DejaVu Sans"/>
                <a:ea typeface="DejaVu Sans"/>
                <a:cs typeface="DejaVu Sans"/>
              </a:defRPr>
            </a:pPr>
            <a:r>
              <a:rPr sz="1725">
                <a:solidFill>
                  <a:srgbClr val="102A43"/>
                </a:solidFill>
                <a:latin typeface="DejaVu Sans"/>
                <a:ea typeface="DejaVu Sans"/>
                <a:cs typeface="DejaVu Sans"/>
              </a:rPr>
              <a:t>Live per-edge TF ownership and freshness proof</a:t>
            </a:r>
          </a:p>
          <a:p xmlns:a="http://schemas.openxmlformats.org/drawingml/2006/main">
            <a:pPr marL="228600" indent="-114300">
              <a:lnSpc>
                <a:spcPct val="100000"/>
              </a:lnSpc>
              <a:spcAft>
                <a:spcPts val="1000"/>
              </a:spcAft>
              <a:buNone/>
              <a:defRPr sz="1725">
                <a:solidFill>
                  <a:srgbClr val="102A43"/>
                </a:solidFill>
                <a:latin typeface="DejaVu Sans"/>
                <a:ea typeface="DejaVu Sans"/>
                <a:cs typeface="DejaVu Sans"/>
              </a:defRPr>
            </a:pPr>
            <a:r>
              <a:rPr sz="1725">
                <a:solidFill>
                  <a:srgbClr val="102A43"/>
                </a:solidFill>
                <a:latin typeface="DejaVu Sans"/>
                <a:ea typeface="DejaVu Sans"/>
                <a:cs typeface="DejaVu Sans"/>
              </a:rPr>
              <a:t>Quantitative map-quality acceptance</a:t>
            </a:r>
          </a:p>
          <a:p xmlns:a="http://schemas.openxmlformats.org/drawingml/2006/main">
            <a:pPr marL="228600" indent="-114300">
              <a:lnSpc>
                <a:spcPct val="100000"/>
              </a:lnSpc>
              <a:spcAft>
                <a:spcPts val="1000"/>
              </a:spcAft>
              <a:buNone/>
              <a:defRPr sz="1725">
                <a:solidFill>
                  <a:srgbClr val="102A43"/>
                </a:solidFill>
                <a:latin typeface="DejaVu Sans"/>
                <a:ea typeface="DejaVu Sans"/>
                <a:cs typeface="DejaVu Sans"/>
              </a:defRPr>
            </a:pPr>
            <a:r>
              <a:rPr sz="1725">
                <a:solidFill>
                  <a:srgbClr val="102A43"/>
                </a:solidFill>
                <a:latin typeface="DejaVu Sans"/>
                <a:ea typeface="DejaVu Sans"/>
                <a:cs typeface="DejaVu Sans"/>
              </a:rPr>
              <a:t>Candidate-map promotion and canonical replacement</a:t>
            </a:r>
          </a:p>
          <a:p xmlns:a="http://schemas.openxmlformats.org/drawingml/2006/main">
            <a:pPr marL="228600" indent="-114300">
              <a:lnSpc>
                <a:spcPct val="100000"/>
              </a:lnSpc>
              <a:spcAft>
                <a:spcPts val="1000"/>
              </a:spcAft>
              <a:buNone/>
              <a:defRPr sz="1725">
                <a:solidFill>
                  <a:srgbClr val="102A43"/>
                </a:solidFill>
                <a:latin typeface="DejaVu Sans"/>
                <a:ea typeface="DejaVu Sans"/>
                <a:cs typeface="DejaVu Sans"/>
              </a:defRPr>
            </a:pPr>
            <a:r>
              <a:rPr sz="1725">
                <a:solidFill>
                  <a:srgbClr val="102A43"/>
                </a:solidFill>
                <a:latin typeface="DejaVu Sans"/>
                <a:ea typeface="DejaVu Sans"/>
                <a:cs typeface="DejaVu Sans"/>
              </a:rPr>
              <a:t>Hardware and functional-safety acceptance</a:t>
            </a:r>
          </a:p>
        </p:txBody>
      </p:sp>
      <p:sp>
        <p:nvSpPr>
          <p:cNvPr id="11" name="">
            <a:extLst xmlns:a="http://schemas.openxmlformats.org/drawingml/2006/main">
              <a:ext uri="{FF2B5EF4-FFF2-40B4-BE49-F238E27FC236}">
                <a16:creationId xmlns:a16="http://schemas.microsoft.com/office/drawing/2014/main" id="{BC21E54A-FD54-452A-B627-D5DF900749D2}"/>
              </a:ext>
            </a:extLst>
          </p:cNvPr>
          <p:cNvSpPr>
            <a:spLocks xmlns:a="http://schemas.openxmlformats.org/drawingml/2006/main" noGrp="1"/>
          </p:cNvSpPr>
          <p:nvPr/>
        </p:nvSpPr>
        <p:spPr>
          <a:xfrm xmlns:a="http://schemas.openxmlformats.org/drawingml/2006/main">
            <a:off x="1285875" y="5257800"/>
            <a:ext cx="9620250" cy="552450"/>
          </a:xfrm>
          <a:prstGeom xmlns:a="http://schemas.openxmlformats.org/drawingml/2006/main" prst="roundRect">
            <a:avLst>
              <a:gd name="adj" fmla="val 17241"/>
            </a:avLst>
          </a:prstGeom>
          <a:solidFill xmlns:a="http://schemas.openxmlformats.org/drawingml/2006/main">
            <a:srgbClr val="F5F8FA"/>
          </a:solidFill>
          <a:ln xmlns:a="http://schemas.openxmlformats.org/drawingml/2006/main" w="14288">
            <a:solidFill>
              <a:srgbClr val="C9D6E2"/>
            </a:solidFill>
            <a:prstDash val="solid"/>
          </a:ln>
        </p:spPr>
        <p:txBody>
          <a:bodyPr xmlns:a="http://schemas.openxmlformats.org/drawingml/2006/main" lIns="95250" tIns="76200" rIns="95250" bIns="76200" anchor="ctr">
            <a:normAutofit fontScale="83431"/>
          </a:bodyPr>
          <a:lstStyle xmlns:a="http://schemas.openxmlformats.org/drawingml/2006/main"/>
          <a:p xmlns:a="http://schemas.openxmlformats.org/drawingml/2006/main">
            <a:pPr algn="ctr">
              <a:lnSpc>
                <a:spcPct val="95000"/>
              </a:lnSpc>
              <a:buNone/>
              <a:defRPr sz="1425" b="1">
                <a:solidFill>
                  <a:srgbClr val="334E68"/>
                </a:solidFill>
                <a:latin typeface="DejaVu Sans"/>
                <a:ea typeface="DejaVu Sans"/>
                <a:cs typeface="DejaVu Sans"/>
              </a:defRPr>
            </a:pPr>
            <a:r>
              <a:rPr sz="1425" b="1">
                <a:solidFill>
                  <a:srgbClr val="334E68"/>
                </a:solidFill>
                <a:latin typeface="DejaVu Sans"/>
                <a:ea typeface="DejaVu Sans"/>
                <a:cs typeface="DejaVu Sans"/>
              </a:rPr>
              <a:t>Contract gap: /amr/mission/navigate_to_pose_retreat exists in source but is absent from the ownership registry</a:t>
            </a:r>
          </a:p>
        </p:txBody>
      </p:sp>
      <p:sp>
        <p:nvSpPr>
          <p:cNvPr id="12" name="">
            <a:extLst xmlns:a="http://schemas.openxmlformats.org/drawingml/2006/main">
              <a:ext uri="{FF2B5EF4-FFF2-40B4-BE49-F238E27FC236}">
                <a16:creationId xmlns:a16="http://schemas.microsoft.com/office/drawing/2014/main" id="{4E106AD0-C842-4EFF-8121-A7B62B632092}"/>
              </a:ext>
            </a:extLst>
          </p:cNvPr>
          <p:cNvSpPr>
            <a:spLocks xmlns:a="http://schemas.openxmlformats.org/drawingml/2006/main" noGrp="1"/>
          </p:cNvSpPr>
          <p:nvPr/>
        </p:nvSpPr>
        <p:spPr>
          <a:xfrm xmlns:a="http://schemas.openxmlformats.org/drawingml/2006/main">
            <a:off x="1809750" y="5953125"/>
            <a:ext cx="857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38100" tIns="38100" rIns="38100" bIns="38100" anchor="ctr">
            <a:noAutofit/>
          </a:bodyPr>
          <a:lstStyle xmlns:a="http://schemas.openxmlformats.org/drawingml/2006/main"/>
          <a:p xmlns:a="http://schemas.openxmlformats.org/drawingml/2006/main">
            <a:pPr algn="ctr">
              <a:lnSpc>
                <a:spcPct val="100000"/>
              </a:lnSpc>
              <a:buNone/>
              <a:defRPr sz="2025" b="1">
                <a:solidFill>
                  <a:srgbClr val="0077B6"/>
                </a:solidFill>
                <a:latin typeface="DejaVu Sans"/>
                <a:ea typeface="DejaVu Sans"/>
                <a:cs typeface="DejaVu Sans"/>
              </a:defRPr>
            </a:pPr>
            <a:r>
              <a:rPr sz="2025" b="1">
                <a:solidFill>
                  <a:srgbClr val="0077B6"/>
                </a:solidFill>
                <a:latin typeface="DejaVu Sans"/>
                <a:ea typeface="DejaVu Sans"/>
                <a:cs typeface="DejaVu Sans"/>
              </a:rPr>
              <a:t>Typed interfaces + explicit ownership + gated motion</a:t>
            </a:r>
          </a:p>
        </p:txBody>
      </p:sp>
    </p:spTree>
    <p:extLst>
      <p:ext uri="{BB962C8B-B14F-4D97-AF65-F5344CB8AC3E}">
        <p14:creationId xmlns:p14="http://schemas.microsoft.com/office/powerpoint/2010/main" val="7261091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2026-09-10T17:06:40.6880000Z</dcterms:created>
  <dcterms:modified xsi:type="dcterms:W3CDTF">2026-09-10T17:06:40.6880000Z</dcterms:modified>
</coreProperties>
</file>