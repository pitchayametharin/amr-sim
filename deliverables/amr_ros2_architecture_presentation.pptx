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0bcfe76daa4f69" /><Relationship Type="http://schemas.openxmlformats.org/officeDocument/2006/relationships/extended-properties" Target="/docProps/app.xml" Id="Rf42ab54b23714f70" /><Relationship Type="http://schemas.openxmlformats.org/officeDocument/2006/relationships/officeDocument" Target="/ppt/presentation.xml" Id="R79783247da224441" /></Relationships>
</file>

<file path=ppt/presentation.xml><?xml version="1.0" encoding="utf-8"?>
<p:presentation xmlns:p="http://schemas.openxmlformats.org/presentationml/2006/main">
  <p:sldMasterIdLst>
    <p:sldMasterId xmlns:r="http://schemas.openxmlformats.org/officeDocument/2006/relationships" id="2147483648" r:id="R80b3aa5e7b0e42b9"/>
  </p:sldMasterIdLst>
  <p:notesMasterIdLst>
    <p:notesMasterId xmlns:r="http://schemas.openxmlformats.org/officeDocument/2006/relationships" r:id="Rfb89dd29648e4747"/>
  </p:notesMasterIdLst>
  <p:sldIdLst>
    <p:sldId xmlns:r="http://schemas.openxmlformats.org/officeDocument/2006/relationships" id="256" r:id="R92703de8b24f486a"/>
    <p:sldId xmlns:r="http://schemas.openxmlformats.org/officeDocument/2006/relationships" id="257" r:id="R412407b465f6433f"/>
    <p:sldId xmlns:r="http://schemas.openxmlformats.org/officeDocument/2006/relationships" id="258" r:id="R6f10ccfba7fb4ef9"/>
    <p:sldId xmlns:r="http://schemas.openxmlformats.org/officeDocument/2006/relationships" id="259" r:id="Rac032ed9a84f4dad"/>
    <p:sldId xmlns:r="http://schemas.openxmlformats.org/officeDocument/2006/relationships" id="260" r:id="R7ef920f784834676"/>
    <p:sldId xmlns:r="http://schemas.openxmlformats.org/officeDocument/2006/relationships" id="261" r:id="R6a4928cafde54cc8"/>
    <p:sldId xmlns:r="http://schemas.openxmlformats.org/officeDocument/2006/relationships" id="262" r:id="R7cb47065834c4023"/>
    <p:sldId xmlns:r="http://schemas.openxmlformats.org/officeDocument/2006/relationships" id="263" r:id="R1d581a95f80a46ae"/>
    <p:sldId xmlns:r="http://schemas.openxmlformats.org/officeDocument/2006/relationships" id="264" r:id="Rd92cc280ea974ad1"/>
    <p:sldId xmlns:r="http://schemas.openxmlformats.org/officeDocument/2006/relationships" id="265" r:id="R15584e7719624374"/>
    <p:sldId xmlns:r="http://schemas.openxmlformats.org/officeDocument/2006/relationships" id="266" r:id="Rbc24a464a8a340c2"/>
    <p:sldId xmlns:r="http://schemas.openxmlformats.org/officeDocument/2006/relationships" id="267" r:id="Re2f222d34408469a"/>
    <p:sldId xmlns:r="http://schemas.openxmlformats.org/officeDocument/2006/relationships" id="268" r:id="R0bbc2f94e9044f57"/>
    <p:sldId xmlns:r="http://schemas.openxmlformats.org/officeDocument/2006/relationships" id="269" r:id="Rbcd275781a8a468b"/>
    <p:sldId xmlns:r="http://schemas.openxmlformats.org/officeDocument/2006/relationships" id="270" r:id="R572f333a5f814a6b"/>
    <p:sldId xmlns:r="http://schemas.openxmlformats.org/officeDocument/2006/relationships" id="271" r:id="Reb3bb91bf8344af8"/>
    <p:sldId xmlns:r="http://schemas.openxmlformats.org/officeDocument/2006/relationships" id="272" r:id="R02be4aa19e164502"/>
    <p:sldId xmlns:r="http://schemas.openxmlformats.org/officeDocument/2006/relationships" id="273" r:id="R5318413c8e8a4638"/>
    <p:sldId xmlns:r="http://schemas.openxmlformats.org/officeDocument/2006/relationships" id="274" r:id="R3e90346ceb6544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992af81baa484e" /><Relationship Type="http://schemas.openxmlformats.org/officeDocument/2006/relationships/slideMaster" Target="/ppt/slideMasters/slideMaster1.xml" Id="R80b3aa5e7b0e42b9" /><Relationship Type="http://schemas.openxmlformats.org/officeDocument/2006/relationships/notesMaster" Target="/ppt/notesMasters/notesMaster1.xml" Id="Rfb89dd29648e4747" /><Relationship Type="http://schemas.openxmlformats.org/officeDocument/2006/relationships/presProps" Target="/ppt/presProps.xml" Id="Ra7fcbfb6b2b34cf8" /><Relationship Type="http://schemas.openxmlformats.org/officeDocument/2006/relationships/tableStyles" Target="/ppt/tableStyles.xml" Id="R1a3a15a8b2e94fb6" /><Relationship Type="http://schemas.openxmlformats.org/officeDocument/2006/relationships/slide" Target="/ppt/slides/slide1.xml" Id="R92703de8b24f486a" /><Relationship Type="http://schemas.openxmlformats.org/officeDocument/2006/relationships/slide" Target="/ppt/slides/slide2.xml" Id="R412407b465f6433f" /><Relationship Type="http://schemas.openxmlformats.org/officeDocument/2006/relationships/slide" Target="/ppt/slides/slide3.xml" Id="R6f10ccfba7fb4ef9" /><Relationship Type="http://schemas.openxmlformats.org/officeDocument/2006/relationships/slide" Target="/ppt/slides/slide4.xml" Id="Rac032ed9a84f4dad" /><Relationship Type="http://schemas.openxmlformats.org/officeDocument/2006/relationships/slide" Target="/ppt/slides/slide5.xml" Id="R7ef920f784834676" /><Relationship Type="http://schemas.openxmlformats.org/officeDocument/2006/relationships/slide" Target="/ppt/slides/slide6.xml" Id="R6a4928cafde54cc8" /><Relationship Type="http://schemas.openxmlformats.org/officeDocument/2006/relationships/slide" Target="/ppt/slides/slide7.xml" Id="R7cb47065834c4023" /><Relationship Type="http://schemas.openxmlformats.org/officeDocument/2006/relationships/slide" Target="/ppt/slides/slide8.xml" Id="R1d581a95f80a46ae" /><Relationship Type="http://schemas.openxmlformats.org/officeDocument/2006/relationships/slide" Target="/ppt/slides/slide9.xml" Id="Rd92cc280ea974ad1" /><Relationship Type="http://schemas.openxmlformats.org/officeDocument/2006/relationships/slide" Target="/ppt/slides/slide10.xml" Id="R15584e7719624374" /><Relationship Type="http://schemas.openxmlformats.org/officeDocument/2006/relationships/slide" Target="/ppt/slides/slide11.xml" Id="Rbc24a464a8a340c2" /><Relationship Type="http://schemas.openxmlformats.org/officeDocument/2006/relationships/slide" Target="/ppt/slides/slide12.xml" Id="Re2f222d34408469a" /><Relationship Type="http://schemas.openxmlformats.org/officeDocument/2006/relationships/slide" Target="/ppt/slides/slide13.xml" Id="R0bbc2f94e9044f57" /><Relationship Type="http://schemas.openxmlformats.org/officeDocument/2006/relationships/slide" Target="/ppt/slides/slide14.xml" Id="Rbcd275781a8a468b" /><Relationship Type="http://schemas.openxmlformats.org/officeDocument/2006/relationships/slide" Target="/ppt/slides/slide15.xml" Id="R572f333a5f814a6b" /><Relationship Type="http://schemas.openxmlformats.org/officeDocument/2006/relationships/slide" Target="/ppt/slides/slide16.xml" Id="Reb3bb91bf8344af8" /><Relationship Type="http://schemas.openxmlformats.org/officeDocument/2006/relationships/slide" Target="/ppt/slides/slide17.xml" Id="R02be4aa19e164502" /><Relationship Type="http://schemas.openxmlformats.org/officeDocument/2006/relationships/slide" Target="/ppt/slides/slide18.xml" Id="R5318413c8e8a4638" /><Relationship Type="http://schemas.openxmlformats.org/officeDocument/2006/relationships/slide" Target="/ppt/slides/slide19.xml" Id="R3e90346ceb6544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8be991824041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dd9c13ebb24e01" /><Relationship Type="http://schemas.openxmlformats.org/officeDocument/2006/relationships/notesMaster" Target="/ppt/notesMasters/notesMaster1.xml" Id="R831ececa8a1841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c3d11541ab4cdf" /><Relationship Type="http://schemas.openxmlformats.org/officeDocument/2006/relationships/notesMaster" Target="/ppt/notesMasters/notesMaster1.xml" Id="R2d95fefbe0ca4f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7c9710e1184da4" /><Relationship Type="http://schemas.openxmlformats.org/officeDocument/2006/relationships/notesMaster" Target="/ppt/notesMasters/notesMaster1.xml" Id="R771734740f0d40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efd1c47a38492c" /><Relationship Type="http://schemas.openxmlformats.org/officeDocument/2006/relationships/notesMaster" Target="/ppt/notesMasters/notesMaster1.xml" Id="R77eaf3290c7e43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16e027460a4b04" /><Relationship Type="http://schemas.openxmlformats.org/officeDocument/2006/relationships/notesMaster" Target="/ppt/notesMasters/notesMaster1.xml" Id="R09957fb753604c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3bb1a4cf524f0a" /><Relationship Type="http://schemas.openxmlformats.org/officeDocument/2006/relationships/notesMaster" Target="/ppt/notesMasters/notesMaster1.xml" Id="R306fe4f5312640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f1b58c531b4f6f" /><Relationship Type="http://schemas.openxmlformats.org/officeDocument/2006/relationships/notesMaster" Target="/ppt/notesMasters/notesMaster1.xml" Id="R1ee15b252c9849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f0f9137d734ef6" /><Relationship Type="http://schemas.openxmlformats.org/officeDocument/2006/relationships/notesMaster" Target="/ppt/notesMasters/notesMaster1.xml" Id="R03bccad982a54a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a100892ced4969" /><Relationship Type="http://schemas.openxmlformats.org/officeDocument/2006/relationships/notesMaster" Target="/ppt/notesMasters/notesMaster1.xml" Id="R91f1bbd6748649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cbd4c7ac865422e" /><Relationship Type="http://schemas.openxmlformats.org/officeDocument/2006/relationships/notesMaster" Target="/ppt/notesMasters/notesMaster1.xml" Id="R1f06b4d43c8543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15dbf556d54556" /><Relationship Type="http://schemas.openxmlformats.org/officeDocument/2006/relationships/notesMaster" Target="/ppt/notesMasters/notesMaster1.xml" Id="R678cee4a85e445c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dc7418156684eaf" /><Relationship Type="http://schemas.openxmlformats.org/officeDocument/2006/relationships/notesMaster" Target="/ppt/notesMasters/notesMaster1.xml" Id="R7c8894671c11422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a0dbd759714a46" /><Relationship Type="http://schemas.openxmlformats.org/officeDocument/2006/relationships/notesMaster" Target="/ppt/notesMasters/notesMaster1.xml" Id="R2dedffe3b35f4a5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28395579c444888" /><Relationship Type="http://schemas.openxmlformats.org/officeDocument/2006/relationships/notesMaster" Target="/ppt/notesMasters/notesMaster1.xml" Id="R8e9ea62adb0c41c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3e36c3b231a4902" /><Relationship Type="http://schemas.openxmlformats.org/officeDocument/2006/relationships/notesMaster" Target="/ppt/notesMasters/notesMaster1.xml" Id="R21d061ffd891473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87cfea64b664e47" /><Relationship Type="http://schemas.openxmlformats.org/officeDocument/2006/relationships/notesMaster" Target="/ppt/notesMasters/notesMaster1.xml" Id="R5d4c49a7e57941f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bad278ea5814bdc" /><Relationship Type="http://schemas.openxmlformats.org/officeDocument/2006/relationships/notesMaster" Target="/ppt/notesMasters/notesMaster1.xml" Id="R81e63de82d4d472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a0e447f75744c65" /><Relationship Type="http://schemas.openxmlformats.org/officeDocument/2006/relationships/notesMaster" Target="/ppt/notesMasters/notesMaster1.xml" Id="R6ed1cd89ba9c463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1222634e622405f" /><Relationship Type="http://schemas.openxmlformats.org/officeDocument/2006/relationships/notesMaster" Target="/ppt/notesMasters/notesMaster1.xml" Id="R83d8963e329c4a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introduce the deck as a software architecture explanation.</a:t>
            </a:r>
          </a:p>
          <a:p xmlns:a="http://schemas.openxmlformats.org/drawingml/2006/main">
            <a:r>
              <a:t/>
            </a:r>
          </a:p>
          <a:p xmlns:a="http://schemas.openxmlformats.org/drawingml/2006/main">
            <a:r>
              <a:t>Say: This project is a ROS 2 Humble and Gazebo Harmonic simulation of an autonomous mobile robot with a mounted manipulator. The deck explains how sensing, localization, navigation, manipulation and safety boundaries work together.</a:t>
            </a:r>
          </a:p>
          <a:p xmlns:a="http://schemas.openxmlformats.org/drawingml/2006/main">
            <a:r>
              <a:t/>
            </a:r>
          </a:p>
          <a:p xmlns:a="http://schemas.openxmlformats.org/drawingml/2006/main">
            <a:r>
              <a:t>Emphasize: The scope is simulation. The deck describes the current source tree and does not make a hardware or functional-safety claim.</a:t>
            </a:r>
          </a:p>
          <a:p xmlns:a="http://schemas.openxmlformats.org/drawingml/2006/main">
            <a:r>
              <a:t/>
            </a:r>
          </a:p>
          <a:p xmlns:a="http://schemas.openxmlformats.org/drawingml/2006/main">
            <a:r>
              <a:t>Source basis: AGENTS.md; SESSION_HANDOFF.md; src/README.md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define what the project contains and why the graph has more than one runtime mode.</a:t>
            </a:r>
          </a:p>
          <a:p xmlns:a="http://schemas.openxmlformats.org/drawingml/2006/main">
            <a:r>
              <a:t/>
            </a:r>
          </a:p>
          <a:p xmlns:a="http://schemas.openxmlformats.org/drawingml/2006/main">
            <a:r>
              <a:t>Explain: The primary project set is the 17 packages under src/. Mapping and exploration use SLAM Toolbox to own map → odom. Factory localization uses AMCL and a saved map to own map → odom. MoveIt handles the arm and gripper while mobile base motion remains under Nav2 and command arbitration.</a:t>
            </a:r>
          </a:p>
          <a:p xmlns:a="http://schemas.openxmlformats.org/drawingml/2006/main">
            <a:r>
              <a:t/>
            </a:r>
          </a:p>
          <a:p xmlns:a="http://schemas.openxmlformats.org/drawingml/2006/main">
            <a:r>
              <a:t>Key point: TF and command ownership changes by mode, but each active boundary has one owner. That prevents competing transforms and conflicting motion commands.</a:t>
            </a:r>
          </a:p>
          <a:p xmlns:a="http://schemas.openxmlformats.org/drawingml/2006/main">
            <a:r>
              <a:t/>
            </a:r>
          </a:p>
          <a:p xmlns:a="http://schemas.openxmlformats.org/drawingml/2006/main">
            <a:r>
              <a:t>Source basis: src/README.md; src/amr_bringup/config/interface_ownership.yaml; src/amr_slam/config/mapper.yaml; src/amr_factory/config/amcl.yaml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show the whole ROS 2 workflow before explaining individual subsystems.</a:t>
            </a:r>
          </a:p>
          <a:p xmlns:a="http://schemas.openxmlformats.org/drawingml/2006/main">
            <a:r>
              <a:t/>
            </a:r>
          </a:p>
          <a:p xmlns:a="http://schemas.openxmlformats.org/drawingml/2006/main">
            <a:r>
              <a:t>Read the upper path from Gazebo sensors through adapters, state estimation, localization, Nav2, RPP and the base command boundary. The lower branch shows that the mission or factory supervisor sends navigation actions, while MoveIt controls the arm trajectory.</a:t>
            </a:r>
          </a:p>
          <a:p xmlns:a="http://schemas.openxmlformats.org/drawingml/2006/main">
            <a:r>
              <a:t/>
            </a:r>
          </a:p>
          <a:p xmlns:a="http://schemas.openxmlformats.org/drawingml/2006/main">
            <a:r>
              <a:t>Clarify: The diagram is a simplified teaching view. Sensor and localization streams run in parallel in the actual graph. The exact two-LiDAR routing appears on slide 9.</a:t>
            </a:r>
          </a:p>
          <a:p xmlns:a="http://schemas.openxmlformats.org/drawingml/2006/main">
            <a:r>
              <a:t/>
            </a:r>
          </a:p>
          <a:p xmlns:a="http://schemas.openxmlformats.org/drawingml/2006/main">
            <a:r>
              <a:t>Key point: Nav2 produces a velocity request. Project-owned arbitration, the base adapter and the Gazebo watchdog decide whether the base can accept motion.</a:t>
            </a:r>
          </a:p>
          <a:p xmlns:a="http://schemas.openxmlformats.org/drawingml/2006/main">
            <a:r>
              <a:t/>
            </a:r>
          </a:p>
          <a:p xmlns:a="http://schemas.openxmlformats.org/drawingml/2006/main">
            <a:r>
              <a:t>Source basis: src/amr_bringup/config/interface_ownership.yaml; src/amr_navigation/config/planner.yaml; src/amr_mpc_controller/config/controller.yaml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what the AMR can do as an operating loop.</a:t>
            </a:r>
          </a:p>
          <a:p xmlns:a="http://schemas.openxmlformats.org/drawingml/2006/main">
            <a:r>
              <a:t/>
            </a:r>
          </a:p>
          <a:p xmlns:a="http://schemas.openxmlformats.org/drawingml/2006/main">
            <a:r>
              <a:t>Walk through the stages: sensors provide observations; EKF and map localization provide pose; Nav2 plans and follows paths; MoveIt performs arm and gripper actions; supervisors verify freshness, collision, cancellation and terminal state.</a:t>
            </a:r>
          </a:p>
          <a:p xmlns:a="http://schemas.openxmlformats.org/drawingml/2006/main">
            <a:r>
              <a:t/>
            </a:r>
          </a:p>
          <a:p xmlns:a="http://schemas.openxmlformats.org/drawingml/2006/main">
            <a:r>
              <a:t>Scope note: the current registry-driven autonomous factory scope is Product 101 and Product 102. Product 103, Gate 7, physical hardware and functional-safety acceptance remain outside the documented scope.</a:t>
            </a:r>
          </a:p>
          <a:p xmlns:a="http://schemas.openxmlformats.org/drawingml/2006/main">
            <a:r>
              <a:t/>
            </a:r>
          </a:p>
          <a:p xmlns:a="http://schemas.openxmlformats.org/drawingml/2006/main">
            <a:r>
              <a:t>Source basis: src/amr_factory/launch/factory_autonomous.launch.py; src/amr_factory/scripts/factory_cli.py; src/amr_bringup/config/interface_ownership.yaml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connect the robot model to TF, sensors, Gazebo and MoveIt.</a:t>
            </a:r>
          </a:p>
          <a:p xmlns:a="http://schemas.openxmlformats.org/drawingml/2006/main">
            <a:r>
              <a:t/>
            </a:r>
          </a:p>
          <a:p xmlns:a="http://schemas.openxmlformats.org/drawingml/2006/main">
            <a:r>
              <a:t>Explain: amr.urdf.xacro defines the base, wheels, casters, LiDAR links, IMU link and Gazebo base plugins. phase14_mobile_manipulator.urdf.xacro includes that base and adds the KUKA KR6 R900-2 arm, gripper, product camera, optional product and attachment interfaces.</a:t>
            </a:r>
          </a:p>
          <a:p xmlns:a="http://schemas.openxmlformats.org/drawingml/2006/main">
            <a:r>
              <a:t/>
            </a:r>
          </a:p>
          <a:p xmlns:a="http://schemas.openxmlformats.org/drawingml/2006/main">
            <a:r>
              <a:t>Read the TF chain as map → odom → base_footprint → base_link. The sensor and arm frames branch from base_link. The robot description defines the physical relationships; SLAM, AMCL and EKF publish the runtime transforms.</a:t>
            </a:r>
          </a:p>
          <a:p xmlns:a="http://schemas.openxmlformats.org/drawingml/2006/main">
            <a:r>
              <a:t/>
            </a:r>
          </a:p>
          <a:p xmlns:a="http://schemas.openxmlformats.org/drawingml/2006/main">
            <a:r>
              <a:t>Source basis: src/amr_description/urdf/amr.urdf.xacro; src/amr_description/urdf/phase14_mobile_manipulator.urdf.xacro; src/amr_manipulation/launch/move_group.launch.py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show the stable ROS interfaces between simulated sensors and consumers.</a:t>
            </a:r>
          </a:p>
          <a:p xmlns:a="http://schemas.openxmlformats.org/drawingml/2006/main">
            <a:r>
              <a:t/>
            </a:r>
          </a:p>
          <a:p xmlns:a="http://schemas.openxmlformats.org/drawingml/2006/main">
            <a:r>
              <a:t>Explain each row: the front scan feeds SLAM and the front perception path; the rear point cloud feeds rear perception and both costmaps; IMU data goes to the EKF; base odometry and joint states support localization, controllers and MoveIt; camera topics support product perception.</a:t>
            </a:r>
          </a:p>
          <a:p xmlns:a="http://schemas.openxmlformats.org/drawingml/2006/main">
            <a:r>
              <a:t/>
            </a:r>
          </a:p>
          <a:p xmlns:a="http://schemas.openxmlformats.org/drawingml/2006/main">
            <a:r>
              <a:t>Important detail: the adapter layer gives the rest of the system project-owned topic names and preserves the sensor frame. The perception pipeline rejects malformed, stale, future or non-monotonic clouds.</a:t>
            </a:r>
          </a:p>
          <a:p xmlns:a="http://schemas.openxmlformats.org/drawingml/2006/main">
            <a:r>
              <a:t/>
            </a:r>
          </a:p>
          <a:p xmlns:a="http://schemas.openxmlformats.org/drawingml/2006/main">
            <a:r>
              <a:t>Source basis: src/amr_bringup/config/interface_ownership.yaml; src/amr_sensor_adapters/src/lidar_adapter_node.cpp; src/amr_perception/src/lidar_pipeline_node.cpp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what sensor fusion means in this project.</a:t>
            </a:r>
          </a:p>
          <a:p xmlns:a="http://schemas.openxmlformats.org/drawingml/2006/main">
            <a:r>
              <a:t/>
            </a:r>
          </a:p>
          <a:p xmlns:a="http://schemas.openxmlformats.org/drawingml/2006/main">
            <a:r>
              <a:t>The EKF combines wheel odometry with IMU yaw and yaw rate. It runs as a planar filter at 30 Hz, uses a 0.2 second sensor timeout and publishes the fused odometry topic plus odom → base_footprint.</a:t>
            </a:r>
          </a:p>
          <a:p xmlns:a="http://schemas.openxmlformats.org/drawingml/2006/main">
            <a:r>
              <a:t/>
            </a:r>
          </a:p>
          <a:p xmlns:a="http://schemas.openxmlformats.org/drawingml/2006/main">
            <a:r>
              <a:t>Explain the boundary: this improves the local motion estimate used by controllers and navigation. It does not build a map or decide the robot’s global map position. SLAM Toolbox or AMCL supplies the separate map → odom relationship.</a:t>
            </a:r>
          </a:p>
          <a:p xmlns:a="http://schemas.openxmlformats.org/drawingml/2006/main">
            <a:r>
              <a:t/>
            </a:r>
          </a:p>
          <a:p xmlns:a="http://schemas.openxmlformats.org/drawingml/2006/main">
            <a:r>
              <a:t>Source basis: src/amr_localization/config/ekf.yaml; src/amr_localization/launch/amr_localization.launch.py; src/amr_bringup/config/interface_ownership.yaml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localization as a TF ownership problem.</a:t>
            </a:r>
          </a:p>
          <a:p xmlns:a="http://schemas.openxmlformats.org/drawingml/2006/main">
            <a:r>
              <a:t/>
            </a:r>
          </a:p>
          <a:p xmlns:a="http://schemas.openxmlformats.org/drawingml/2006/main">
            <a:r>
              <a:t>Both modes use the same chain from odom to base_footprint. In mapping or exploration, SLAM Toolbox uses the front scan and odometry to build the map and publish map → odom. In factory mode, AMCL matches the saved map using sensor observations and odometry and publishes map → odom.</a:t>
            </a:r>
          </a:p>
          <a:p xmlns:a="http://schemas.openxmlformats.org/drawingml/2006/main">
            <a:r>
              <a:t/>
            </a:r>
          </a:p>
          <a:p xmlns:a="http://schemas.openxmlformats.org/drawingml/2006/main">
            <a:r>
              <a:t>Key point: SLAM and AMCL must not publish the global transform at the same time in one runtime mode. The interface ownership contract makes the active owner explicit.</a:t>
            </a:r>
          </a:p>
          <a:p xmlns:a="http://schemas.openxmlformats.org/drawingml/2006/main">
            <a:r>
              <a:t/>
            </a:r>
          </a:p>
          <a:p xmlns:a="http://schemas.openxmlformats.org/drawingml/2006/main">
            <a:r>
              <a:t>Source basis: src/amr_bringup/config/interface_ownership.yaml; src/amr_slam/config/mapper.yaml; src/amr_factory/config/amcl.yaml; src/amr_localization/config/ekf.yaml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answer the two-LiDAR question precisely.</a:t>
            </a:r>
          </a:p>
          <a:p xmlns:a="http://schemas.openxmlformats.org/drawingml/2006/main">
            <a:r>
              <a:t/>
            </a:r>
          </a:p>
          <a:p xmlns:a="http://schemas.openxmlformats.org/drawingml/2006/main">
            <a:r>
              <a:t>The current implementation does not concatenate the front and rear scans into one scan for SLAM Toolbox. SLAM Toolbox consumes the front LaserScan. The front and rear adapted PointCloud2 streams go through separate perception pipelines and then enter Nav2 obstacle layers as front_points and rear_points.</a:t>
            </a:r>
          </a:p>
          <a:p xmlns:a="http://schemas.openxmlformats.org/drawingml/2006/main">
            <a:r>
              <a:t/>
            </a:r>
          </a:p>
          <a:p xmlns:a="http://schemas.openxmlformats.org/drawingml/2006/main">
            <a:r>
              <a:t>Explain why this does not interfere: the sensors have distinct topics and frames, each adapter preserves the source frame, the perception nodes have no motion authority, and stale or future clouds are rejected.</a:t>
            </a:r>
          </a:p>
          <a:p xmlns:a="http://schemas.openxmlformats.org/drawingml/2006/main">
            <a:r>
              <a:t/>
            </a:r>
          </a:p>
          <a:p xmlns:a="http://schemas.openxmlformats.org/drawingml/2006/main">
            <a:r>
              <a:t>Source basis: src/amr_slam/config/mapper.yaml; src/amr_slam/launch/amr_slam.launch.py; src/amr_sensor_adapters/src/lidar_adapter_node.cpp; src/amr_perception/src/lidar_pipeline_node.cpp; src/amr_navigation/config/planner.yaml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what Nav2 contributes.</a:t>
            </a:r>
          </a:p>
          <a:p xmlns:a="http://schemas.openxmlformats.org/drawingml/2006/main">
            <a:r>
              <a:t/>
            </a:r>
          </a:p>
          <a:p xmlns:a="http://schemas.openxmlformats.org/drawingml/2006/main">
            <a:r>
              <a:t>A mission or factory supervisor sends a NavigateToPose action. The planner server selects a path planner, the smoother server refines the path, and the controller server runs the active FollowPath or placement controller. The output is /amr/mpc/cmd_vel.</a:t>
            </a:r>
          </a:p>
          <a:p xmlns:a="http://schemas.openxmlformats.org/drawingml/2006/main">
            <a:r>
              <a:t/>
            </a:r>
          </a:p>
          <a:p xmlns:a="http://schemas.openxmlformats.org/drawingml/2006/main">
            <a:r>
              <a:t>Current planner details: GridBased uses SmacPlannerLattice, ExactGoalLattice is project-owned for exact endpoints, and PrecisionNavfnPlanner is project-owned for docking precision. SimpleSmoother is the active smoother.</a:t>
            </a:r>
          </a:p>
          <a:p xmlns:a="http://schemas.openxmlformats.org/drawingml/2006/main">
            <a:r>
              <a:t/>
            </a:r>
          </a:p>
          <a:p xmlns:a="http://schemas.openxmlformats.org/drawingml/2006/main">
            <a:r>
              <a:t>Key point: Nav2 is responsible for navigation planning and path following. It does not bypass the project-owned command arbitration boundary.</a:t>
            </a:r>
          </a:p>
          <a:p xmlns:a="http://schemas.openxmlformats.org/drawingml/2006/main">
            <a:r>
              <a:t/>
            </a:r>
          </a:p>
          <a:p xmlns:a="http://schemas.openxmlformats.org/drawingml/2006/main">
            <a:r>
              <a:t>Source basis: src/amr_navigation/config/planner.yaml; src/amr_navigation/precision_planner_plugin.xml; src/amr_mpc_controller/config/controller.yaml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RPP and its location in the graph.</a:t>
            </a:r>
          </a:p>
          <a:p xmlns:a="http://schemas.openxmlformats.org/drawingml/2006/main">
            <a:r>
              <a:t/>
            </a:r>
          </a:p>
          <a:p xmlns:a="http://schemas.openxmlformats.org/drawingml/2006/main">
            <a:r>
              <a:t>Regulated Pure Pursuit chooses a lookahead point on the path, converts the path geometry into curvature and scales speed using collision and cost information. It produces a bounded Twist request.</a:t>
            </a:r>
          </a:p>
          <a:p xmlns:a="http://schemas.openxmlformats.org/drawingml/2006/main">
            <a:r>
              <a:t/>
            </a:r>
          </a:p>
          <a:p xmlns:a="http://schemas.openxmlformats.org/drawingml/2006/main">
            <a:r>
              <a:t>Normal navigation loads amr_mpc_controller::HeadingLatchedRPP with a 0.50 m/s desired speed and velocity-scaled lookahead between 0.30 and 0.90 m. Precision placement uses the native Nav2 RegulatedPurePursuitController at 0.10 m/s and allows reversing for tight placement.</a:t>
            </a:r>
          </a:p>
          <a:p xmlns:a="http://schemas.openxmlformats.org/drawingml/2006/main">
            <a:r>
              <a:t/>
            </a:r>
          </a:p>
          <a:p xmlns:a="http://schemas.openxmlformats.org/drawingml/2006/main">
            <a:r>
              <a:t>Clarify: the package name contains mpc for compatibility. The current FollowPath plugin is RPP-based; it is not an MPC solver.</a:t>
            </a:r>
          </a:p>
          <a:p xmlns:a="http://schemas.openxmlformats.org/drawingml/2006/main">
            <a:r>
              <a:t/>
            </a:r>
          </a:p>
          <a:p xmlns:a="http://schemas.openxmlformats.org/drawingml/2006/main">
            <a:r>
              <a:t>Source basis: src/amr_mpc_controller/config/controller.yaml; src/amr_mpc_controller/include; src/amr_mpc_controller/src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distinguish the global and local costmaps.</a:t>
            </a:r>
          </a:p>
          <a:p xmlns:a="http://schemas.openxmlformats.org/drawingml/2006/main">
            <a:r>
              <a:t/>
            </a:r>
          </a:p>
          <a:p xmlns:a="http://schemas.openxmlformats.org/drawingml/2006/main">
            <a:r>
              <a:t>The global costmap uses map, includes the static map and plans over the larger known environment. The local costmap uses odom, rolls with the robot and reacts quickly to nearby obstacles. Both use front and rear PointCloud2 observations.</a:t>
            </a:r>
          </a:p>
          <a:p xmlns:a="http://schemas.openxmlformats.org/drawingml/2006/main">
            <a:r>
              <a:t/>
            </a:r>
          </a:p>
          <a:p xmlns:a="http://schemas.openxmlformats.org/drawingml/2006/main">
            <a:r>
              <a:t>Current configuration: 0.05 m resolution, 0.75 m inflation radius, a rectangular footprint of x ±0.60 m and y ±0.40 m with 0.01 m padding. The global map updates at 2 Hz and publishes at 1 Hz; the local window updates at 5 Hz and publishes at 2 Hz.</a:t>
            </a:r>
          </a:p>
          <a:p xmlns:a="http://schemas.openxmlformats.org/drawingml/2006/main">
            <a:r>
              <a:t/>
            </a:r>
          </a:p>
          <a:p xmlns:a="http://schemas.openxmlformats.org/drawingml/2006/main">
            <a:r>
              <a:t>Key point: costmaps provide collision and clearance information to the planner and controller. They do not own the base command.</a:t>
            </a:r>
          </a:p>
          <a:p xmlns:a="http://schemas.openxmlformats.org/drawingml/2006/main">
            <a:r>
              <a:t/>
            </a:r>
          </a:p>
          <a:p xmlns:a="http://schemas.openxmlformats.org/drawingml/2006/main">
            <a:r>
              <a:t>Source basis: src/amr_navigation/config/planner.yaml; src/amr_mpc_controller/config/controller.yaml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show how a velocity request becomes accepted base motion.</a:t>
            </a:r>
          </a:p>
          <a:p xmlns:a="http://schemas.openxmlformats.org/drawingml/2006/main">
            <a:r>
              <a:t/>
            </a:r>
          </a:p>
          <a:p xmlns:a="http://schemas.openxmlformats.org/drawingml/2006/main">
            <a:r>
              <a:t>RPP publishes a geometry_msgs/Twist request on /amr/mpc/cmd_vel. The arbitration node applies source freshness, velocity and acceleration limits and publishes a TwistStamped command. The base adapter forwards the approved command to the Gazebo input topic. The native watchdog stops the plant when commands are missing or too old.</a:t>
            </a:r>
          </a:p>
          <a:p xmlns:a="http://schemas.openxmlformats.org/drawingml/2006/main">
            <a:r>
              <a:t/>
            </a:r>
          </a:p>
          <a:p xmlns:a="http://schemas.openxmlformats.org/drawingml/2006/main">
            <a:r>
              <a:t>Current limits: 0.50 m/s linear, 0.64 rad/s angular, 0.50 m/s² linear acceleration and 0.40 rad/s² angular acceleration. The source and native watchdog timeouts are 200 ms.</a:t>
            </a:r>
          </a:p>
          <a:p xmlns:a="http://schemas.openxmlformats.org/drawingml/2006/main">
            <a:r>
              <a:t/>
            </a:r>
          </a:p>
          <a:p xmlns:a="http://schemas.openxmlformats.org/drawingml/2006/main">
            <a:r>
              <a:t>Key point: stale, unsafe or unowned motion input fails closed.</a:t>
            </a:r>
          </a:p>
          <a:p xmlns:a="http://schemas.openxmlformats.org/drawingml/2006/main">
            <a:r>
              <a:t/>
            </a:r>
          </a:p>
          <a:p xmlns:a="http://schemas.openxmlformats.org/drawingml/2006/main">
            <a:r>
              <a:t>Source basis: src/amr_control/config/control.yaml; src/amr_control/src/command_arbitration_node.cpp; src/amr_description/urdf/amr.urdf.xacro; src/amr_base_adapter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give the operator the correct entry points.</a:t>
            </a:r>
          </a:p>
          <a:p xmlns:a="http://schemas.openxmlformats.org/drawingml/2006/main">
            <a:r>
              <a:t/>
            </a:r>
          </a:p>
          <a:p xmlns:a="http://schemas.openxmlformats.org/drawingml/2006/main">
            <a:r>
              <a:t>Explain the order: source ROS 2 Humble, build and test, source the workspace, launch the simulation, then use teleop or a factory mode. Teleop uses W/S/A/D for movement, X or Space to stop and Q to quit.</a:t>
            </a:r>
          </a:p>
          <a:p xmlns:a="http://schemas.openxmlformats.org/drawingml/2006/main">
            <a:r>
              <a:t/>
            </a:r>
          </a:p>
          <a:p xmlns:a="http://schemas.openxmlformats.org/drawingml/2006/main">
            <a:r>
              <a:t>For the factory flow, start factory_autonomous.launch.py with autonomous mode and attachment enabled, start MoveIt separately, then use factory_cli.py for list, mode, send, loop, stop, cancel, status and go home. Home is guarded by safe idle and stowed-state proof.</a:t>
            </a:r>
          </a:p>
          <a:p xmlns:a="http://schemas.openxmlformats.org/drawingml/2006/main">
            <a:r>
              <a:t/>
            </a:r>
          </a:p>
          <a:p xmlns:a="http://schemas.openxmlformats.org/drawingml/2006/main">
            <a:r>
              <a:t>These commands describe the simulation workflow. They do not imply hardware readiness.</a:t>
            </a:r>
          </a:p>
          <a:p xmlns:a="http://schemas.openxmlformats.org/drawingml/2006/main">
            <a:r>
              <a:t/>
            </a:r>
          </a:p>
          <a:p xmlns:a="http://schemas.openxmlformats.org/drawingml/2006/main">
            <a:r>
              <a:t>Source basis: src/README.md; docs/SIMULATION_COMMANDS.md; docs/ROS2_BEGINNER_PROJECT_GUIDE.md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why MoveIt is separate from Nav2.</a:t>
            </a:r>
          </a:p>
          <a:p xmlns:a="http://schemas.openxmlformats.org/drawingml/2006/main">
            <a:r>
              <a:t/>
            </a:r>
          </a:p>
          <a:p xmlns:a="http://schemas.openxmlformats.org/drawingml/2006/main">
            <a:r>
              <a:t>MoveIt2 runs move_group with the composite robot description and an OMPL planning pipeline. It plans arm and gripper trajectories against a planning scene that includes the robot, collision objects and product attachment state. gz_ros2_control exposes the simulated arm and gripper joint interfaces.</a:t>
            </a:r>
          </a:p>
          <a:p xmlns:a="http://schemas.openxmlformats.org/drawingml/2006/main">
            <a:r>
              <a:t/>
            </a:r>
          </a:p>
          <a:p xmlns:a="http://schemas.openxmlformats.org/drawingml/2006/main">
            <a:r>
              <a:t>The manipulation supervisor coordinates product actions, attachment and detachment proof and cancellation. MoveIt does not publish the mobile base velocity command; Nav2 and command arbitration retain that authority.</a:t>
            </a:r>
          </a:p>
          <a:p xmlns:a="http://schemas.openxmlformats.org/drawingml/2006/main">
            <a:r>
              <a:t/>
            </a:r>
          </a:p>
          <a:p xmlns:a="http://schemas.openxmlformats.org/drawingml/2006/main">
            <a:r>
              <a:t>Source basis: src/amr_manipulation/launch/move_group.launch.py; src/amr_description/urdf/phase14_mobile_manipulator.urdf.xacro; src/amr_manipulation/src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how navigation and manipulation become one factory operation.</a:t>
            </a:r>
          </a:p>
          <a:p xmlns:a="http://schemas.openxmlformats.org/drawingml/2006/main">
            <a:r>
              <a:t/>
            </a:r>
          </a:p>
          <a:p xmlns:a="http://schemas.openxmlformats.org/drawingml/2006/main">
            <a:r>
              <a:t>The supervisor selects autonomous mode, navigates to a pickup station, detects and picks up the product, transports it with Nav2 and RPP, dispatches it, verifies the terminal state and requests home only when the home preconditions are satisfied.</a:t>
            </a:r>
          </a:p>
          <a:p xmlns:a="http://schemas.openxmlformats.org/drawingml/2006/main">
            <a:r>
              <a:t/>
            </a:r>
          </a:p>
          <a:p xmlns:a="http://schemas.openxmlformats.org/drawingml/2006/main">
            <a:r>
              <a:t>The action interfaces show the boundaries: run_sequence and transport_product belong to the factory supervisor, execute_product_cycle belongs to manipulation, and navigate_to_pose belongs to mission navigation.</a:t>
            </a:r>
          </a:p>
          <a:p xmlns:a="http://schemas.openxmlformats.org/drawingml/2006/main">
            <a:r>
              <a:t/>
            </a:r>
          </a:p>
          <a:p xmlns:a="http://schemas.openxmlformats.org/drawingml/2006/main">
            <a:r>
              <a:t>Key point: correctness depends on state transitions and terminal proof across multiple nodes, not just on reaching a pose.</a:t>
            </a:r>
          </a:p>
          <a:p xmlns:a="http://schemas.openxmlformats.org/drawingml/2006/main">
            <a:r>
              <a:t/>
            </a:r>
          </a:p>
          <a:p xmlns:a="http://schemas.openxmlformats.org/drawingml/2006/main">
            <a:r>
              <a:t>Source basis: src/amr_bringup/config/interface_ownership.yaml; src/amr_factory/launch/factory_autonomous.launch.py; src/amr_factory/src/factory_supervisor_node.cpp; src/amr_manipulation/src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separate external foundations from project-owned behavior.</a:t>
            </a:r>
          </a:p>
          <a:p xmlns:a="http://schemas.openxmlformats.org/drawingml/2006/main">
            <a:r>
              <a:t/>
            </a:r>
          </a:p>
          <a:p xmlns:a="http://schemas.openxmlformats.org/drawingml/2006/main">
            <a:r>
              <a:t>Third-party foundations include ROS 2 Humble, Gazebo Harmonic, ros_gz_bridge, Nav2, robot_localization, SLAM Toolbox, MoveIt2, AprilTag ROS, tf2, message packages, gz_ros2_control and the KUKA support description.</a:t>
            </a:r>
          </a:p>
          <a:p xmlns:a="http://schemas.openxmlformats.org/drawingml/2006/main">
            <a:r>
              <a:t/>
            </a:r>
          </a:p>
          <a:p xmlns:a="http://schemas.openxmlformats.org/drawingml/2006/main">
            <a:r>
              <a:t>Project-owned extensions include the custom RPP plugins, precision planner plugins, sensor adapters and freshness gates, command arbitration, the native command watchdog and the mission, factory and manipulation supervisors.</a:t>
            </a:r>
          </a:p>
          <a:p xmlns:a="http://schemas.openxmlformats.org/drawingml/2006/main">
            <a:r>
              <a:t/>
            </a:r>
          </a:p>
          <a:p xmlns:a="http://schemas.openxmlformats.org/drawingml/2006/main">
            <a:r>
              <a:t>Package-count caution: colcon also discovers legacy, evidence and vendored packages. The primary product set is the 17 packages under src/.</a:t>
            </a:r>
          </a:p>
          <a:p xmlns:a="http://schemas.openxmlformats.org/drawingml/2006/main">
            <a:r>
              <a:t/>
            </a:r>
          </a:p>
          <a:p xmlns:a="http://schemas.openxmlformats.org/drawingml/2006/main">
            <a:r>
              <a:t>Source basis: src/README.md; package.xml files; plugin XML files; current colcon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give the audience a concrete explanation of why the project is difficult.</a:t>
            </a:r>
          </a:p>
          <a:p xmlns:a="http://schemas.openxmlformats.org/drawingml/2006/main">
            <a:r>
              <a:t/>
            </a:r>
          </a:p>
          <a:p xmlns:a="http://schemas.openxmlformats.org/drawingml/2006/main">
            <a:r>
              <a:t>Time and freshness matter because ROS uses simulated time and stale or future data can make a pose look valid when it is not. Single ownership matters because duplicate TF or command publishers create ambiguous behavior. Geometry matters because the planner must respect the full rectangular footprint, not only the robot center. Startup and lifecycle matter because Gazebo, adapters, Nav2, localization and MoveIt must reach usable states in order. Cancellation and proof matter because stop, retreat, attachment, home and terminal status cross node boundaries.</a:t>
            </a:r>
          </a:p>
          <a:p xmlns:a="http://schemas.openxmlformats.org/drawingml/2006/main">
            <a:r>
              <a:t/>
            </a:r>
          </a:p>
          <a:p xmlns:a="http://schemas.openxmlformats.org/drawingml/2006/main">
            <a:r>
              <a:t>Key point: build and unit tests are necessary but cannot replace runtime evidence.</a:t>
            </a:r>
          </a:p>
          <a:p xmlns:a="http://schemas.openxmlformats.org/drawingml/2006/main">
            <a:r>
              <a:t/>
            </a:r>
          </a:p>
          <a:p xmlns:a="http://schemas.openxmlformats.org/drawingml/2006/main">
            <a:r>
              <a:t>Source basis: AGENTS.md; .codex/DEBUG_PLAYBOOK.md; SESSION_HANDOFF.md; current runtime contracts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close with the current status and prevent historical details from being repeated as current facts.</a:t>
            </a:r>
          </a:p>
          <a:p xmlns:a="http://schemas.openxmlformats.org/drawingml/2006/main">
            <a:r>
              <a:t/>
            </a:r>
          </a:p>
          <a:p xmlns:a="http://schemas.openxmlformats.org/drawingml/2006/main">
            <a:r>
              <a:t>State clearly: the latest handoff records Native41 private Product A proof as passed, while Product B, return-home, strict/final acceptance and teardown remain pending. Functional recovery comes before later stability tuning.</a:t>
            </a:r>
          </a:p>
          <a:p xmlns:a="http://schemas.openxmlformats.org/drawingml/2006/main">
            <a:r>
              <a:t/>
            </a:r>
          </a:p>
          <a:p xmlns:a="http://schemas.openxmlformats.org/drawingml/2006/main">
            <a:r>
              <a:t>Explain the historical-value guardrail: the current planner configuration uses SmacPlannerLattice plus project precision plugins, and current inflation is 0.75 m. Older presentation notes that mention NavFn or 0.55 m describe an older snapshot.</a:t>
            </a:r>
          </a:p>
          <a:p xmlns:a="http://schemas.openxmlformats.org/drawingml/2006/main">
            <a:r>
              <a:t/>
            </a:r>
          </a:p>
          <a:p xmlns:a="http://schemas.openxmlformats.org/drawingml/2006/main">
            <a:r>
              <a:t>Use SESSION_HANDOFF and dated runtime evidence for acceptance claims. Use this deck to explain architecture and current implementation behavior.</a:t>
            </a:r>
          </a:p>
          <a:p xmlns:a="http://schemas.openxmlformats.org/drawingml/2006/main">
            <a:r>
              <a:t/>
            </a:r>
          </a:p>
          <a:p xmlns:a="http://schemas.openxmlformats.org/drawingml/2006/main">
            <a:r>
              <a:t>Source basis: SESSION_HANDOFF.md dated 2026-10-04; src/amr_navigation/config/planner.yaml; src/amr_mpc_controller/config/controller.yaml; src/amr_slam/config/mapper.yaml; src/amr_localization/config/ekf.yaml; src/amr_bringup/config/interface_ownership.yaml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c3371deaaa43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64e13a06854029" /><Relationship Type="http://schemas.openxmlformats.org/officeDocument/2006/relationships/slideLayout" Target="/ppt/slideLayouts/slideLayout1.xml" Id="R815f3832a8a64e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5f3832a8a64e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29ad2a221a7438e" /><Relationship Type="http://schemas.openxmlformats.org/officeDocument/2006/relationships/notesSlide" Target="/ppt/notesSlides/notesSlide1.xml" Id="Rbe05564cf8814c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701aa77014d4615" /><Relationship Type="http://schemas.openxmlformats.org/officeDocument/2006/relationships/notesSlide" Target="/ppt/notesSlides/notesSlide2.xml" Id="R7df553eb8df04b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8786976dad469f" /><Relationship Type="http://schemas.openxmlformats.org/officeDocument/2006/relationships/notesSlide" Target="/ppt/notesSlides/notesSlide3.xml" Id="Rc56e0d86a68943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4f2294f9b5494f" /><Relationship Type="http://schemas.openxmlformats.org/officeDocument/2006/relationships/notesSlide" Target="/ppt/notesSlides/notesSlide4.xml" Id="Rc52526b123fc44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37f173734824925" /><Relationship Type="http://schemas.openxmlformats.org/officeDocument/2006/relationships/notesSlide" Target="/ppt/notesSlides/notesSlide5.xml" Id="Rfa57c53ecb9940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bfcd9cd5b04c1d" /><Relationship Type="http://schemas.openxmlformats.org/officeDocument/2006/relationships/notesSlide" Target="/ppt/notesSlides/notesSlide6.xml" Id="Rb2c5459f7efd4aa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fd6d395c06049ab" /><Relationship Type="http://schemas.openxmlformats.org/officeDocument/2006/relationships/notesSlide" Target="/ppt/notesSlides/notesSlide7.xml" Id="R838101ca2e5f4c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326efa4f754ba5" /><Relationship Type="http://schemas.openxmlformats.org/officeDocument/2006/relationships/notesSlide" Target="/ppt/notesSlides/notesSlide8.xml" Id="Rb61b6da5e9d44a3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ae355e15d02410c" /><Relationship Type="http://schemas.openxmlformats.org/officeDocument/2006/relationships/notesSlide" Target="/ppt/notesSlides/notesSlide9.xml" Id="R2d749e87d88644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a41377d5e4a4786" /><Relationship Type="http://schemas.openxmlformats.org/officeDocument/2006/relationships/notesSlide" Target="/ppt/notesSlides/notesSlide10.xml" Id="R19aa43e745fa45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2cb7f929703474f" /><Relationship Type="http://schemas.openxmlformats.org/officeDocument/2006/relationships/notesSlide" Target="/ppt/notesSlides/notesSlide11.xml" Id="Rbf060795f04d4a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9a1a09d9d5f40f9" /><Relationship Type="http://schemas.openxmlformats.org/officeDocument/2006/relationships/notesSlide" Target="/ppt/notesSlides/notesSlide12.xml" Id="Rb3f1042cc71c4ec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a2393acc3c74ef5" /><Relationship Type="http://schemas.openxmlformats.org/officeDocument/2006/relationships/notesSlide" Target="/ppt/notesSlides/notesSlide13.xml" Id="R26a0d4b758c0434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5035576a33244b0" /><Relationship Type="http://schemas.openxmlformats.org/officeDocument/2006/relationships/notesSlide" Target="/ppt/notesSlides/notesSlide14.xml" Id="R947392805ade46f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640d7ae2bc54edd" /><Relationship Type="http://schemas.openxmlformats.org/officeDocument/2006/relationships/notesSlide" Target="/ppt/notesSlides/notesSlide15.xml" Id="Rfe8c8de63d274ec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f38987b3f614934" /><Relationship Type="http://schemas.openxmlformats.org/officeDocument/2006/relationships/notesSlide" Target="/ppt/notesSlides/notesSlide16.xml" Id="R12d85aa65c8d408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0d2fd5577ab46ad" /><Relationship Type="http://schemas.openxmlformats.org/officeDocument/2006/relationships/notesSlide" Target="/ppt/notesSlides/notesSlide17.xml" Id="R1e676409811c4ec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4546aec07154d85" /><Relationship Type="http://schemas.openxmlformats.org/officeDocument/2006/relationships/notesSlide" Target="/ppt/notesSlides/notesSlide18.xml" Id="R1c77119e25cd4dc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0e2cf21086e4381" /><Relationship Type="http://schemas.openxmlformats.org/officeDocument/2006/relationships/notesSlide" Target="/ppt/notesSlides/notesSlide19.xml" Id="Re742efb7d6ee4cc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AE27667-3B4D-4F1F-9698-0B908571F4A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11ABD4F2-BC23-43A8-A4F1-E3E99EA3E6B5}"/>
              </a:ext>
            </a:extLst>
          </p:cNvPr>
          <p:cNvSpPr>
            <a:spLocks xmlns:a="http://schemas.openxmlformats.org/drawingml/2006/main" noGrp="1"/>
          </p:cNvSpPr>
          <p:nvPr/>
        </p:nvSpPr>
        <p:spPr>
          <a:xfrm xmlns:a="http://schemas.openxmlformats.org/drawingml/2006/main">
            <a:off x="685800" y="7620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1D4ED8"/>
                </a:solidFill>
                <a:latin typeface="Arial"/>
                <a:ea typeface="Arial"/>
                <a:cs typeface="Arial"/>
              </a:defRPr>
            </a:pPr>
            <a:r>
              <a:rPr sz="1050" b="1">
                <a:solidFill>
                  <a:srgbClr val="1D4ED8"/>
                </a:solidFill>
                <a:latin typeface="Arial"/>
                <a:ea typeface="Arial"/>
                <a:cs typeface="Arial"/>
              </a:rPr>
              <a:t>AMR ROS 2 SOFTWARE ARCHITECTURE</a:t>
            </a:r>
          </a:p>
        </p:txBody>
      </p:sp>
      <p:sp>
        <p:nvSpPr>
          <p:cNvPr id="3" name="">
            <a:extLst xmlns:a="http://schemas.openxmlformats.org/drawingml/2006/main">
              <a:ext uri="{FF2B5EF4-FFF2-40B4-BE49-F238E27FC236}">
                <a16:creationId xmlns:a16="http://schemas.microsoft.com/office/drawing/2014/main" id="{DCEA75EC-37B0-4EEE-9F6B-6A33ECEA072A}"/>
              </a:ext>
            </a:extLst>
          </p:cNvPr>
          <p:cNvSpPr>
            <a:spLocks xmlns:a="http://schemas.openxmlformats.org/drawingml/2006/main" noGrp="1"/>
          </p:cNvSpPr>
          <p:nvPr/>
        </p:nvSpPr>
        <p:spPr>
          <a:xfrm xmlns:a="http://schemas.openxmlformats.org/drawingml/2006/main">
            <a:off x="685800" y="1181100"/>
            <a:ext cx="6858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600" b="1">
                <a:solidFill>
                  <a:srgbClr val="142735"/>
                </a:solidFill>
                <a:latin typeface="Arial"/>
                <a:ea typeface="Arial"/>
                <a:cs typeface="Arial"/>
              </a:defRPr>
            </a:pPr>
            <a:r>
              <a:rPr sz="3600" b="1">
                <a:solidFill>
                  <a:srgbClr val="142735"/>
                </a:solidFill>
                <a:latin typeface="Arial"/>
                <a:ea typeface="Arial"/>
                <a:cs typeface="Arial"/>
              </a:rPr>
              <a:t>How the simulated mobile</a:t>
            </a:r>
          </a:p>
          <a:p xmlns:a="http://schemas.openxmlformats.org/drawingml/2006/main">
            <a:pPr algn="l">
              <a:lnSpc>
                <a:spcPct val="94000"/>
              </a:lnSpc>
              <a:buNone/>
              <a:defRPr sz="3600" b="1">
                <a:solidFill>
                  <a:srgbClr val="142735"/>
                </a:solidFill>
                <a:latin typeface="Arial"/>
                <a:ea typeface="Arial"/>
                <a:cs typeface="Arial"/>
              </a:defRPr>
            </a:pPr>
            <a:r>
              <a:rPr sz="3600" b="1">
                <a:solidFill>
                  <a:srgbClr val="142735"/>
                </a:solidFill>
                <a:latin typeface="Arial"/>
                <a:ea typeface="Arial"/>
                <a:cs typeface="Arial"/>
              </a:rPr>
              <a:t>manipulator works</a:t>
            </a:r>
          </a:p>
        </p:txBody>
      </p:sp>
      <p:sp>
        <p:nvSpPr>
          <p:cNvPr id="4" name="">
            <a:extLst xmlns:a="http://schemas.openxmlformats.org/drawingml/2006/main">
              <a:ext uri="{FF2B5EF4-FFF2-40B4-BE49-F238E27FC236}">
                <a16:creationId xmlns:a16="http://schemas.microsoft.com/office/drawing/2014/main" id="{58806474-E3E1-43B5-A132-A6D5D803778E}"/>
              </a:ext>
            </a:extLst>
          </p:cNvPr>
          <p:cNvSpPr>
            <a:spLocks xmlns:a="http://schemas.openxmlformats.org/drawingml/2006/main" noGrp="1"/>
          </p:cNvSpPr>
          <p:nvPr/>
        </p:nvSpPr>
        <p:spPr>
          <a:xfrm xmlns:a="http://schemas.openxmlformats.org/drawingml/2006/main">
            <a:off x="685800" y="2686050"/>
            <a:ext cx="647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a:solidFill>
                  <a:srgbClr val="52606D"/>
                </a:solidFill>
                <a:latin typeface="Arial"/>
                <a:ea typeface="Arial"/>
                <a:cs typeface="Arial"/>
              </a:defRPr>
            </a:pPr>
            <a:r>
              <a:rPr sz="1725" b="0">
                <a:solidFill>
                  <a:srgbClr val="52606D"/>
                </a:solidFill>
                <a:latin typeface="Arial"/>
                <a:ea typeface="Arial"/>
                <a:cs typeface="Arial"/>
              </a:rPr>
              <a:t>Current-source presentation for the ROS 2 Humble project</a:t>
            </a:r>
          </a:p>
        </p:txBody>
      </p:sp>
      <p:sp>
        <p:nvSpPr>
          <p:cNvPr id="5" name="">
            <a:extLst xmlns:a="http://schemas.openxmlformats.org/drawingml/2006/main">
              <a:ext uri="{FF2B5EF4-FFF2-40B4-BE49-F238E27FC236}">
                <a16:creationId xmlns:a16="http://schemas.microsoft.com/office/drawing/2014/main" id="{C34151A2-386C-4D08-B22F-1F98DC74D10D}"/>
              </a:ext>
            </a:extLst>
          </p:cNvPr>
          <p:cNvSpPr>
            <a:spLocks xmlns:a="http://schemas.openxmlformats.org/drawingml/2006/main" noGrp="1"/>
          </p:cNvSpPr>
          <p:nvPr/>
        </p:nvSpPr>
        <p:spPr>
          <a:xfrm xmlns:a="http://schemas.openxmlformats.org/drawingml/2006/main">
            <a:off x="685800" y="5391150"/>
            <a:ext cx="4381500" cy="609600"/>
          </a:xfrm>
          <a:prstGeom xmlns:a="http://schemas.openxmlformats.org/drawingml/2006/main" prst="roundRect">
            <a:avLst>
              <a:gd name="adj" fmla="val 18750"/>
            </a:avLst>
          </a:prstGeom>
          <a:solidFill xmlns:a="http://schemas.openxmlformats.org/drawingml/2006/main">
            <a:srgbClr val="EAF2FF"/>
          </a:solidFill>
          <a:ln xmlns:a="http://schemas.openxmlformats.org/drawingml/2006/main" w="9525">
            <a:solidFill>
              <a:srgbClr val="1D4ED8"/>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l">
              <a:lnSpc>
                <a:spcPct val="105000"/>
              </a:lnSpc>
              <a:buNone/>
              <a:defRPr sz="1200" b="1">
                <a:solidFill>
                  <a:srgbClr val="123B5D"/>
                </a:solidFill>
                <a:latin typeface="Arial"/>
                <a:ea typeface="Arial"/>
                <a:cs typeface="Arial"/>
              </a:defRPr>
            </a:pPr>
            <a:r>
              <a:rPr sz="1200" b="1">
                <a:solidFill>
                  <a:srgbClr val="123B5D"/>
                </a:solidFill>
                <a:latin typeface="Arial"/>
                <a:ea typeface="Arial"/>
                <a:cs typeface="Arial"/>
              </a:rPr>
              <a:t>Current configuration values are used.</a:t>
            </a:r>
          </a:p>
          <a:p xmlns:a="http://schemas.openxmlformats.org/drawingml/2006/main">
            <a:pPr algn="l">
              <a:lnSpc>
                <a:spcPct val="105000"/>
              </a:lnSpc>
              <a:buNone/>
              <a:defRPr sz="1200" b="1">
                <a:solidFill>
                  <a:srgbClr val="123B5D"/>
                </a:solidFill>
                <a:latin typeface="Arial"/>
                <a:ea typeface="Arial"/>
                <a:cs typeface="Arial"/>
              </a:defRPr>
            </a:pPr>
            <a:r>
              <a:rPr sz="1200" b="1">
                <a:solidFill>
                  <a:srgbClr val="123B5D"/>
                </a:solidFill>
                <a:latin typeface="Arial"/>
                <a:ea typeface="Arial"/>
                <a:cs typeface="Arial"/>
              </a:rPr>
              <a:t>Older report values are labeled historical.</a:t>
            </a:r>
          </a:p>
        </p:txBody>
      </p:sp>
      <p:sp>
        <p:nvSpPr>
          <p:cNvPr id="6" name="">
            <a:extLst xmlns:a="http://schemas.openxmlformats.org/drawingml/2006/main">
              <a:ext uri="{FF2B5EF4-FFF2-40B4-BE49-F238E27FC236}">
                <a16:creationId xmlns:a16="http://schemas.microsoft.com/office/drawing/2014/main" id="{8553923E-20D7-4966-A048-6F3FF939CE6D}"/>
              </a:ext>
            </a:extLst>
          </p:cNvPr>
          <p:cNvSpPr>
            <a:spLocks xmlns:a="http://schemas.openxmlformats.org/drawingml/2006/main" noGrp="1"/>
          </p:cNvSpPr>
          <p:nvPr/>
        </p:nvSpPr>
        <p:spPr>
          <a:xfrm xmlns:a="http://schemas.openxmlformats.org/drawingml/2006/main">
            <a:off x="8429625" y="2628900"/>
            <a:ext cx="1619250" cy="876300"/>
          </a:xfrm>
          <a:prstGeom xmlns:a="http://schemas.openxmlformats.org/drawingml/2006/main" prst="roundRect">
            <a:avLst>
              <a:gd name="adj" fmla="val 13043"/>
            </a:avLst>
          </a:prstGeom>
          <a:solidFill xmlns:a="http://schemas.openxmlformats.org/drawingml/2006/main">
            <a:srgbClr val="123B5D"/>
          </a:solidFill>
          <a:ln xmlns:a="http://schemas.openxmlformats.org/drawingml/2006/main" w="9525">
            <a:solidFill>
              <a:srgbClr val="123B5D"/>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2250" b="1">
                <a:solidFill>
                  <a:srgbClr val="FFFFFF"/>
                </a:solidFill>
                <a:latin typeface="Arial"/>
                <a:ea typeface="Arial"/>
                <a:cs typeface="Arial"/>
              </a:defRPr>
            </a:pPr>
            <a:r>
              <a:rPr sz="2250" b="1">
                <a:solidFill>
                  <a:srgbClr val="FFFFFF"/>
                </a:solidFill>
                <a:latin typeface="Arial"/>
                <a:ea typeface="Arial"/>
                <a:cs typeface="Arial"/>
              </a:rPr>
              <a:t>AMR</a:t>
            </a:r>
          </a:p>
        </p:txBody>
      </p:sp>
      <p:sp>
        <p:nvSpPr>
          <p:cNvPr id="7" name="">
            <a:extLst xmlns:a="http://schemas.openxmlformats.org/drawingml/2006/main">
              <a:ext uri="{FF2B5EF4-FFF2-40B4-BE49-F238E27FC236}">
                <a16:creationId xmlns:a16="http://schemas.microsoft.com/office/drawing/2014/main" id="{CA1A771B-184E-4DE4-AF48-B519FFCE3B06}"/>
              </a:ext>
            </a:extLst>
          </p:cNvPr>
          <p:cNvSpPr>
            <a:spLocks xmlns:a="http://schemas.openxmlformats.org/drawingml/2006/main" noGrp="1"/>
          </p:cNvSpPr>
          <p:nvPr/>
        </p:nvSpPr>
        <p:spPr>
          <a:xfrm xmlns:a="http://schemas.openxmlformats.org/drawingml/2006/main">
            <a:off x="7448550" y="1390650"/>
            <a:ext cx="1428750" cy="533400"/>
          </a:xfrm>
          <a:prstGeom xmlns:a="http://schemas.openxmlformats.org/drawingml/2006/main" prst="roundRect">
            <a:avLst>
              <a:gd name="adj" fmla="val 21429"/>
            </a:avLst>
          </a:prstGeom>
          <a:solidFill xmlns:a="http://schemas.openxmlformats.org/drawingml/2006/main">
            <a:srgbClr val="E6FFFA"/>
          </a:solidFill>
          <a:ln xmlns:a="http://schemas.openxmlformats.org/drawingml/2006/main" w="9525">
            <a:solidFill>
              <a:srgbClr val="0F766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75" b="1">
                <a:solidFill>
                  <a:srgbClr val="0F766E"/>
                </a:solidFill>
                <a:latin typeface="Arial"/>
                <a:ea typeface="Arial"/>
                <a:cs typeface="Arial"/>
              </a:defRPr>
            </a:pPr>
            <a:r>
              <a:rPr sz="1275" b="1">
                <a:solidFill>
                  <a:srgbClr val="0F766E"/>
                </a:solidFill>
                <a:latin typeface="Arial"/>
                <a:ea typeface="Arial"/>
                <a:cs typeface="Arial"/>
              </a:rPr>
              <a:t>Sensors</a:t>
            </a:r>
          </a:p>
        </p:txBody>
      </p:sp>
      <p:sp>
        <p:nvSpPr>
          <p:cNvPr id="8" name="">
            <a:extLst xmlns:a="http://schemas.openxmlformats.org/drawingml/2006/main">
              <a:ext uri="{FF2B5EF4-FFF2-40B4-BE49-F238E27FC236}">
                <a16:creationId xmlns:a16="http://schemas.microsoft.com/office/drawing/2014/main" id="{C8367A90-715F-400A-817D-AA3C2FBCF5FB}"/>
              </a:ext>
            </a:extLst>
          </p:cNvPr>
          <p:cNvSpPr>
            <a:spLocks xmlns:a="http://schemas.openxmlformats.org/drawingml/2006/main" noGrp="1"/>
          </p:cNvSpPr>
          <p:nvPr/>
        </p:nvSpPr>
        <p:spPr>
          <a:xfrm xmlns:a="http://schemas.openxmlformats.org/drawingml/2006/main">
            <a:off x="10096500" y="1390650"/>
            <a:ext cx="1428750" cy="533400"/>
          </a:xfrm>
          <a:prstGeom xmlns:a="http://schemas.openxmlformats.org/drawingml/2006/main" prst="roundRect">
            <a:avLst>
              <a:gd name="adj" fmla="val 21429"/>
            </a:avLst>
          </a:prstGeom>
          <a:solidFill xmlns:a="http://schemas.openxmlformats.org/drawingml/2006/main">
            <a:srgbClr val="EAF2FF"/>
          </a:solidFill>
          <a:ln xmlns:a="http://schemas.openxmlformats.org/drawingml/2006/main" w="9525">
            <a:solidFill>
              <a:srgbClr val="1D4ED8"/>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75" b="1">
                <a:solidFill>
                  <a:srgbClr val="1D4ED8"/>
                </a:solidFill>
                <a:latin typeface="Arial"/>
                <a:ea typeface="Arial"/>
                <a:cs typeface="Arial"/>
              </a:defRPr>
            </a:pPr>
            <a:r>
              <a:rPr sz="1275" b="1">
                <a:solidFill>
                  <a:srgbClr val="1D4ED8"/>
                </a:solidFill>
                <a:latin typeface="Arial"/>
                <a:ea typeface="Arial"/>
                <a:cs typeface="Arial"/>
              </a:rPr>
              <a:t>Nav2</a:t>
            </a:r>
          </a:p>
        </p:txBody>
      </p:sp>
      <p:sp>
        <p:nvSpPr>
          <p:cNvPr id="9" name="">
            <a:extLst xmlns:a="http://schemas.openxmlformats.org/drawingml/2006/main">
              <a:ext uri="{FF2B5EF4-FFF2-40B4-BE49-F238E27FC236}">
                <a16:creationId xmlns:a16="http://schemas.microsoft.com/office/drawing/2014/main" id="{23406732-4BA5-41AB-99E0-EC0FD2CFDB01}"/>
              </a:ext>
            </a:extLst>
          </p:cNvPr>
          <p:cNvSpPr>
            <a:spLocks xmlns:a="http://schemas.openxmlformats.org/drawingml/2006/main" noGrp="1"/>
          </p:cNvSpPr>
          <p:nvPr/>
        </p:nvSpPr>
        <p:spPr>
          <a:xfrm xmlns:a="http://schemas.openxmlformats.org/drawingml/2006/main">
            <a:off x="7448550" y="4095750"/>
            <a:ext cx="1428750" cy="533400"/>
          </a:xfrm>
          <a:prstGeom xmlns:a="http://schemas.openxmlformats.org/drawingml/2006/main" prst="roundRect">
            <a:avLst>
              <a:gd name="adj" fmla="val 21429"/>
            </a:avLst>
          </a:prstGeom>
          <a:solidFill xmlns:a="http://schemas.openxmlformats.org/drawingml/2006/main">
            <a:srgbClr val="F1EAFE"/>
          </a:solidFill>
          <a:ln xmlns:a="http://schemas.openxmlformats.org/drawingml/2006/main" w="9525">
            <a:solidFill>
              <a:srgbClr val="6D28D9"/>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75" b="1">
                <a:solidFill>
                  <a:srgbClr val="6D28D9"/>
                </a:solidFill>
                <a:latin typeface="Arial"/>
                <a:ea typeface="Arial"/>
                <a:cs typeface="Arial"/>
              </a:defRPr>
            </a:pPr>
            <a:r>
              <a:rPr sz="1275" b="1">
                <a:solidFill>
                  <a:srgbClr val="6D28D9"/>
                </a:solidFill>
                <a:latin typeface="Arial"/>
                <a:ea typeface="Arial"/>
                <a:cs typeface="Arial"/>
              </a:rPr>
              <a:t>MoveIt</a:t>
            </a:r>
          </a:p>
        </p:txBody>
      </p:sp>
      <p:sp>
        <p:nvSpPr>
          <p:cNvPr id="10" name="">
            <a:extLst xmlns:a="http://schemas.openxmlformats.org/drawingml/2006/main">
              <a:ext uri="{FF2B5EF4-FFF2-40B4-BE49-F238E27FC236}">
                <a16:creationId xmlns:a16="http://schemas.microsoft.com/office/drawing/2014/main" id="{060FE24D-7B6A-4EDC-9374-5E5345F00095}"/>
              </a:ext>
            </a:extLst>
          </p:cNvPr>
          <p:cNvSpPr>
            <a:spLocks xmlns:a="http://schemas.openxmlformats.org/drawingml/2006/main" noGrp="1"/>
          </p:cNvSpPr>
          <p:nvPr/>
        </p:nvSpPr>
        <p:spPr>
          <a:xfrm xmlns:a="http://schemas.openxmlformats.org/drawingml/2006/main">
            <a:off x="10096500" y="4095750"/>
            <a:ext cx="1428750" cy="533400"/>
          </a:xfrm>
          <a:prstGeom xmlns:a="http://schemas.openxmlformats.org/drawingml/2006/main" prst="roundRect">
            <a:avLst>
              <a:gd name="adj" fmla="val 21429"/>
            </a:avLst>
          </a:prstGeom>
          <a:solidFill xmlns:a="http://schemas.openxmlformats.org/drawingml/2006/main">
            <a:srgbClr val="FFF1E8"/>
          </a:solidFill>
          <a:ln xmlns:a="http://schemas.openxmlformats.org/drawingml/2006/main" w="9525">
            <a:solidFill>
              <a:srgbClr val="C2410C"/>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75" b="1">
                <a:solidFill>
                  <a:srgbClr val="C2410C"/>
                </a:solidFill>
                <a:latin typeface="Arial"/>
                <a:ea typeface="Arial"/>
                <a:cs typeface="Arial"/>
              </a:defRPr>
            </a:pPr>
            <a:r>
              <a:rPr sz="1275" b="1">
                <a:solidFill>
                  <a:srgbClr val="C2410C"/>
                </a:solidFill>
                <a:latin typeface="Arial"/>
                <a:ea typeface="Arial"/>
                <a:cs typeface="Arial"/>
              </a:rPr>
              <a:t>Gazebo</a:t>
            </a:r>
          </a:p>
        </p:txBody>
      </p:sp>
      <p:cxnSp>
        <p:nvCxnSpPr>
          <p:cNvPr id="40" name=""/>
          <p:cNvCxnSpPr>
            <a:stCxn xmlns:a="http://schemas.openxmlformats.org/drawingml/2006/main" id="7" idx="2"/>
            <a:endCxn xmlns:a="http://schemas.openxmlformats.org/drawingml/2006/main" id="6" idx="0"/>
          </p:cNvCxnSpPr>
          <p:nvPr/>
        </p:nvCxnSpPr>
        <p:spPr>
          <a:xfrm xmlns:a="http://schemas.openxmlformats.org/drawingml/2006/main">
            <a:off x="8162925" y="1924050"/>
            <a:ext cx="1076325" cy="704850"/>
          </a:xfrm>
          <a:prstGeom xmlns:a="http://schemas.openxmlformats.org/drawingml/2006/main" prst="straightConnector1">
            <a:avLst/>
          </a:prstGeom>
          <a:ln xmlns:a="http://schemas.openxmlformats.org/drawingml/2006/main" w="19050">
            <a:solidFill>
              <a:srgbClr val="0F766E"/>
            </a:solidFill>
            <a:prstDash val="solid"/>
            <a:headEnd type="none" w="med" len="med"/>
            <a:tailEnd type="arrow" w="sm" len="sm"/>
          </a:ln>
        </p:spPr>
      </p:cxnSp>
      <p:cxnSp>
        <p:nvCxnSpPr>
          <p:cNvPr id="41" name=""/>
          <p:cNvCxnSpPr>
            <a:stCxn xmlns:a="http://schemas.openxmlformats.org/drawingml/2006/main" id="8" idx="2"/>
            <a:endCxn xmlns:a="http://schemas.openxmlformats.org/drawingml/2006/main" id="6" idx="0"/>
          </p:cNvCxnSpPr>
          <p:nvPr/>
        </p:nvCxnSpPr>
        <p:spPr>
          <a:xfrm xmlns:a="http://schemas.openxmlformats.org/drawingml/2006/main" flipH="1">
            <a:off x="9239250" y="1924050"/>
            <a:ext cx="1571625" cy="704850"/>
          </a:xfrm>
          <a:prstGeom xmlns:a="http://schemas.openxmlformats.org/drawingml/2006/main" prst="straightConnector1">
            <a:avLst/>
          </a:prstGeom>
          <a:ln xmlns:a="http://schemas.openxmlformats.org/drawingml/2006/main" w="19050">
            <a:solidFill>
              <a:srgbClr val="1D4ED8"/>
            </a:solidFill>
            <a:prstDash val="solid"/>
            <a:headEnd type="none" w="med" len="med"/>
            <a:tailEnd type="arrow" w="sm" len="sm"/>
          </a:ln>
        </p:spPr>
      </p:cxnSp>
      <p:cxnSp>
        <p:nvCxnSpPr>
          <p:cNvPr id="42" name=""/>
          <p:cNvCxnSpPr>
            <a:stCxn xmlns:a="http://schemas.openxmlformats.org/drawingml/2006/main" id="6" idx="2"/>
            <a:endCxn xmlns:a="http://schemas.openxmlformats.org/drawingml/2006/main" id="9" idx="0"/>
          </p:cNvCxnSpPr>
          <p:nvPr/>
        </p:nvCxnSpPr>
        <p:spPr>
          <a:xfrm xmlns:a="http://schemas.openxmlformats.org/drawingml/2006/main" flipH="1">
            <a:off x="8162925" y="3505200"/>
            <a:ext cx="1076325" cy="590550"/>
          </a:xfrm>
          <a:prstGeom xmlns:a="http://schemas.openxmlformats.org/drawingml/2006/main" prst="straightConnector1">
            <a:avLst/>
          </a:prstGeom>
          <a:ln xmlns:a="http://schemas.openxmlformats.org/drawingml/2006/main" w="19050">
            <a:solidFill>
              <a:srgbClr val="6D28D9"/>
            </a:solidFill>
            <a:prstDash val="solid"/>
            <a:headEnd type="none" w="med" len="med"/>
            <a:tailEnd type="arrow" w="sm" len="sm"/>
          </a:ln>
        </p:spPr>
      </p:cxnSp>
      <p:cxnSp>
        <p:nvCxnSpPr>
          <p:cNvPr id="43" name=""/>
          <p:cNvCxnSpPr>
            <a:stCxn xmlns:a="http://schemas.openxmlformats.org/drawingml/2006/main" id="6" idx="2"/>
            <a:endCxn xmlns:a="http://schemas.openxmlformats.org/drawingml/2006/main" id="10" idx="0"/>
          </p:cNvCxnSpPr>
          <p:nvPr/>
        </p:nvCxnSpPr>
        <p:spPr>
          <a:xfrm xmlns:a="http://schemas.openxmlformats.org/drawingml/2006/main">
            <a:off x="9239250" y="3505200"/>
            <a:ext cx="1571625" cy="590550"/>
          </a:xfrm>
          <a:prstGeom xmlns:a="http://schemas.openxmlformats.org/drawingml/2006/main" prst="straightConnector1">
            <a:avLst/>
          </a:prstGeom>
          <a:ln xmlns:a="http://schemas.openxmlformats.org/drawingml/2006/main" w="19050">
            <a:solidFill>
              <a:srgbClr val="C2410C"/>
            </a:solidFill>
            <a:prstDash val="solid"/>
            <a:headEnd type="none" w="med" len="med"/>
            <a:tailEnd type="arrow" w="sm" len="sm"/>
          </a:ln>
        </p:spPr>
      </p:cxnSp>
      <p:sp>
        <p:nvSpPr>
          <p:cNvPr id="15" name="">
            <a:extLst xmlns:a="http://schemas.openxmlformats.org/drawingml/2006/main">
              <a:ext uri="{FF2B5EF4-FFF2-40B4-BE49-F238E27FC236}">
                <a16:creationId xmlns:a16="http://schemas.microsoft.com/office/drawing/2014/main" id="{97E442B4-51B7-4413-BEEA-028279EEB524}"/>
              </a:ext>
            </a:extLst>
          </p:cNvPr>
          <p:cNvSpPr>
            <a:spLocks xmlns:a="http://schemas.openxmlformats.org/drawingml/2006/main" noGrp="1"/>
          </p:cNvSpPr>
          <p:nvPr/>
        </p:nvSpPr>
        <p:spPr>
          <a:xfrm xmlns:a="http://schemas.openxmlformats.org/drawingml/2006/main">
            <a:off x="685800" y="61912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75" b="0">
                <a:solidFill>
                  <a:srgbClr val="94A3B8"/>
                </a:solidFill>
                <a:latin typeface="Arial"/>
                <a:ea typeface="Arial"/>
                <a:cs typeface="Arial"/>
              </a:defRPr>
            </a:pPr>
            <a:r>
              <a:rPr sz="975" b="0">
                <a:solidFill>
                  <a:srgbClr val="94A3B8"/>
                </a:solidFill>
                <a:latin typeface="Arial"/>
                <a:ea typeface="Arial"/>
                <a:cs typeface="Arial"/>
              </a:rPr>
              <a:t>ROS 2 Humble  •  Gazebo Harmonic  •  simulation scope</a:t>
            </a:r>
          </a:p>
        </p:txBody>
      </p:sp>
    </p:spTree>
    <p:extLst>
      <p:ext uri="{BB962C8B-B14F-4D97-AF65-F5344CB8AC3E}">
        <p14:creationId xmlns:p14="http://schemas.microsoft.com/office/powerpoint/2010/main" val="632910559"/>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00ACA96-7509-4BE8-B8E3-167E526E94E0}"/>
              </a:ext>
            </a:extLst>
          </p:cNvPr>
          <p:cNvSpPr>
            <a:spLocks xmlns:a="http://schemas.openxmlformats.org/drawingml/2006/main" noGrp="1"/>
          </p:cNvSpPr>
          <p:nvPr/>
        </p:nvSpPr>
        <p:spPr>
          <a:xfrm xmlns:a="http://schemas.openxmlformats.org/drawingml/2006/main">
            <a:off x="552450" y="2286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AMR ROS 2 SOFTWARE ARCHITECTURE</a:t>
            </a:r>
          </a:p>
        </p:txBody>
      </p:sp>
      <p:sp>
        <p:nvSpPr>
          <p:cNvPr id="2" name="">
            <a:extLst xmlns:a="http://schemas.openxmlformats.org/drawingml/2006/main">
              <a:ext uri="{FF2B5EF4-FFF2-40B4-BE49-F238E27FC236}">
                <a16:creationId xmlns:a16="http://schemas.microsoft.com/office/drawing/2014/main" id="{0F0C11B9-15C3-407F-A41B-CFD9191777F9}"/>
              </a:ext>
            </a:extLst>
          </p:cNvPr>
          <p:cNvSpPr>
            <a:spLocks xmlns:a="http://schemas.openxmlformats.org/drawingml/2006/main" noGrp="1"/>
          </p:cNvSpPr>
          <p:nvPr/>
        </p:nvSpPr>
        <p:spPr>
          <a:xfrm xmlns:a="http://schemas.openxmlformats.org/drawingml/2006/main">
            <a:off x="533400" y="4095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325" b="1">
                <a:solidFill>
                  <a:srgbClr val="142735"/>
                </a:solidFill>
                <a:latin typeface="Arial"/>
                <a:ea typeface="Arial"/>
                <a:cs typeface="Arial"/>
              </a:defRPr>
            </a:pPr>
            <a:r>
              <a:rPr sz="2325" b="1">
                <a:solidFill>
                  <a:srgbClr val="142735"/>
                </a:solidFill>
                <a:latin typeface="Arial"/>
                <a:ea typeface="Arial"/>
                <a:cs typeface="Arial"/>
              </a:rPr>
              <a:t>Scope and operating modes</a:t>
            </a:r>
          </a:p>
        </p:txBody>
      </p:sp>
      <p:sp>
        <p:nvSpPr>
          <p:cNvPr id="3" name="">
            <a:extLst xmlns:a="http://schemas.openxmlformats.org/drawingml/2006/main">
              <a:ext uri="{FF2B5EF4-FFF2-40B4-BE49-F238E27FC236}">
                <a16:creationId xmlns:a16="http://schemas.microsoft.com/office/drawing/2014/main" id="{CD728BFC-3968-4012-9F1B-82C280283C1D}"/>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03781EF4-5A73-4EE1-9204-9FB4BFB10C73}"/>
              </a:ext>
            </a:extLst>
          </p:cNvPr>
          <p:cNvSpPr>
            <a:spLocks xmlns:a="http://schemas.openxmlformats.org/drawingml/2006/main" noGrp="1"/>
          </p:cNvSpPr>
          <p:nvPr/>
        </p:nvSpPr>
        <p:spPr>
          <a:xfrm xmlns:a="http://schemas.openxmlformats.org/drawingml/2006/main">
            <a:off x="609600" y="1162050"/>
            <a:ext cx="647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14300" tIns="76200" rIns="114300" bIns="76200" anchor="t">
            <a:normAutofit fontScale="91896"/>
          </a:bodyPr>
          <a:lstStyle xmlns:a="http://schemas.openxmlformats.org/drawingml/2006/main"/>
          <a:p xmlns:a="http://schemas.openxmlformats.org/drawingml/2006/main">
            <a:pPr algn="l">
              <a:lnSpc>
                <a:spcPct val="105000"/>
              </a:lnSpc>
              <a:buNone/>
              <a:defRPr sz="1425" b="0">
                <a:solidFill>
                  <a:srgbClr val="142735"/>
                </a:solidFill>
                <a:latin typeface="Arial"/>
                <a:ea typeface="Arial"/>
                <a:cs typeface="Arial"/>
              </a:defRPr>
            </a:pPr>
            <a:r>
              <a:rPr sz="1425" b="0">
                <a:solidFill>
                  <a:srgbClr val="142735"/>
                </a:solidFill>
                <a:latin typeface="Arial"/>
                <a:ea typeface="Arial"/>
                <a:cs typeface="Arial"/>
              </a:rPr>
              <a:t>The workspace is a ROS 2 Humble simulation of a factory AMR with a mounted arm. The primary product source set contains 17 packages under src/</a:t>
            </a:r>
          </a:p>
        </p:txBody>
      </p:sp>
      <p:sp>
        <p:nvSpPr>
          <p:cNvPr id="5" name="">
            <a:extLst xmlns:a="http://schemas.openxmlformats.org/drawingml/2006/main">
              <a:ext uri="{FF2B5EF4-FFF2-40B4-BE49-F238E27FC236}">
                <a16:creationId xmlns:a16="http://schemas.microsoft.com/office/drawing/2014/main" id="{0F8ACD80-DB50-4B0C-88D7-C6B7377FF1F5}"/>
              </a:ext>
            </a:extLst>
          </p:cNvPr>
          <p:cNvSpPr>
            <a:spLocks xmlns:a="http://schemas.openxmlformats.org/drawingml/2006/main" noGrp="1"/>
          </p:cNvSpPr>
          <p:nvPr/>
        </p:nvSpPr>
        <p:spPr>
          <a:xfrm xmlns:a="http://schemas.openxmlformats.org/drawingml/2006/main">
            <a:off x="609600" y="1952625"/>
            <a:ext cx="2476500" cy="304800"/>
          </a:xfrm>
          <a:prstGeom xmlns:a="http://schemas.openxmlformats.org/drawingml/2006/main" prst="roundRect">
            <a:avLst>
              <a:gd name="adj" fmla="val 37500"/>
            </a:avLst>
          </a:prstGeom>
          <a:solidFill xmlns:a="http://schemas.openxmlformats.org/drawingml/2006/main">
            <a:srgbClr val="EAF2FF"/>
          </a:solidFill>
          <a:ln xmlns:a="http://schemas.openxmlformats.org/drawingml/2006/main" w="9525">
            <a:solidFill>
              <a:srgbClr val="1D4ED8"/>
            </a:solidFill>
            <a:prstDash val="solid"/>
          </a:ln>
        </p:spPr>
        <p:txBody>
          <a:bodyPr xmlns:a="http://schemas.openxmlformats.org/drawingml/2006/main" lIns="76200" tIns="38100" rIns="76200" bIns="38100" anchor="ctr">
            <a:normAutofit fontScale="96205"/>
          </a:bodyPr>
          <a:lstStyle xmlns:a="http://schemas.openxmlformats.org/drawingml/2006/main"/>
          <a:p xmlns:a="http://schemas.openxmlformats.org/drawingml/2006/main">
            <a:pPr algn="ctr">
              <a:lnSpc>
                <a:spcPct val="105000"/>
              </a:lnSpc>
              <a:buNone/>
              <a:defRPr sz="1050" b="1">
                <a:solidFill>
                  <a:srgbClr val="1D4ED8"/>
                </a:solidFill>
                <a:latin typeface="Arial"/>
                <a:ea typeface="Arial"/>
                <a:cs typeface="Arial"/>
              </a:defRPr>
            </a:pPr>
            <a:r>
              <a:rPr sz="1050" b="1">
                <a:solidFill>
                  <a:srgbClr val="1D4ED8"/>
                </a:solidFill>
                <a:latin typeface="Arial"/>
                <a:ea typeface="Arial"/>
                <a:cs typeface="Arial"/>
              </a:rPr>
              <a:t>PROJECT SCOPE</a:t>
            </a:r>
          </a:p>
        </p:txBody>
      </p:sp>
      <p:sp>
        <p:nvSpPr>
          <p:cNvPr id="6" name="">
            <a:extLst xmlns:a="http://schemas.openxmlformats.org/drawingml/2006/main">
              <a:ext uri="{FF2B5EF4-FFF2-40B4-BE49-F238E27FC236}">
                <a16:creationId xmlns:a16="http://schemas.microsoft.com/office/drawing/2014/main" id="{060D9BE3-79EA-4C21-A564-7728C409AC02}"/>
              </a:ext>
            </a:extLst>
          </p:cNvPr>
          <p:cNvSpPr>
            <a:spLocks xmlns:a="http://schemas.openxmlformats.org/drawingml/2006/main" noGrp="1"/>
          </p:cNvSpPr>
          <p:nvPr/>
        </p:nvSpPr>
        <p:spPr>
          <a:xfrm xmlns:a="http://schemas.openxmlformats.org/drawingml/2006/main">
            <a:off x="685800" y="2400300"/>
            <a:ext cx="51911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marL="228600" indent="-114300" algn="l">
              <a:lnSpc>
                <a:spcPct val="108000"/>
              </a:lnSpc>
              <a:spcAft>
                <a:spcPts val="600"/>
              </a:spcAft>
              <a:buNone/>
              <a:defRPr sz="1350" b="0">
                <a:solidFill>
                  <a:srgbClr val="142735"/>
                </a:solidFill>
                <a:latin typeface="Arial"/>
                <a:ea typeface="Arial"/>
                <a:cs typeface="Arial"/>
              </a:defRPr>
            </a:pPr>
            <a:r>
              <a:rPr sz="1350" b="0">
                <a:solidFill>
                  <a:srgbClr val="142735"/>
                </a:solidFill>
                <a:latin typeface="Arial"/>
                <a:ea typeface="Arial"/>
                <a:cs typeface="Arial"/>
              </a:rPr>
              <a:t>Mobile base navigation and command safety</a:t>
            </a:r>
          </a:p>
          <a:p xmlns:a="http://schemas.openxmlformats.org/drawingml/2006/main">
            <a:pPr marL="228600" indent="-114300" algn="l">
              <a:lnSpc>
                <a:spcPct val="108000"/>
              </a:lnSpc>
              <a:spcAft>
                <a:spcPts val="600"/>
              </a:spcAft>
              <a:buNone/>
              <a:defRPr sz="1350" b="0">
                <a:solidFill>
                  <a:srgbClr val="142735"/>
                </a:solidFill>
                <a:latin typeface="Arial"/>
                <a:ea typeface="Arial"/>
                <a:cs typeface="Arial"/>
              </a:defRPr>
            </a:pPr>
            <a:r>
              <a:rPr sz="1350" b="0">
                <a:solidFill>
                  <a:srgbClr val="142735"/>
                </a:solidFill>
                <a:latin typeface="Arial"/>
                <a:ea typeface="Arial"/>
                <a:cs typeface="Arial"/>
              </a:rPr>
              <a:t>Front and rear LiDAR perception</a:t>
            </a:r>
          </a:p>
          <a:p xmlns:a="http://schemas.openxmlformats.org/drawingml/2006/main">
            <a:pPr marL="228600" indent="-114300" algn="l">
              <a:lnSpc>
                <a:spcPct val="108000"/>
              </a:lnSpc>
              <a:spcAft>
                <a:spcPts val="600"/>
              </a:spcAft>
              <a:buNone/>
              <a:defRPr sz="1350" b="0">
                <a:solidFill>
                  <a:srgbClr val="142735"/>
                </a:solidFill>
                <a:latin typeface="Arial"/>
                <a:ea typeface="Arial"/>
                <a:cs typeface="Arial"/>
              </a:defRPr>
            </a:pPr>
            <a:r>
              <a:rPr sz="1350" b="0">
                <a:solidFill>
                  <a:srgbClr val="142735"/>
                </a:solidFill>
                <a:latin typeface="Arial"/>
                <a:ea typeface="Arial"/>
                <a:cs typeface="Arial"/>
              </a:rPr>
              <a:t>SLAM, localization, exploration and factory missions</a:t>
            </a:r>
          </a:p>
          <a:p xmlns:a="http://schemas.openxmlformats.org/drawingml/2006/main">
            <a:pPr marL="228600" indent="-114300" algn="l">
              <a:lnSpc>
                <a:spcPct val="108000"/>
              </a:lnSpc>
              <a:spcAft>
                <a:spcPts val="600"/>
              </a:spcAft>
              <a:buNone/>
              <a:defRPr sz="1350" b="0">
                <a:solidFill>
                  <a:srgbClr val="142735"/>
                </a:solidFill>
                <a:latin typeface="Arial"/>
                <a:ea typeface="Arial"/>
                <a:cs typeface="Arial"/>
              </a:defRPr>
            </a:pPr>
            <a:r>
              <a:rPr sz="1350" b="0">
                <a:solidFill>
                  <a:srgbClr val="142735"/>
                </a:solidFill>
                <a:latin typeface="Arial"/>
                <a:ea typeface="Arial"/>
                <a:cs typeface="Arial"/>
              </a:rPr>
              <a:t>KUKA arm, gripper and product transport in simulation</a:t>
            </a:r>
          </a:p>
        </p:txBody>
      </p:sp>
      <p:sp>
        <p:nvSpPr>
          <p:cNvPr id="7" name="">
            <a:extLst xmlns:a="http://schemas.openxmlformats.org/drawingml/2006/main">
              <a:ext uri="{FF2B5EF4-FFF2-40B4-BE49-F238E27FC236}">
                <a16:creationId xmlns:a16="http://schemas.microsoft.com/office/drawing/2014/main" id="{B794C649-E4EB-4FC1-A9F5-0DC21A380B7D}"/>
              </a:ext>
            </a:extLst>
          </p:cNvPr>
          <p:cNvSpPr>
            <a:spLocks xmlns:a="http://schemas.openxmlformats.org/drawingml/2006/main" noGrp="1"/>
          </p:cNvSpPr>
          <p:nvPr/>
        </p:nvSpPr>
        <p:spPr>
          <a:xfrm xmlns:a="http://schemas.openxmlformats.org/drawingml/2006/main">
            <a:off x="6429375" y="1952625"/>
            <a:ext cx="2476500" cy="304800"/>
          </a:xfrm>
          <a:prstGeom xmlns:a="http://schemas.openxmlformats.org/drawingml/2006/main" prst="roundRect">
            <a:avLst>
              <a:gd name="adj" fmla="val 37500"/>
            </a:avLst>
          </a:prstGeom>
          <a:solidFill xmlns:a="http://schemas.openxmlformats.org/drawingml/2006/main">
            <a:srgbClr val="E6FFFA"/>
          </a:solidFill>
          <a:ln xmlns:a="http://schemas.openxmlformats.org/drawingml/2006/main" w="9525">
            <a:solidFill>
              <a:srgbClr val="0F766E"/>
            </a:solidFill>
            <a:prstDash val="solid"/>
          </a:ln>
        </p:spPr>
        <p:txBody>
          <a:bodyPr xmlns:a="http://schemas.openxmlformats.org/drawingml/2006/main" lIns="76200" tIns="38100" rIns="76200" bIns="38100" anchor="ctr">
            <a:normAutofit fontScale="96205"/>
          </a:bodyPr>
          <a:lstStyle xmlns:a="http://schemas.openxmlformats.org/drawingml/2006/main"/>
          <a:p xmlns:a="http://schemas.openxmlformats.org/drawingml/2006/main">
            <a:pPr algn="ctr">
              <a:lnSpc>
                <a:spcPct val="105000"/>
              </a:lnSpc>
              <a:buNone/>
              <a:defRPr sz="1050" b="1">
                <a:solidFill>
                  <a:srgbClr val="0F766E"/>
                </a:solidFill>
                <a:latin typeface="Arial"/>
                <a:ea typeface="Arial"/>
                <a:cs typeface="Arial"/>
              </a:defRPr>
            </a:pPr>
            <a:r>
              <a:rPr sz="1050" b="1">
                <a:solidFill>
                  <a:srgbClr val="0F766E"/>
                </a:solidFill>
                <a:latin typeface="Arial"/>
                <a:ea typeface="Arial"/>
                <a:cs typeface="Arial"/>
              </a:rPr>
              <a:t>MODE OWNERSHIP</a:t>
            </a:r>
          </a:p>
        </p:txBody>
      </p:sp>
      <p:sp>
        <p:nvSpPr>
          <p:cNvPr id="8" name="">
            <a:extLst xmlns:a="http://schemas.openxmlformats.org/drawingml/2006/main">
              <a:ext uri="{FF2B5EF4-FFF2-40B4-BE49-F238E27FC236}">
                <a16:creationId xmlns:a16="http://schemas.microsoft.com/office/drawing/2014/main" id="{DB1CD4DF-0DAF-4CF3-A5F1-2077E28AA556}"/>
              </a:ext>
            </a:extLst>
          </p:cNvPr>
          <p:cNvSpPr>
            <a:spLocks xmlns:a="http://schemas.openxmlformats.org/drawingml/2006/main" noGrp="1"/>
          </p:cNvSpPr>
          <p:nvPr/>
        </p:nvSpPr>
        <p:spPr>
          <a:xfrm xmlns:a="http://schemas.openxmlformats.org/drawingml/2006/main">
            <a:off x="6429375" y="2419350"/>
            <a:ext cx="20002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Mapping / exploration</a:t>
            </a:r>
          </a:p>
        </p:txBody>
      </p:sp>
      <p:sp>
        <p:nvSpPr>
          <p:cNvPr id="9" name="">
            <a:extLst xmlns:a="http://schemas.openxmlformats.org/drawingml/2006/main">
              <a:ext uri="{FF2B5EF4-FFF2-40B4-BE49-F238E27FC236}">
                <a16:creationId xmlns:a16="http://schemas.microsoft.com/office/drawing/2014/main" id="{8F20E797-F1FA-4280-A4FC-B43BB17A396B}"/>
              </a:ext>
            </a:extLst>
          </p:cNvPr>
          <p:cNvSpPr>
            <a:spLocks xmlns:a="http://schemas.openxmlformats.org/drawingml/2006/main" noGrp="1"/>
          </p:cNvSpPr>
          <p:nvPr/>
        </p:nvSpPr>
        <p:spPr>
          <a:xfrm xmlns:a="http://schemas.openxmlformats.org/drawingml/2006/main">
            <a:off x="8601075" y="2419350"/>
            <a:ext cx="2857500" cy="552450"/>
          </a:xfrm>
          <a:prstGeom xmlns:a="http://schemas.openxmlformats.org/drawingml/2006/main" prst="roundRect">
            <a:avLst>
              <a:gd name="adj" fmla="val 20690"/>
            </a:avLst>
          </a:prstGeom>
          <a:solidFill xmlns:a="http://schemas.openxmlformats.org/drawingml/2006/main">
            <a:srgbClr val="F8FFFD"/>
          </a:solidFill>
          <a:ln xmlns:a="http://schemas.openxmlformats.org/drawingml/2006/main" w="9525">
            <a:solidFill>
              <a:srgbClr val="CBD5E1"/>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l">
              <a:lnSpc>
                <a:spcPct val="105000"/>
              </a:lnSpc>
              <a:buNone/>
              <a:defRPr sz="1050" b="0">
                <a:solidFill>
                  <a:srgbClr val="52606D"/>
                </a:solidFill>
                <a:latin typeface="Arial"/>
                <a:ea typeface="Arial"/>
                <a:cs typeface="Arial"/>
              </a:defRPr>
            </a:pPr>
            <a:r>
              <a:rPr sz="1050" b="0">
                <a:solidFill>
                  <a:srgbClr val="52606D"/>
                </a:solidFill>
                <a:latin typeface="Arial"/>
                <a:ea typeface="Arial"/>
                <a:cs typeface="Arial"/>
              </a:rPr>
              <a:t>SLAM Toolbox publishes map → odom</a:t>
            </a:r>
          </a:p>
        </p:txBody>
      </p:sp>
      <p:sp>
        <p:nvSpPr>
          <p:cNvPr id="10" name="">
            <a:extLst xmlns:a="http://schemas.openxmlformats.org/drawingml/2006/main">
              <a:ext uri="{FF2B5EF4-FFF2-40B4-BE49-F238E27FC236}">
                <a16:creationId xmlns:a16="http://schemas.microsoft.com/office/drawing/2014/main" id="{CD45DC27-32E0-43E5-B758-F601290DA3FD}"/>
              </a:ext>
            </a:extLst>
          </p:cNvPr>
          <p:cNvSpPr>
            <a:spLocks xmlns:a="http://schemas.openxmlformats.org/drawingml/2006/main" noGrp="1"/>
          </p:cNvSpPr>
          <p:nvPr/>
        </p:nvSpPr>
        <p:spPr>
          <a:xfrm xmlns:a="http://schemas.openxmlformats.org/drawingml/2006/main">
            <a:off x="6429375" y="3257550"/>
            <a:ext cx="20002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Factory localization</a:t>
            </a:r>
          </a:p>
        </p:txBody>
      </p:sp>
      <p:sp>
        <p:nvSpPr>
          <p:cNvPr id="11" name="">
            <a:extLst xmlns:a="http://schemas.openxmlformats.org/drawingml/2006/main">
              <a:ext uri="{FF2B5EF4-FFF2-40B4-BE49-F238E27FC236}">
                <a16:creationId xmlns:a16="http://schemas.microsoft.com/office/drawing/2014/main" id="{9F8D6EF6-AEB0-4510-A4AB-1B90CFE2A443}"/>
              </a:ext>
            </a:extLst>
          </p:cNvPr>
          <p:cNvSpPr>
            <a:spLocks xmlns:a="http://schemas.openxmlformats.org/drawingml/2006/main" noGrp="1"/>
          </p:cNvSpPr>
          <p:nvPr/>
        </p:nvSpPr>
        <p:spPr>
          <a:xfrm xmlns:a="http://schemas.openxmlformats.org/drawingml/2006/main">
            <a:off x="8601075" y="3257550"/>
            <a:ext cx="2857500" cy="552450"/>
          </a:xfrm>
          <a:prstGeom xmlns:a="http://schemas.openxmlformats.org/drawingml/2006/main" prst="roundRect">
            <a:avLst>
              <a:gd name="adj" fmla="val 20690"/>
            </a:avLst>
          </a:prstGeom>
          <a:solidFill xmlns:a="http://schemas.openxmlformats.org/drawingml/2006/main">
            <a:srgbClr val="F8FFFD"/>
          </a:solidFill>
          <a:ln xmlns:a="http://schemas.openxmlformats.org/drawingml/2006/main" w="9525">
            <a:solidFill>
              <a:srgbClr val="CBD5E1"/>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l">
              <a:lnSpc>
                <a:spcPct val="105000"/>
              </a:lnSpc>
              <a:buNone/>
              <a:defRPr sz="1050" b="0">
                <a:solidFill>
                  <a:srgbClr val="52606D"/>
                </a:solidFill>
                <a:latin typeface="Arial"/>
                <a:ea typeface="Arial"/>
                <a:cs typeface="Arial"/>
              </a:defRPr>
            </a:pPr>
            <a:r>
              <a:rPr sz="1050" b="0">
                <a:solidFill>
                  <a:srgbClr val="52606D"/>
                </a:solidFill>
                <a:latin typeface="Arial"/>
                <a:ea typeface="Arial"/>
                <a:cs typeface="Arial"/>
              </a:rPr>
              <a:t>AMCL + map server publish map → odom</a:t>
            </a:r>
          </a:p>
        </p:txBody>
      </p:sp>
      <p:sp>
        <p:nvSpPr>
          <p:cNvPr id="12" name="">
            <a:extLst xmlns:a="http://schemas.openxmlformats.org/drawingml/2006/main">
              <a:ext uri="{FF2B5EF4-FFF2-40B4-BE49-F238E27FC236}">
                <a16:creationId xmlns:a16="http://schemas.microsoft.com/office/drawing/2014/main" id="{013F3EF5-0D8B-4873-8CBF-C11A9C9CDD29}"/>
              </a:ext>
            </a:extLst>
          </p:cNvPr>
          <p:cNvSpPr>
            <a:spLocks xmlns:a="http://schemas.openxmlformats.org/drawingml/2006/main" noGrp="1"/>
          </p:cNvSpPr>
          <p:nvPr/>
        </p:nvSpPr>
        <p:spPr>
          <a:xfrm xmlns:a="http://schemas.openxmlformats.org/drawingml/2006/main">
            <a:off x="6429375" y="4095750"/>
            <a:ext cx="20002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0F766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Manipulation</a:t>
            </a:r>
          </a:p>
        </p:txBody>
      </p:sp>
      <p:sp>
        <p:nvSpPr>
          <p:cNvPr id="13" name="">
            <a:extLst xmlns:a="http://schemas.openxmlformats.org/drawingml/2006/main">
              <a:ext uri="{FF2B5EF4-FFF2-40B4-BE49-F238E27FC236}">
                <a16:creationId xmlns:a16="http://schemas.microsoft.com/office/drawing/2014/main" id="{E266F4AF-BFD4-458D-A208-7D92FD2C9E76}"/>
              </a:ext>
            </a:extLst>
          </p:cNvPr>
          <p:cNvSpPr>
            <a:spLocks xmlns:a="http://schemas.openxmlformats.org/drawingml/2006/main" noGrp="1"/>
          </p:cNvSpPr>
          <p:nvPr/>
        </p:nvSpPr>
        <p:spPr>
          <a:xfrm xmlns:a="http://schemas.openxmlformats.org/drawingml/2006/main">
            <a:off x="8601075" y="4095750"/>
            <a:ext cx="2857500" cy="552450"/>
          </a:xfrm>
          <a:prstGeom xmlns:a="http://schemas.openxmlformats.org/drawingml/2006/main" prst="roundRect">
            <a:avLst>
              <a:gd name="adj" fmla="val 20690"/>
            </a:avLst>
          </a:prstGeom>
          <a:solidFill xmlns:a="http://schemas.openxmlformats.org/drawingml/2006/main">
            <a:srgbClr val="F8FFFD"/>
          </a:solidFill>
          <a:ln xmlns:a="http://schemas.openxmlformats.org/drawingml/2006/main" w="9525">
            <a:solidFill>
              <a:srgbClr val="CBD5E1"/>
            </a:solidFill>
            <a:prstDash val="solid"/>
          </a:ln>
        </p:spPr>
        <p:txBody>
          <a:bodyPr xmlns:a="http://schemas.openxmlformats.org/drawingml/2006/main" lIns="114300" tIns="76200" rIns="114300" bIns="76200" anchor="ctr">
            <a:normAutofit fontScale="99123"/>
          </a:bodyPr>
          <a:lstStyle xmlns:a="http://schemas.openxmlformats.org/drawingml/2006/main"/>
          <a:p xmlns:a="http://schemas.openxmlformats.org/drawingml/2006/main">
            <a:pPr algn="l">
              <a:lnSpc>
                <a:spcPct val="105000"/>
              </a:lnSpc>
              <a:buNone/>
              <a:defRPr sz="1050" b="0">
                <a:solidFill>
                  <a:srgbClr val="52606D"/>
                </a:solidFill>
                <a:latin typeface="Arial"/>
                <a:ea typeface="Arial"/>
                <a:cs typeface="Arial"/>
              </a:defRPr>
            </a:pPr>
            <a:r>
              <a:rPr sz="1050" b="0">
                <a:solidFill>
                  <a:srgbClr val="52606D"/>
                </a:solidFill>
                <a:latin typeface="Arial"/>
                <a:ea typeface="Arial"/>
                <a:cs typeface="Arial"/>
              </a:rPr>
              <a:t>MoveIt plans the arm; base motion remains separate</a:t>
            </a:r>
          </a:p>
        </p:txBody>
      </p:sp>
      <p:sp>
        <p:nvSpPr>
          <p:cNvPr id="14" name="">
            <a:extLst xmlns:a="http://schemas.openxmlformats.org/drawingml/2006/main">
              <a:ext uri="{FF2B5EF4-FFF2-40B4-BE49-F238E27FC236}">
                <a16:creationId xmlns:a16="http://schemas.microsoft.com/office/drawing/2014/main" id="{31A26275-92C0-4322-AA7E-396D4477B64B}"/>
              </a:ext>
            </a:extLst>
          </p:cNvPr>
          <p:cNvSpPr>
            <a:spLocks xmlns:a="http://schemas.openxmlformats.org/drawingml/2006/main" noGrp="1"/>
          </p:cNvSpPr>
          <p:nvPr/>
        </p:nvSpPr>
        <p:spPr>
          <a:xfrm xmlns:a="http://schemas.openxmlformats.org/drawingml/2006/main">
            <a:off x="609600" y="5105400"/>
            <a:ext cx="10848975" cy="685800"/>
          </a:xfrm>
          <a:prstGeom xmlns:a="http://schemas.openxmlformats.org/drawingml/2006/main" prst="roundRect">
            <a:avLst>
              <a:gd name="adj" fmla="val 16667"/>
            </a:avLst>
          </a:prstGeom>
          <a:solidFill xmlns:a="http://schemas.openxmlformats.org/drawingml/2006/main">
            <a:srgbClr val="0F172A"/>
          </a:solidFill>
          <a:ln xmlns:a="http://schemas.openxmlformats.org/drawingml/2006/main" w="0">
            <a:solidFill>
              <a:srgbClr val="0F172A"/>
            </a:solidFill>
            <a:prstDash val="solid"/>
          </a:ln>
        </p:spPr>
        <p:txBody>
          <a:bodyPr xmlns:a="http://schemas.openxmlformats.org/drawingml/2006/main" lIns="114300" tIns="76200" rIns="114300" bIns="76200" anchor="ctr">
            <a:normAutofit fontScale="97164"/>
          </a:bodyPr>
          <a:lstStyle xmlns:a="http://schemas.openxmlformats.org/drawingml/2006/main"/>
          <a:p xmlns:a="http://schemas.openxmlformats.org/drawingml/2006/main">
            <a:pPr algn="ctr">
              <a:lnSpc>
                <a:spcPct val="105000"/>
              </a:lnSpc>
              <a:buNone/>
              <a:defRPr sz="1500" b="1">
                <a:solidFill>
                  <a:srgbClr val="FFFFFF"/>
                </a:solidFill>
                <a:latin typeface="Arial"/>
                <a:ea typeface="Arial"/>
                <a:cs typeface="Arial"/>
              </a:defRPr>
            </a:pPr>
            <a:r>
              <a:rPr sz="1500" b="1">
                <a:solidFill>
                  <a:srgbClr val="FFFFFF"/>
                </a:solidFill>
                <a:latin typeface="Arial"/>
                <a:ea typeface="Arial"/>
                <a:cs typeface="Arial"/>
              </a:rPr>
              <a:t>Authority boundaries are part of the design: one owner for each command and TF boundary, with stale or unsafe inputs rejected.</a:t>
            </a:r>
          </a:p>
        </p:txBody>
      </p:sp>
      <p:sp>
        <p:nvSpPr>
          <p:cNvPr id="15" name="">
            <a:extLst xmlns:a="http://schemas.openxmlformats.org/drawingml/2006/main">
              <a:ext uri="{FF2B5EF4-FFF2-40B4-BE49-F238E27FC236}">
                <a16:creationId xmlns:a16="http://schemas.microsoft.com/office/drawing/2014/main" id="{F74BB5C1-3AF3-4186-B74B-9EF98B010F72}"/>
              </a:ext>
            </a:extLst>
          </p:cNvPr>
          <p:cNvSpPr>
            <a:spLocks xmlns:a="http://schemas.openxmlformats.org/drawingml/2006/main" noGrp="1"/>
          </p:cNvSpPr>
          <p:nvPr/>
        </p:nvSpPr>
        <p:spPr>
          <a:xfrm xmlns:a="http://schemas.openxmlformats.org/drawingml/2006/main">
            <a:off x="533400" y="6543675"/>
            <a:ext cx="1009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94A3B8"/>
                </a:solidFill>
                <a:latin typeface="Arial"/>
                <a:ea typeface="Arial"/>
                <a:cs typeface="Arial"/>
              </a:defRPr>
            </a:pPr>
            <a:r>
              <a:rPr sz="750" b="0">
                <a:solidFill>
                  <a:srgbClr val="94A3B8"/>
                </a:solidFill>
                <a:latin typeface="Arial"/>
                <a:ea typeface="Arial"/>
                <a:cs typeface="Arial"/>
              </a:rPr>
              <a:t>Sources: src/README.md; src/amr_bringup/config/interface_ownership.yaml; src/amr_slam/config/mapper.yaml; src/amr_factory/config/amcl.yaml</a:t>
            </a:r>
          </a:p>
        </p:txBody>
      </p:sp>
      <p:sp>
        <p:nvSpPr>
          <p:cNvPr id="16" name="">
            <a:extLst xmlns:a="http://schemas.openxmlformats.org/drawingml/2006/main">
              <a:ext uri="{FF2B5EF4-FFF2-40B4-BE49-F238E27FC236}">
                <a16:creationId xmlns:a16="http://schemas.microsoft.com/office/drawing/2014/main" id="{D9FDA883-58E6-411B-9866-707F15FBEF48}"/>
              </a:ext>
            </a:extLst>
          </p:cNvPr>
          <p:cNvSpPr>
            <a:spLocks xmlns:a="http://schemas.openxmlformats.org/drawingml/2006/main" noGrp="1"/>
          </p:cNvSpPr>
          <p:nvPr/>
        </p:nvSpPr>
        <p:spPr>
          <a:xfrm xmlns:a="http://schemas.openxmlformats.org/drawingml/2006/main">
            <a:off x="11191875" y="65151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02</a:t>
            </a:r>
          </a:p>
        </p:txBody>
      </p:sp>
    </p:spTree>
    <p:extLst>
      <p:ext uri="{BB962C8B-B14F-4D97-AF65-F5344CB8AC3E}">
        <p14:creationId xmlns:p14="http://schemas.microsoft.com/office/powerpoint/2010/main" val="2082350135"/>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5ADA622-E51D-4848-8C6E-2086502F579F}"/>
              </a:ext>
            </a:extLst>
          </p:cNvPr>
          <p:cNvSpPr>
            <a:spLocks xmlns:a="http://schemas.openxmlformats.org/drawingml/2006/main" noGrp="1"/>
          </p:cNvSpPr>
          <p:nvPr/>
        </p:nvSpPr>
        <p:spPr>
          <a:xfrm xmlns:a="http://schemas.openxmlformats.org/drawingml/2006/main">
            <a:off x="552450" y="2286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AMR ROS 2 SOFTWARE ARCHITECTURE</a:t>
            </a:r>
          </a:p>
        </p:txBody>
      </p:sp>
      <p:sp>
        <p:nvSpPr>
          <p:cNvPr id="2" name="">
            <a:extLst xmlns:a="http://schemas.openxmlformats.org/drawingml/2006/main">
              <a:ext uri="{FF2B5EF4-FFF2-40B4-BE49-F238E27FC236}">
                <a16:creationId xmlns:a16="http://schemas.microsoft.com/office/drawing/2014/main" id="{222EFDEF-1B46-4917-9C35-67B381BBF911}"/>
              </a:ext>
            </a:extLst>
          </p:cNvPr>
          <p:cNvSpPr>
            <a:spLocks xmlns:a="http://schemas.openxmlformats.org/drawingml/2006/main" noGrp="1"/>
          </p:cNvSpPr>
          <p:nvPr/>
        </p:nvSpPr>
        <p:spPr>
          <a:xfrm xmlns:a="http://schemas.openxmlformats.org/drawingml/2006/main">
            <a:off x="533400" y="4095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325" b="1">
                <a:solidFill>
                  <a:srgbClr val="142735"/>
                </a:solidFill>
                <a:latin typeface="Arial"/>
                <a:ea typeface="Arial"/>
                <a:cs typeface="Arial"/>
              </a:defRPr>
            </a:pPr>
            <a:r>
              <a:rPr sz="2325" b="1">
                <a:solidFill>
                  <a:srgbClr val="142735"/>
                </a:solidFill>
                <a:latin typeface="Arial"/>
                <a:ea typeface="Arial"/>
                <a:cs typeface="Arial"/>
              </a:rPr>
              <a:t>End-to-end ROS 2 workflow</a:t>
            </a:r>
          </a:p>
        </p:txBody>
      </p:sp>
      <p:sp>
        <p:nvSpPr>
          <p:cNvPr id="3" name="">
            <a:extLst xmlns:a="http://schemas.openxmlformats.org/drawingml/2006/main">
              <a:ext uri="{FF2B5EF4-FFF2-40B4-BE49-F238E27FC236}">
                <a16:creationId xmlns:a16="http://schemas.microsoft.com/office/drawing/2014/main" id="{D5A2180B-87A5-413C-A0BD-3E60B5DE8B7A}"/>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80020489-7534-4FEC-A9F4-5446D1B14F98}"/>
              </a:ext>
            </a:extLst>
          </p:cNvPr>
          <p:cNvSpPr>
            <a:spLocks xmlns:a="http://schemas.openxmlformats.org/drawingml/2006/main" noGrp="1"/>
          </p:cNvSpPr>
          <p:nvPr/>
        </p:nvSpPr>
        <p:spPr>
          <a:xfrm xmlns:a="http://schemas.openxmlformats.org/drawingml/2006/main">
            <a:off x="609600" y="1162050"/>
            <a:ext cx="10715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14300" tIns="76200" rIns="114300" bIns="76200" anchor="t">
            <a:normAutofit fontScale="79365"/>
          </a:bodyPr>
          <a:lstStyle xmlns:a="http://schemas.openxmlformats.org/drawingml/2006/main"/>
          <a:p xmlns:a="http://schemas.openxmlformats.org/drawingml/2006/main">
            <a:pPr algn="l">
              <a:lnSpc>
                <a:spcPct val="105000"/>
              </a:lnSpc>
              <a:buNone/>
              <a:defRPr sz="1350" b="0">
                <a:solidFill>
                  <a:srgbClr val="52606D"/>
                </a:solidFill>
                <a:latin typeface="Arial"/>
                <a:ea typeface="Arial"/>
                <a:cs typeface="Arial"/>
              </a:defRPr>
            </a:pPr>
            <a:r>
              <a:rPr sz="1350" b="0">
                <a:solidFill>
                  <a:srgbClr val="52606D"/>
                </a:solidFill>
                <a:latin typeface="Arial"/>
                <a:ea typeface="Arial"/>
                <a:cs typeface="Arial"/>
              </a:rPr>
              <a:t>The program is a data path plus explicit authority gates. Sensor data moves forward; command ownership narrows toward the simulated base</a:t>
            </a:r>
          </a:p>
        </p:txBody>
      </p:sp>
      <p:sp>
        <p:nvSpPr>
          <p:cNvPr id="5" name="">
            <a:extLst xmlns:a="http://schemas.openxmlformats.org/drawingml/2006/main">
              <a:ext uri="{FF2B5EF4-FFF2-40B4-BE49-F238E27FC236}">
                <a16:creationId xmlns:a16="http://schemas.microsoft.com/office/drawing/2014/main" id="{CDFACC7F-7014-47E1-B38B-3FBFE9717CD0}"/>
              </a:ext>
            </a:extLst>
          </p:cNvPr>
          <p:cNvSpPr>
            <a:spLocks xmlns:a="http://schemas.openxmlformats.org/drawingml/2006/main" noGrp="1"/>
          </p:cNvSpPr>
          <p:nvPr/>
        </p:nvSpPr>
        <p:spPr>
          <a:xfrm xmlns:a="http://schemas.openxmlformats.org/drawingml/2006/main">
            <a:off x="552450" y="2143125"/>
            <a:ext cx="1371600" cy="876300"/>
          </a:xfrm>
          <a:prstGeom xmlns:a="http://schemas.openxmlformats.org/drawingml/2006/main" prst="roundRect">
            <a:avLst>
              <a:gd name="adj" fmla="val 13043"/>
            </a:avLst>
          </a:prstGeom>
          <a:solidFill xmlns:a="http://schemas.openxmlformats.org/drawingml/2006/main">
            <a:srgbClr val="FFF1E8"/>
          </a:solidFill>
          <a:ln xmlns:a="http://schemas.openxmlformats.org/drawingml/2006/main" w="14288">
            <a:solidFill>
              <a:srgbClr val="C2410C"/>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Gazebo</a:t>
            </a:r>
          </a:p>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sensors</a:t>
            </a:r>
          </a:p>
        </p:txBody>
      </p:sp>
      <p:sp>
        <p:nvSpPr>
          <p:cNvPr id="6" name="">
            <a:extLst xmlns:a="http://schemas.openxmlformats.org/drawingml/2006/main">
              <a:ext uri="{FF2B5EF4-FFF2-40B4-BE49-F238E27FC236}">
                <a16:creationId xmlns:a16="http://schemas.microsoft.com/office/drawing/2014/main" id="{69AA21C2-FE66-4B04-A26E-6589BC809505}"/>
              </a:ext>
            </a:extLst>
          </p:cNvPr>
          <p:cNvSpPr>
            <a:spLocks xmlns:a="http://schemas.openxmlformats.org/drawingml/2006/main" noGrp="1"/>
          </p:cNvSpPr>
          <p:nvPr/>
        </p:nvSpPr>
        <p:spPr>
          <a:xfrm xmlns:a="http://schemas.openxmlformats.org/drawingml/2006/main">
            <a:off x="2162175" y="2143125"/>
            <a:ext cx="1371600" cy="876300"/>
          </a:xfrm>
          <a:prstGeom xmlns:a="http://schemas.openxmlformats.org/drawingml/2006/main" prst="roundRect">
            <a:avLst>
              <a:gd name="adj" fmla="val 13043"/>
            </a:avLst>
          </a:prstGeom>
          <a:solidFill xmlns:a="http://schemas.openxmlformats.org/drawingml/2006/main">
            <a:srgbClr val="E6FFFA"/>
          </a:solidFill>
          <a:ln xmlns:a="http://schemas.openxmlformats.org/drawingml/2006/main" w="14288">
            <a:solidFill>
              <a:srgbClr val="0F766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Sensor</a:t>
            </a:r>
          </a:p>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adapters</a:t>
            </a:r>
          </a:p>
        </p:txBody>
      </p:sp>
      <p:cxnSp>
        <p:nvCxnSpPr>
          <p:cNvPr id="59" name=""/>
          <p:cNvCxnSpPr>
            <a:stCxn xmlns:a="http://schemas.openxmlformats.org/drawingml/2006/main" id="5" idx="3"/>
            <a:endCxn xmlns:a="http://schemas.openxmlformats.org/drawingml/2006/main" id="6" idx="1"/>
          </p:cNvCxnSpPr>
          <p:nvPr/>
        </p:nvCxnSpPr>
        <p:spPr>
          <a:xfrm xmlns:a="http://schemas.openxmlformats.org/drawingml/2006/main">
            <a:off x="1924050" y="2581275"/>
            <a:ext cx="238125"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8" name="">
            <a:extLst xmlns:a="http://schemas.openxmlformats.org/drawingml/2006/main">
              <a:ext uri="{FF2B5EF4-FFF2-40B4-BE49-F238E27FC236}">
                <a16:creationId xmlns:a16="http://schemas.microsoft.com/office/drawing/2014/main" id="{0665490C-16FE-4C9C-8D1A-6503BB344B4B}"/>
              </a:ext>
            </a:extLst>
          </p:cNvPr>
          <p:cNvSpPr>
            <a:spLocks xmlns:a="http://schemas.openxmlformats.org/drawingml/2006/main" noGrp="1"/>
          </p:cNvSpPr>
          <p:nvPr/>
        </p:nvSpPr>
        <p:spPr>
          <a:xfrm xmlns:a="http://schemas.openxmlformats.org/drawingml/2006/main">
            <a:off x="3771900" y="2143125"/>
            <a:ext cx="1371600" cy="876300"/>
          </a:xfrm>
          <a:prstGeom xmlns:a="http://schemas.openxmlformats.org/drawingml/2006/main" prst="roundRect">
            <a:avLst>
              <a:gd name="adj" fmla="val 13043"/>
            </a:avLst>
          </a:prstGeom>
          <a:solidFill xmlns:a="http://schemas.openxmlformats.org/drawingml/2006/main">
            <a:srgbClr val="F1EAFE"/>
          </a:solidFill>
          <a:ln xmlns:a="http://schemas.openxmlformats.org/drawingml/2006/main" w="14288">
            <a:solidFill>
              <a:srgbClr val="6D28D9"/>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EKF +</a:t>
            </a:r>
          </a:p>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localization</a:t>
            </a:r>
          </a:p>
        </p:txBody>
      </p:sp>
      <p:cxnSp>
        <p:nvCxnSpPr>
          <p:cNvPr id="61" name=""/>
          <p:cNvCxnSpPr>
            <a:stCxn xmlns:a="http://schemas.openxmlformats.org/drawingml/2006/main" id="6" idx="3"/>
            <a:endCxn xmlns:a="http://schemas.openxmlformats.org/drawingml/2006/main" id="8" idx="1"/>
          </p:cNvCxnSpPr>
          <p:nvPr/>
        </p:nvCxnSpPr>
        <p:spPr>
          <a:xfrm xmlns:a="http://schemas.openxmlformats.org/drawingml/2006/main">
            <a:off x="3533775" y="2581275"/>
            <a:ext cx="238125"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10" name="">
            <a:extLst xmlns:a="http://schemas.openxmlformats.org/drawingml/2006/main">
              <a:ext uri="{FF2B5EF4-FFF2-40B4-BE49-F238E27FC236}">
                <a16:creationId xmlns:a16="http://schemas.microsoft.com/office/drawing/2014/main" id="{5D34E0D5-DB7F-4D11-A360-BF0B922E670B}"/>
              </a:ext>
            </a:extLst>
          </p:cNvPr>
          <p:cNvSpPr>
            <a:spLocks xmlns:a="http://schemas.openxmlformats.org/drawingml/2006/main" noGrp="1"/>
          </p:cNvSpPr>
          <p:nvPr/>
        </p:nvSpPr>
        <p:spPr>
          <a:xfrm xmlns:a="http://schemas.openxmlformats.org/drawingml/2006/main">
            <a:off x="5381625" y="2143125"/>
            <a:ext cx="1371600" cy="876300"/>
          </a:xfrm>
          <a:prstGeom xmlns:a="http://schemas.openxmlformats.org/drawingml/2006/main" prst="roundRect">
            <a:avLst>
              <a:gd name="adj" fmla="val 13043"/>
            </a:avLst>
          </a:prstGeom>
          <a:solidFill xmlns:a="http://schemas.openxmlformats.org/drawingml/2006/main">
            <a:srgbClr val="EAF2FF"/>
          </a:solidFill>
          <a:ln xmlns:a="http://schemas.openxmlformats.org/drawingml/2006/main" w="14288">
            <a:solidFill>
              <a:srgbClr val="1D4ED8"/>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SLAM /</a:t>
            </a:r>
          </a:p>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AMCL</a:t>
            </a:r>
          </a:p>
        </p:txBody>
      </p:sp>
      <p:cxnSp>
        <p:nvCxnSpPr>
          <p:cNvPr id="63" name=""/>
          <p:cNvCxnSpPr>
            <a:stCxn xmlns:a="http://schemas.openxmlformats.org/drawingml/2006/main" id="8" idx="3"/>
            <a:endCxn xmlns:a="http://schemas.openxmlformats.org/drawingml/2006/main" id="10" idx="1"/>
          </p:cNvCxnSpPr>
          <p:nvPr/>
        </p:nvCxnSpPr>
        <p:spPr>
          <a:xfrm xmlns:a="http://schemas.openxmlformats.org/drawingml/2006/main">
            <a:off x="5143500" y="2581275"/>
            <a:ext cx="238125"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12" name="">
            <a:extLst xmlns:a="http://schemas.openxmlformats.org/drawingml/2006/main">
              <a:ext uri="{FF2B5EF4-FFF2-40B4-BE49-F238E27FC236}">
                <a16:creationId xmlns:a16="http://schemas.microsoft.com/office/drawing/2014/main" id="{D38F5673-16D9-411F-85CA-76B4553E72AB}"/>
              </a:ext>
            </a:extLst>
          </p:cNvPr>
          <p:cNvSpPr>
            <a:spLocks xmlns:a="http://schemas.openxmlformats.org/drawingml/2006/main" noGrp="1"/>
          </p:cNvSpPr>
          <p:nvPr/>
        </p:nvSpPr>
        <p:spPr>
          <a:xfrm xmlns:a="http://schemas.openxmlformats.org/drawingml/2006/main">
            <a:off x="6991350" y="2143125"/>
            <a:ext cx="1371600" cy="876300"/>
          </a:xfrm>
          <a:prstGeom xmlns:a="http://schemas.openxmlformats.org/drawingml/2006/main" prst="roundRect">
            <a:avLst>
              <a:gd name="adj" fmla="val 13043"/>
            </a:avLst>
          </a:prstGeom>
          <a:solidFill xmlns:a="http://schemas.openxmlformats.org/drawingml/2006/main">
            <a:srgbClr val="EEF2FF"/>
          </a:solidFill>
          <a:ln xmlns:a="http://schemas.openxmlformats.org/drawingml/2006/main" w="14288">
            <a:solidFill>
              <a:srgbClr val="1D4ED8"/>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Nav2 planner</a:t>
            </a:r>
          </a:p>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 smoother</a:t>
            </a:r>
          </a:p>
        </p:txBody>
      </p:sp>
      <p:cxnSp>
        <p:nvCxnSpPr>
          <p:cNvPr id="65" name=""/>
          <p:cNvCxnSpPr>
            <a:stCxn xmlns:a="http://schemas.openxmlformats.org/drawingml/2006/main" id="10" idx="3"/>
            <a:endCxn xmlns:a="http://schemas.openxmlformats.org/drawingml/2006/main" id="12" idx="1"/>
          </p:cNvCxnSpPr>
          <p:nvPr/>
        </p:nvCxnSpPr>
        <p:spPr>
          <a:xfrm xmlns:a="http://schemas.openxmlformats.org/drawingml/2006/main">
            <a:off x="6753225" y="2581275"/>
            <a:ext cx="238125"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14" name="">
            <a:extLst xmlns:a="http://schemas.openxmlformats.org/drawingml/2006/main">
              <a:ext uri="{FF2B5EF4-FFF2-40B4-BE49-F238E27FC236}">
                <a16:creationId xmlns:a16="http://schemas.microsoft.com/office/drawing/2014/main" id="{629270B9-A91D-43CD-B832-3D84C6EE6E20}"/>
              </a:ext>
            </a:extLst>
          </p:cNvPr>
          <p:cNvSpPr>
            <a:spLocks xmlns:a="http://schemas.openxmlformats.org/drawingml/2006/main" noGrp="1"/>
          </p:cNvSpPr>
          <p:nvPr/>
        </p:nvSpPr>
        <p:spPr>
          <a:xfrm xmlns:a="http://schemas.openxmlformats.org/drawingml/2006/main">
            <a:off x="8601075" y="2143125"/>
            <a:ext cx="1371600" cy="876300"/>
          </a:xfrm>
          <a:prstGeom xmlns:a="http://schemas.openxmlformats.org/drawingml/2006/main" prst="roundRect">
            <a:avLst>
              <a:gd name="adj" fmla="val 13043"/>
            </a:avLst>
          </a:prstGeom>
          <a:solidFill xmlns:a="http://schemas.openxmlformats.org/drawingml/2006/main">
            <a:srgbClr val="E6FFFA"/>
          </a:solidFill>
          <a:ln xmlns:a="http://schemas.openxmlformats.org/drawingml/2006/main" w="14288">
            <a:solidFill>
              <a:srgbClr val="0F766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RPP</a:t>
            </a:r>
          </a:p>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controller</a:t>
            </a:r>
          </a:p>
        </p:txBody>
      </p:sp>
      <p:cxnSp>
        <p:nvCxnSpPr>
          <p:cNvPr id="67" name=""/>
          <p:cNvCxnSpPr>
            <a:stCxn xmlns:a="http://schemas.openxmlformats.org/drawingml/2006/main" id="12" idx="3"/>
            <a:endCxn xmlns:a="http://schemas.openxmlformats.org/drawingml/2006/main" id="14" idx="1"/>
          </p:cNvCxnSpPr>
          <p:nvPr/>
        </p:nvCxnSpPr>
        <p:spPr>
          <a:xfrm xmlns:a="http://schemas.openxmlformats.org/drawingml/2006/main">
            <a:off x="8362950" y="2581275"/>
            <a:ext cx="238125"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16" name="">
            <a:extLst xmlns:a="http://schemas.openxmlformats.org/drawingml/2006/main">
              <a:ext uri="{FF2B5EF4-FFF2-40B4-BE49-F238E27FC236}">
                <a16:creationId xmlns:a16="http://schemas.microsoft.com/office/drawing/2014/main" id="{45F0A103-C5C6-4B34-9610-9D16D7FB90E3}"/>
              </a:ext>
            </a:extLst>
          </p:cNvPr>
          <p:cNvSpPr>
            <a:spLocks xmlns:a="http://schemas.openxmlformats.org/drawingml/2006/main" noGrp="1"/>
          </p:cNvSpPr>
          <p:nvPr/>
        </p:nvSpPr>
        <p:spPr>
          <a:xfrm xmlns:a="http://schemas.openxmlformats.org/drawingml/2006/main">
            <a:off x="10210800" y="2143125"/>
            <a:ext cx="1371600" cy="876300"/>
          </a:xfrm>
          <a:prstGeom xmlns:a="http://schemas.openxmlformats.org/drawingml/2006/main" prst="roundRect">
            <a:avLst>
              <a:gd name="adj" fmla="val 13043"/>
            </a:avLst>
          </a:prstGeom>
          <a:solidFill xmlns:a="http://schemas.openxmlformats.org/drawingml/2006/main">
            <a:srgbClr val="FFF1E8"/>
          </a:solidFill>
          <a:ln xmlns:a="http://schemas.openxmlformats.org/drawingml/2006/main" w="14288">
            <a:solidFill>
              <a:srgbClr val="C2410C"/>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Arbitration</a:t>
            </a:r>
          </a:p>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 base</a:t>
            </a:r>
          </a:p>
        </p:txBody>
      </p:sp>
      <p:cxnSp>
        <p:nvCxnSpPr>
          <p:cNvPr id="69" name=""/>
          <p:cNvCxnSpPr>
            <a:stCxn xmlns:a="http://schemas.openxmlformats.org/drawingml/2006/main" id="14" idx="3"/>
            <a:endCxn xmlns:a="http://schemas.openxmlformats.org/drawingml/2006/main" id="16" idx="1"/>
          </p:cNvCxnSpPr>
          <p:nvPr/>
        </p:nvCxnSpPr>
        <p:spPr>
          <a:xfrm xmlns:a="http://schemas.openxmlformats.org/drawingml/2006/main">
            <a:off x="9972675" y="2581275"/>
            <a:ext cx="238125"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18" name="">
            <a:extLst xmlns:a="http://schemas.openxmlformats.org/drawingml/2006/main">
              <a:ext uri="{FF2B5EF4-FFF2-40B4-BE49-F238E27FC236}">
                <a16:creationId xmlns:a16="http://schemas.microsoft.com/office/drawing/2014/main" id="{9D371B29-E649-4A48-A368-2AD4EE200C54}"/>
              </a:ext>
            </a:extLst>
          </p:cNvPr>
          <p:cNvSpPr>
            <a:spLocks xmlns:a="http://schemas.openxmlformats.org/drawingml/2006/main" noGrp="1"/>
          </p:cNvSpPr>
          <p:nvPr/>
        </p:nvSpPr>
        <p:spPr>
          <a:xfrm xmlns:a="http://schemas.openxmlformats.org/drawingml/2006/main">
            <a:off x="1066800" y="3714750"/>
            <a:ext cx="31432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1D4ED8"/>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Mission / factory supervisor</a:t>
            </a:r>
          </a:p>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NavigateToPose, product cycle, home</a:t>
            </a:r>
          </a:p>
        </p:txBody>
      </p:sp>
      <p:sp>
        <p:nvSpPr>
          <p:cNvPr id="19" name="">
            <a:extLst xmlns:a="http://schemas.openxmlformats.org/drawingml/2006/main">
              <a:ext uri="{FF2B5EF4-FFF2-40B4-BE49-F238E27FC236}">
                <a16:creationId xmlns:a16="http://schemas.microsoft.com/office/drawing/2014/main" id="{D2E24E5A-E95F-4125-9DB5-3A8AB3F8F99B}"/>
              </a:ext>
            </a:extLst>
          </p:cNvPr>
          <p:cNvSpPr>
            <a:spLocks xmlns:a="http://schemas.openxmlformats.org/drawingml/2006/main" noGrp="1"/>
          </p:cNvSpPr>
          <p:nvPr/>
        </p:nvSpPr>
        <p:spPr>
          <a:xfrm xmlns:a="http://schemas.openxmlformats.org/drawingml/2006/main">
            <a:off x="4686300" y="3714750"/>
            <a:ext cx="2571750" cy="628650"/>
          </a:xfrm>
          <a:prstGeom xmlns:a="http://schemas.openxmlformats.org/drawingml/2006/main" prst="roundRect">
            <a:avLst>
              <a:gd name="adj" fmla="val 18182"/>
            </a:avLst>
          </a:prstGeom>
          <a:solidFill xmlns:a="http://schemas.openxmlformats.org/drawingml/2006/main">
            <a:srgbClr val="F1EAFE"/>
          </a:solidFill>
          <a:ln xmlns:a="http://schemas.openxmlformats.org/drawingml/2006/main" w="9525">
            <a:solidFill>
              <a:srgbClr val="6D28D9"/>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MoveIt2</a:t>
            </a:r>
          </a:p>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arm and gripper trajectory</a:t>
            </a:r>
          </a:p>
        </p:txBody>
      </p:sp>
      <p:sp>
        <p:nvSpPr>
          <p:cNvPr id="20" name="">
            <a:extLst xmlns:a="http://schemas.openxmlformats.org/drawingml/2006/main">
              <a:ext uri="{FF2B5EF4-FFF2-40B4-BE49-F238E27FC236}">
                <a16:creationId xmlns:a16="http://schemas.microsoft.com/office/drawing/2014/main" id="{C8C97BB2-5C3C-49FE-84A1-669BD887532D}"/>
              </a:ext>
            </a:extLst>
          </p:cNvPr>
          <p:cNvSpPr>
            <a:spLocks xmlns:a="http://schemas.openxmlformats.org/drawingml/2006/main" noGrp="1"/>
          </p:cNvSpPr>
          <p:nvPr/>
        </p:nvSpPr>
        <p:spPr>
          <a:xfrm xmlns:a="http://schemas.openxmlformats.org/drawingml/2006/main">
            <a:off x="7800975" y="3714750"/>
            <a:ext cx="2571750" cy="628650"/>
          </a:xfrm>
          <a:prstGeom xmlns:a="http://schemas.openxmlformats.org/drawingml/2006/main" prst="roundRect">
            <a:avLst>
              <a:gd name="adj" fmla="val 18182"/>
            </a:avLst>
          </a:prstGeom>
          <a:solidFill xmlns:a="http://schemas.openxmlformats.org/drawingml/2006/main">
            <a:srgbClr val="FFF1E8"/>
          </a:solidFill>
          <a:ln xmlns:a="http://schemas.openxmlformats.org/drawingml/2006/main" w="9525">
            <a:solidFill>
              <a:srgbClr val="C2410C"/>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Gazebo plant</a:t>
            </a:r>
          </a:p>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watchdog + diff drive</a:t>
            </a:r>
          </a:p>
        </p:txBody>
      </p:sp>
      <p:cxnSp>
        <p:nvCxnSpPr>
          <p:cNvPr id="73" name=""/>
          <p:cNvCxnSpPr>
            <a:stCxn xmlns:a="http://schemas.openxmlformats.org/drawingml/2006/main" id="18" idx="0"/>
            <a:endCxn xmlns:a="http://schemas.openxmlformats.org/drawingml/2006/main" id="12" idx="2"/>
          </p:cNvCxnSpPr>
          <p:nvPr/>
        </p:nvCxnSpPr>
        <p:spPr>
          <a:xfrm xmlns:a="http://schemas.openxmlformats.org/drawingml/2006/main" flipV="1">
            <a:off x="2638425" y="3019425"/>
            <a:ext cx="5038725" cy="695325"/>
          </a:xfrm>
          <a:prstGeom xmlns:a="http://schemas.openxmlformats.org/drawingml/2006/main" prst="straightConnector1">
            <a:avLst/>
          </a:prstGeom>
          <a:ln xmlns:a="http://schemas.openxmlformats.org/drawingml/2006/main" w="19050">
            <a:solidFill>
              <a:srgbClr val="1D4ED8"/>
            </a:solidFill>
            <a:prstDash val="solid"/>
            <a:headEnd type="none" w="med" len="med"/>
            <a:tailEnd type="arrow" w="sm" len="sm"/>
          </a:ln>
        </p:spPr>
      </p:cxnSp>
      <p:cxnSp>
        <p:nvCxnSpPr>
          <p:cNvPr id="74" name=""/>
          <p:cNvCxnSpPr>
            <a:stCxn xmlns:a="http://schemas.openxmlformats.org/drawingml/2006/main" id="19" idx="3"/>
            <a:endCxn xmlns:a="http://schemas.openxmlformats.org/drawingml/2006/main" id="20" idx="1"/>
          </p:cNvCxnSpPr>
          <p:nvPr/>
        </p:nvCxnSpPr>
        <p:spPr>
          <a:xfrm xmlns:a="http://schemas.openxmlformats.org/drawingml/2006/main">
            <a:off x="7258050" y="4029075"/>
            <a:ext cx="542925" cy="0"/>
          </a:xfrm>
          <a:prstGeom xmlns:a="http://schemas.openxmlformats.org/drawingml/2006/main" prst="straightConnector1">
            <a:avLst/>
          </a:prstGeom>
          <a:ln xmlns:a="http://schemas.openxmlformats.org/drawingml/2006/main" w="19050">
            <a:solidFill>
              <a:srgbClr val="6D28D9"/>
            </a:solidFill>
            <a:prstDash val="solid"/>
            <a:headEnd type="none" w="med" len="med"/>
            <a:tailEnd type="arrow" w="sm" len="sm"/>
          </a:ln>
        </p:spPr>
      </p:cxnSp>
      <p:cxnSp>
        <p:nvCxnSpPr>
          <p:cNvPr id="75" name=""/>
          <p:cNvCxnSpPr>
            <a:stCxn xmlns:a="http://schemas.openxmlformats.org/drawingml/2006/main" id="16" idx="2"/>
            <a:endCxn xmlns:a="http://schemas.openxmlformats.org/drawingml/2006/main" id="20" idx="0"/>
          </p:cNvCxnSpPr>
          <p:nvPr/>
        </p:nvCxnSpPr>
        <p:spPr>
          <a:xfrm xmlns:a="http://schemas.openxmlformats.org/drawingml/2006/main" flipH="1">
            <a:off x="9086850" y="3019425"/>
            <a:ext cx="1809750" cy="695325"/>
          </a:xfrm>
          <a:prstGeom xmlns:a="http://schemas.openxmlformats.org/drawingml/2006/main" prst="straightConnector1">
            <a:avLst/>
          </a:prstGeom>
          <a:ln xmlns:a="http://schemas.openxmlformats.org/drawingml/2006/main" w="19050">
            <a:solidFill>
              <a:srgbClr val="C2410C"/>
            </a:solidFill>
            <a:prstDash val="solid"/>
            <a:headEnd type="none" w="med" len="med"/>
            <a:tailEnd type="arrow" w="sm" len="sm"/>
          </a:ln>
        </p:spPr>
      </p:cxnSp>
      <p:sp>
        <p:nvSpPr>
          <p:cNvPr id="24" name="">
            <a:extLst xmlns:a="http://schemas.openxmlformats.org/drawingml/2006/main">
              <a:ext uri="{FF2B5EF4-FFF2-40B4-BE49-F238E27FC236}">
                <a16:creationId xmlns:a16="http://schemas.microsoft.com/office/drawing/2014/main" id="{679A01BF-9946-4643-818D-44AE8DA93A88}"/>
              </a:ext>
            </a:extLst>
          </p:cNvPr>
          <p:cNvSpPr>
            <a:spLocks xmlns:a="http://schemas.openxmlformats.org/drawingml/2006/main" noGrp="1"/>
          </p:cNvSpPr>
          <p:nvPr/>
        </p:nvSpPr>
        <p:spPr>
          <a:xfrm xmlns:a="http://schemas.openxmlformats.org/drawingml/2006/main">
            <a:off x="609600" y="480060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14300" tIns="76200" rIns="114300" bIns="76200" anchor="t">
            <a:normAutofit fontScale="24420"/>
          </a:bodyPr>
          <a:lstStyle xmlns:a="http://schemas.openxmlformats.org/drawingml/2006/main"/>
          <a:p xmlns:a="http://schemas.openxmlformats.org/drawingml/2006/main">
            <a:pPr algn="l">
              <a:lnSpc>
                <a:spcPct val="105000"/>
              </a:lnSpc>
              <a:buNone/>
              <a:defRPr sz="975" b="1">
                <a:solidFill>
                  <a:srgbClr val="0F766E"/>
                </a:solidFill>
                <a:latin typeface="Arial"/>
                <a:ea typeface="Arial"/>
                <a:cs typeface="Arial"/>
              </a:defRPr>
            </a:pPr>
            <a:r>
              <a:rPr sz="975" b="1">
                <a:solidFill>
                  <a:srgbClr val="0F766E"/>
                </a:solidFill>
                <a:latin typeface="Arial"/>
                <a:ea typeface="Arial"/>
                <a:cs typeface="Arial"/>
              </a:rPr>
              <a:t>State path</a:t>
            </a:r>
          </a:p>
        </p:txBody>
      </p:sp>
      <p:sp>
        <p:nvSpPr>
          <p:cNvPr id="25" name="">
            <a:extLst xmlns:a="http://schemas.openxmlformats.org/drawingml/2006/main">
              <a:ext uri="{FF2B5EF4-FFF2-40B4-BE49-F238E27FC236}">
                <a16:creationId xmlns:a16="http://schemas.microsoft.com/office/drawing/2014/main" id="{8012C2C6-5222-4539-958C-87BC016FA5C4}"/>
              </a:ext>
            </a:extLst>
          </p:cNvPr>
          <p:cNvSpPr>
            <a:spLocks xmlns:a="http://schemas.openxmlformats.org/drawingml/2006/main" noGrp="1"/>
          </p:cNvSpPr>
          <p:nvPr/>
        </p:nvSpPr>
        <p:spPr>
          <a:xfrm xmlns:a="http://schemas.openxmlformats.org/drawingml/2006/main">
            <a:off x="1428750" y="4800600"/>
            <a:ext cx="885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0">
                <a:solidFill>
                  <a:srgbClr val="52606D"/>
                </a:solidFill>
                <a:latin typeface="Arial"/>
                <a:ea typeface="Arial"/>
                <a:cs typeface="Arial"/>
              </a:defRPr>
            </a:pPr>
            <a:r>
              <a:rPr sz="1125" b="0">
                <a:solidFill>
                  <a:srgbClr val="52606D"/>
                </a:solidFill>
                <a:latin typeface="Arial"/>
                <a:ea typeface="Arial"/>
                <a:cs typeface="Arial"/>
              </a:rPr>
              <a:t>wheel + IMU  →  EKF  →  odom → base_footprint  →  Nav2</a:t>
            </a:r>
          </a:p>
        </p:txBody>
      </p:sp>
      <p:sp>
        <p:nvSpPr>
          <p:cNvPr id="26" name="">
            <a:extLst xmlns:a="http://schemas.openxmlformats.org/drawingml/2006/main">
              <a:ext uri="{FF2B5EF4-FFF2-40B4-BE49-F238E27FC236}">
                <a16:creationId xmlns:a16="http://schemas.microsoft.com/office/drawing/2014/main" id="{364870D5-A326-44FA-9AF2-96FF872B248B}"/>
              </a:ext>
            </a:extLst>
          </p:cNvPr>
          <p:cNvSpPr>
            <a:spLocks xmlns:a="http://schemas.openxmlformats.org/drawingml/2006/main" noGrp="1"/>
          </p:cNvSpPr>
          <p:nvPr/>
        </p:nvSpPr>
        <p:spPr>
          <a:xfrm xmlns:a="http://schemas.openxmlformats.org/drawingml/2006/main">
            <a:off x="609600" y="5162550"/>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14300" tIns="76200" rIns="114300" bIns="76200" anchor="t">
            <a:normAutofit fontScale="24420"/>
          </a:bodyPr>
          <a:lstStyle xmlns:a="http://schemas.openxmlformats.org/drawingml/2006/main"/>
          <a:p xmlns:a="http://schemas.openxmlformats.org/drawingml/2006/main">
            <a:pPr algn="l">
              <a:lnSpc>
                <a:spcPct val="105000"/>
              </a:lnSpc>
              <a:buNone/>
              <a:defRPr sz="975" b="1">
                <a:solidFill>
                  <a:srgbClr val="C2410C"/>
                </a:solidFill>
                <a:latin typeface="Arial"/>
                <a:ea typeface="Arial"/>
                <a:cs typeface="Arial"/>
              </a:defRPr>
            </a:pPr>
            <a:r>
              <a:rPr sz="975" b="1">
                <a:solidFill>
                  <a:srgbClr val="C2410C"/>
                </a:solidFill>
                <a:latin typeface="Arial"/>
                <a:ea typeface="Arial"/>
                <a:cs typeface="Arial"/>
              </a:rPr>
              <a:t>Command path</a:t>
            </a:r>
          </a:p>
        </p:txBody>
      </p:sp>
      <p:sp>
        <p:nvSpPr>
          <p:cNvPr id="27" name="">
            <a:extLst xmlns:a="http://schemas.openxmlformats.org/drawingml/2006/main">
              <a:ext uri="{FF2B5EF4-FFF2-40B4-BE49-F238E27FC236}">
                <a16:creationId xmlns:a16="http://schemas.microsoft.com/office/drawing/2014/main" id="{6A9A588A-A28D-4EB4-8451-77BD1F824B53}"/>
              </a:ext>
            </a:extLst>
          </p:cNvPr>
          <p:cNvSpPr>
            <a:spLocks xmlns:a="http://schemas.openxmlformats.org/drawingml/2006/main" noGrp="1"/>
          </p:cNvSpPr>
          <p:nvPr/>
        </p:nvSpPr>
        <p:spPr>
          <a:xfrm xmlns:a="http://schemas.openxmlformats.org/drawingml/2006/main">
            <a:off x="1714500" y="5162550"/>
            <a:ext cx="9191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0">
                <a:solidFill>
                  <a:srgbClr val="52606D"/>
                </a:solidFill>
                <a:latin typeface="Arial"/>
                <a:ea typeface="Arial"/>
                <a:cs typeface="Arial"/>
              </a:defRPr>
            </a:pPr>
            <a:r>
              <a:rPr sz="1125" b="0">
                <a:solidFill>
                  <a:srgbClr val="52606D"/>
                </a:solidFill>
                <a:latin typeface="Arial"/>
                <a:ea typeface="Arial"/>
                <a:cs typeface="Arial"/>
              </a:rPr>
              <a:t>RPP  →  arbitration  →  base adapter  →  Gazebo</a:t>
            </a:r>
          </a:p>
        </p:txBody>
      </p:sp>
      <p:sp>
        <p:nvSpPr>
          <p:cNvPr id="28" name="">
            <a:extLst xmlns:a="http://schemas.openxmlformats.org/drawingml/2006/main">
              <a:ext uri="{FF2B5EF4-FFF2-40B4-BE49-F238E27FC236}">
                <a16:creationId xmlns:a16="http://schemas.microsoft.com/office/drawing/2014/main" id="{8F10F0AD-38D0-4DB3-A760-D428DFBD5815}"/>
              </a:ext>
            </a:extLst>
          </p:cNvPr>
          <p:cNvSpPr>
            <a:spLocks xmlns:a="http://schemas.openxmlformats.org/drawingml/2006/main" noGrp="1"/>
          </p:cNvSpPr>
          <p:nvPr/>
        </p:nvSpPr>
        <p:spPr>
          <a:xfrm xmlns:a="http://schemas.openxmlformats.org/drawingml/2006/main">
            <a:off x="533400" y="6543675"/>
            <a:ext cx="1009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94A3B8"/>
                </a:solidFill>
                <a:latin typeface="Arial"/>
                <a:ea typeface="Arial"/>
                <a:cs typeface="Arial"/>
              </a:defRPr>
            </a:pPr>
            <a:r>
              <a:rPr sz="750" b="0">
                <a:solidFill>
                  <a:srgbClr val="94A3B8"/>
                </a:solidFill>
                <a:latin typeface="Arial"/>
                <a:ea typeface="Arial"/>
                <a:cs typeface="Arial"/>
              </a:rPr>
              <a:t>Sources: src/amr_bringup/config/interface_ownership.yaml; src/amr_navigation/config/planner.yaml; src/amr_mpc_controller/config/controller.yaml</a:t>
            </a:r>
          </a:p>
        </p:txBody>
      </p:sp>
      <p:sp>
        <p:nvSpPr>
          <p:cNvPr id="29" name="">
            <a:extLst xmlns:a="http://schemas.openxmlformats.org/drawingml/2006/main">
              <a:ext uri="{FF2B5EF4-FFF2-40B4-BE49-F238E27FC236}">
                <a16:creationId xmlns:a16="http://schemas.microsoft.com/office/drawing/2014/main" id="{B670A3AC-DD17-43B4-ABC7-1BC0AEE814CF}"/>
              </a:ext>
            </a:extLst>
          </p:cNvPr>
          <p:cNvSpPr>
            <a:spLocks xmlns:a="http://schemas.openxmlformats.org/drawingml/2006/main" noGrp="1"/>
          </p:cNvSpPr>
          <p:nvPr/>
        </p:nvSpPr>
        <p:spPr>
          <a:xfrm xmlns:a="http://schemas.openxmlformats.org/drawingml/2006/main">
            <a:off x="11191875" y="65151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03</a:t>
            </a:r>
          </a:p>
        </p:txBody>
      </p:sp>
    </p:spTree>
    <p:extLst>
      <p:ext uri="{BB962C8B-B14F-4D97-AF65-F5344CB8AC3E}">
        <p14:creationId xmlns:p14="http://schemas.microsoft.com/office/powerpoint/2010/main" val="49743030"/>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562D873-F902-475B-8788-59DC58045919}"/>
              </a:ext>
            </a:extLst>
          </p:cNvPr>
          <p:cNvSpPr>
            <a:spLocks xmlns:a="http://schemas.openxmlformats.org/drawingml/2006/main" noGrp="1"/>
          </p:cNvSpPr>
          <p:nvPr/>
        </p:nvSpPr>
        <p:spPr>
          <a:xfrm xmlns:a="http://schemas.openxmlformats.org/drawingml/2006/main">
            <a:off x="552450" y="2286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AMR ROS 2 SOFTWARE ARCHITECTURE</a:t>
            </a:r>
          </a:p>
        </p:txBody>
      </p:sp>
      <p:sp>
        <p:nvSpPr>
          <p:cNvPr id="2" name="">
            <a:extLst xmlns:a="http://schemas.openxmlformats.org/drawingml/2006/main">
              <a:ext uri="{FF2B5EF4-FFF2-40B4-BE49-F238E27FC236}">
                <a16:creationId xmlns:a16="http://schemas.microsoft.com/office/drawing/2014/main" id="{67BF08FD-7229-499E-AC51-D5E02D7909FE}"/>
              </a:ext>
            </a:extLst>
          </p:cNvPr>
          <p:cNvSpPr>
            <a:spLocks xmlns:a="http://schemas.openxmlformats.org/drawingml/2006/main" noGrp="1"/>
          </p:cNvSpPr>
          <p:nvPr/>
        </p:nvSpPr>
        <p:spPr>
          <a:xfrm xmlns:a="http://schemas.openxmlformats.org/drawingml/2006/main">
            <a:off x="533400" y="4095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325" b="1">
                <a:solidFill>
                  <a:srgbClr val="142735"/>
                </a:solidFill>
                <a:latin typeface="Arial"/>
                <a:ea typeface="Arial"/>
                <a:cs typeface="Arial"/>
              </a:defRPr>
            </a:pPr>
            <a:r>
              <a:rPr sz="2325" b="1">
                <a:solidFill>
                  <a:srgbClr val="142735"/>
                </a:solidFill>
                <a:latin typeface="Arial"/>
                <a:ea typeface="Arial"/>
                <a:cs typeface="Arial"/>
              </a:rPr>
              <a:t>AMR capabilities and operating loop</a:t>
            </a:r>
          </a:p>
        </p:txBody>
      </p:sp>
      <p:sp>
        <p:nvSpPr>
          <p:cNvPr id="3" name="">
            <a:extLst xmlns:a="http://schemas.openxmlformats.org/drawingml/2006/main">
              <a:ext uri="{FF2B5EF4-FFF2-40B4-BE49-F238E27FC236}">
                <a16:creationId xmlns:a16="http://schemas.microsoft.com/office/drawing/2014/main" id="{4A5CA8A7-538C-4B26-B515-5B3A0617C8F9}"/>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CDF007C0-33C7-4855-A34E-44CD1EF36CE6}"/>
              </a:ext>
            </a:extLst>
          </p:cNvPr>
          <p:cNvSpPr>
            <a:spLocks xmlns:a="http://schemas.openxmlformats.org/drawingml/2006/main" noGrp="1"/>
          </p:cNvSpPr>
          <p:nvPr/>
        </p:nvSpPr>
        <p:spPr>
          <a:xfrm xmlns:a="http://schemas.openxmlformats.org/drawingml/2006/main">
            <a:off x="609600" y="11620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14300" tIns="76200" rIns="114300" bIns="76200" anchor="t">
            <a:normAutofit fontScale="79365"/>
          </a:bodyPr>
          <a:lstStyle xmlns:a="http://schemas.openxmlformats.org/drawingml/2006/main"/>
          <a:p xmlns:a="http://schemas.openxmlformats.org/drawingml/2006/main">
            <a:pPr algn="l">
              <a:lnSpc>
                <a:spcPct val="105000"/>
              </a:lnSpc>
              <a:buNone/>
              <a:defRPr sz="1350" b="0">
                <a:solidFill>
                  <a:srgbClr val="52606D"/>
                </a:solidFill>
                <a:latin typeface="Arial"/>
                <a:ea typeface="Arial"/>
                <a:cs typeface="Arial"/>
              </a:defRPr>
            </a:pPr>
            <a:r>
              <a:rPr sz="1350" b="0">
                <a:solidFill>
                  <a:srgbClr val="52606D"/>
                </a:solidFill>
                <a:latin typeface="Arial"/>
                <a:ea typeface="Arial"/>
                <a:cs typeface="Arial"/>
              </a:rPr>
              <a:t>The AMR combines navigation, perception and manipulation. The factory supervisor turns these subsystems into a guarded product cycle</a:t>
            </a:r>
          </a:p>
        </p:txBody>
      </p:sp>
      <p:sp>
        <p:nvSpPr>
          <p:cNvPr id="5" name="">
            <a:extLst xmlns:a="http://schemas.openxmlformats.org/drawingml/2006/main">
              <a:ext uri="{FF2B5EF4-FFF2-40B4-BE49-F238E27FC236}">
                <a16:creationId xmlns:a16="http://schemas.microsoft.com/office/drawing/2014/main" id="{6D94C046-C5F1-4F93-BAF3-F24532DFA3BC}"/>
              </a:ext>
            </a:extLst>
          </p:cNvPr>
          <p:cNvSpPr>
            <a:spLocks xmlns:a="http://schemas.openxmlformats.org/drawingml/2006/main" noGrp="1"/>
          </p:cNvSpPr>
          <p:nvPr/>
        </p:nvSpPr>
        <p:spPr>
          <a:xfrm xmlns:a="http://schemas.openxmlformats.org/drawingml/2006/main">
            <a:off x="609600" y="2190750"/>
            <a:ext cx="1809750" cy="1485900"/>
          </a:xfrm>
          <a:prstGeom xmlns:a="http://schemas.openxmlformats.org/drawingml/2006/main" prst="roundRect">
            <a:avLst>
              <a:gd name="adj" fmla="val 7692"/>
            </a:avLst>
          </a:prstGeom>
          <a:solidFill xmlns:a="http://schemas.openxmlformats.org/drawingml/2006/main">
            <a:srgbClr val="E6FFFA"/>
          </a:solidFill>
          <a:ln xmlns:a="http://schemas.openxmlformats.org/drawingml/2006/main" w="14288">
            <a:solidFill>
              <a:srgbClr val="0F766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125" b="1">
                <a:solidFill>
                  <a:srgbClr val="142735"/>
                </a:solidFill>
                <a:latin typeface="Arial"/>
                <a:ea typeface="Arial"/>
                <a:cs typeface="Arial"/>
              </a:defRPr>
            </a:pPr>
            <a:r>
              <a:rPr sz="1125" b="1">
                <a:solidFill>
                  <a:srgbClr val="142735"/>
                </a:solidFill>
                <a:latin typeface="Arial"/>
                <a:ea typeface="Arial"/>
                <a:cs typeface="Arial"/>
              </a:rPr>
              <a:t>Sense</a:t>
            </a:r>
          </a:p>
          <a:p xmlns:a="http://schemas.openxmlformats.org/drawingml/2006/main">
            <a:r>
              <a:t/>
            </a:r>
          </a:p>
          <a:p xmlns:a="http://schemas.openxmlformats.org/drawingml/2006/main">
            <a:pPr algn="ctr">
              <a:lnSpc>
                <a:spcPct val="100000"/>
              </a:lnSpc>
              <a:buNone/>
              <a:defRPr sz="1125" b="1">
                <a:solidFill>
                  <a:srgbClr val="142735"/>
                </a:solidFill>
                <a:latin typeface="Arial"/>
                <a:ea typeface="Arial"/>
                <a:cs typeface="Arial"/>
              </a:defRPr>
            </a:pPr>
            <a:r>
              <a:rPr sz="1125" b="1">
                <a:solidFill>
                  <a:srgbClr val="142735"/>
                </a:solidFill>
                <a:latin typeface="Arial"/>
                <a:ea typeface="Arial"/>
                <a:cs typeface="Arial"/>
              </a:rPr>
              <a:t>LiDAR, IMU, wheel state, product camera</a:t>
            </a:r>
          </a:p>
        </p:txBody>
      </p:sp>
      <p:sp>
        <p:nvSpPr>
          <p:cNvPr id="6" name="">
            <a:extLst xmlns:a="http://schemas.openxmlformats.org/drawingml/2006/main">
              <a:ext uri="{FF2B5EF4-FFF2-40B4-BE49-F238E27FC236}">
                <a16:creationId xmlns:a16="http://schemas.microsoft.com/office/drawing/2014/main" id="{2B139C29-4CEA-4CB2-BAE4-D5A1D97A6247}"/>
              </a:ext>
            </a:extLst>
          </p:cNvPr>
          <p:cNvSpPr>
            <a:spLocks xmlns:a="http://schemas.openxmlformats.org/drawingml/2006/main" noGrp="1"/>
          </p:cNvSpPr>
          <p:nvPr/>
        </p:nvSpPr>
        <p:spPr>
          <a:xfrm xmlns:a="http://schemas.openxmlformats.org/drawingml/2006/main">
            <a:off x="2800350" y="2190750"/>
            <a:ext cx="1809750" cy="1485900"/>
          </a:xfrm>
          <a:prstGeom xmlns:a="http://schemas.openxmlformats.org/drawingml/2006/main" prst="roundRect">
            <a:avLst>
              <a:gd name="adj" fmla="val 7692"/>
            </a:avLst>
          </a:prstGeom>
          <a:solidFill xmlns:a="http://schemas.openxmlformats.org/drawingml/2006/main">
            <a:srgbClr val="F1EAFE"/>
          </a:solidFill>
          <a:ln xmlns:a="http://schemas.openxmlformats.org/drawingml/2006/main" w="14288">
            <a:solidFill>
              <a:srgbClr val="6D28D9"/>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125" b="0">
                <a:solidFill>
                  <a:srgbClr val="142735"/>
                </a:solidFill>
                <a:latin typeface="Arial"/>
                <a:ea typeface="Arial"/>
                <a:cs typeface="Arial"/>
              </a:defRPr>
            </a:pPr>
            <a:r>
              <a:rPr sz="1125" b="0">
                <a:solidFill>
                  <a:srgbClr val="142735"/>
                </a:solidFill>
                <a:latin typeface="Arial"/>
                <a:ea typeface="Arial"/>
                <a:cs typeface="Arial"/>
              </a:rPr>
              <a:t>Localize</a:t>
            </a:r>
          </a:p>
          <a:p xmlns:a="http://schemas.openxmlformats.org/drawingml/2006/main">
            <a:r>
              <a:t/>
            </a:r>
          </a:p>
          <a:p xmlns:a="http://schemas.openxmlformats.org/drawingml/2006/main">
            <a:pPr algn="ctr">
              <a:lnSpc>
                <a:spcPct val="100000"/>
              </a:lnSpc>
              <a:buNone/>
              <a:defRPr sz="1125" b="0">
                <a:solidFill>
                  <a:srgbClr val="142735"/>
                </a:solidFill>
                <a:latin typeface="Arial"/>
                <a:ea typeface="Arial"/>
                <a:cs typeface="Arial"/>
              </a:defRPr>
            </a:pPr>
            <a:r>
              <a:rPr sz="1125" b="0">
                <a:solidFill>
                  <a:srgbClr val="142735"/>
                </a:solidFill>
                <a:latin typeface="Arial"/>
                <a:ea typeface="Arial"/>
                <a:cs typeface="Arial"/>
              </a:rPr>
              <a:t>EKF for odom; SLAM or AMCL for map</a:t>
            </a:r>
          </a:p>
        </p:txBody>
      </p:sp>
      <p:cxnSp>
        <p:nvCxnSpPr>
          <p:cNvPr id="37" name=""/>
          <p:cNvCxnSpPr>
            <a:stCxn xmlns:a="http://schemas.openxmlformats.org/drawingml/2006/main" id="5" idx="3"/>
            <a:endCxn xmlns:a="http://schemas.openxmlformats.org/drawingml/2006/main" id="6" idx="1"/>
          </p:cNvCxnSpPr>
          <p:nvPr/>
        </p:nvCxnSpPr>
        <p:spPr>
          <a:xfrm xmlns:a="http://schemas.openxmlformats.org/drawingml/2006/main">
            <a:off x="2419350" y="2933700"/>
            <a:ext cx="381000"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8" name="">
            <a:extLst xmlns:a="http://schemas.openxmlformats.org/drawingml/2006/main">
              <a:ext uri="{FF2B5EF4-FFF2-40B4-BE49-F238E27FC236}">
                <a16:creationId xmlns:a16="http://schemas.microsoft.com/office/drawing/2014/main" id="{D43ACF1C-46A5-4480-A003-4F63397D1290}"/>
              </a:ext>
            </a:extLst>
          </p:cNvPr>
          <p:cNvSpPr>
            <a:spLocks xmlns:a="http://schemas.openxmlformats.org/drawingml/2006/main" noGrp="1"/>
          </p:cNvSpPr>
          <p:nvPr/>
        </p:nvSpPr>
        <p:spPr>
          <a:xfrm xmlns:a="http://schemas.openxmlformats.org/drawingml/2006/main">
            <a:off x="4991100" y="2190750"/>
            <a:ext cx="1809750" cy="1485900"/>
          </a:xfrm>
          <a:prstGeom xmlns:a="http://schemas.openxmlformats.org/drawingml/2006/main" prst="roundRect">
            <a:avLst>
              <a:gd name="adj" fmla="val 7692"/>
            </a:avLst>
          </a:prstGeom>
          <a:solidFill xmlns:a="http://schemas.openxmlformats.org/drawingml/2006/main">
            <a:srgbClr val="EAF2FF"/>
          </a:solidFill>
          <a:ln xmlns:a="http://schemas.openxmlformats.org/drawingml/2006/main" w="14288">
            <a:solidFill>
              <a:srgbClr val="1D4ED8"/>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125" b="0">
                <a:solidFill>
                  <a:srgbClr val="142735"/>
                </a:solidFill>
                <a:latin typeface="Arial"/>
                <a:ea typeface="Arial"/>
                <a:cs typeface="Arial"/>
              </a:defRPr>
            </a:pPr>
            <a:r>
              <a:rPr sz="1125" b="0">
                <a:solidFill>
                  <a:srgbClr val="142735"/>
                </a:solidFill>
                <a:latin typeface="Arial"/>
                <a:ea typeface="Arial"/>
                <a:cs typeface="Arial"/>
              </a:rPr>
              <a:t>Navigate</a:t>
            </a:r>
          </a:p>
          <a:p xmlns:a="http://schemas.openxmlformats.org/drawingml/2006/main">
            <a:r>
              <a:t/>
            </a:r>
          </a:p>
          <a:p xmlns:a="http://schemas.openxmlformats.org/drawingml/2006/main">
            <a:pPr algn="ctr">
              <a:lnSpc>
                <a:spcPct val="100000"/>
              </a:lnSpc>
              <a:buNone/>
              <a:defRPr sz="1125" b="0">
                <a:solidFill>
                  <a:srgbClr val="142735"/>
                </a:solidFill>
                <a:latin typeface="Arial"/>
                <a:ea typeface="Arial"/>
                <a:cs typeface="Arial"/>
              </a:defRPr>
            </a:pPr>
            <a:r>
              <a:rPr sz="1125" b="0">
                <a:solidFill>
                  <a:srgbClr val="142735"/>
                </a:solidFill>
                <a:latin typeface="Arial"/>
                <a:ea typeface="Arial"/>
                <a:cs typeface="Arial"/>
              </a:rPr>
              <a:t>Planner, smoother and RPP</a:t>
            </a:r>
          </a:p>
        </p:txBody>
      </p:sp>
      <p:cxnSp>
        <p:nvCxnSpPr>
          <p:cNvPr id="39" name=""/>
          <p:cNvCxnSpPr>
            <a:stCxn xmlns:a="http://schemas.openxmlformats.org/drawingml/2006/main" id="6" idx="3"/>
            <a:endCxn xmlns:a="http://schemas.openxmlformats.org/drawingml/2006/main" id="8" idx="1"/>
          </p:cNvCxnSpPr>
          <p:nvPr/>
        </p:nvCxnSpPr>
        <p:spPr>
          <a:xfrm xmlns:a="http://schemas.openxmlformats.org/drawingml/2006/main">
            <a:off x="4610100" y="2933700"/>
            <a:ext cx="381000"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10" name="">
            <a:extLst xmlns:a="http://schemas.openxmlformats.org/drawingml/2006/main">
              <a:ext uri="{FF2B5EF4-FFF2-40B4-BE49-F238E27FC236}">
                <a16:creationId xmlns:a16="http://schemas.microsoft.com/office/drawing/2014/main" id="{571B6F00-C374-4B1C-9D4B-EABAD558144F}"/>
              </a:ext>
            </a:extLst>
          </p:cNvPr>
          <p:cNvSpPr>
            <a:spLocks xmlns:a="http://schemas.openxmlformats.org/drawingml/2006/main" noGrp="1"/>
          </p:cNvSpPr>
          <p:nvPr/>
        </p:nvSpPr>
        <p:spPr>
          <a:xfrm xmlns:a="http://schemas.openxmlformats.org/drawingml/2006/main">
            <a:off x="7181850" y="2190750"/>
            <a:ext cx="1809750" cy="1485900"/>
          </a:xfrm>
          <a:prstGeom xmlns:a="http://schemas.openxmlformats.org/drawingml/2006/main" prst="roundRect">
            <a:avLst>
              <a:gd name="adj" fmla="val 7692"/>
            </a:avLst>
          </a:prstGeom>
          <a:solidFill xmlns:a="http://schemas.openxmlformats.org/drawingml/2006/main">
            <a:srgbClr val="FFF1E8"/>
          </a:solidFill>
          <a:ln xmlns:a="http://schemas.openxmlformats.org/drawingml/2006/main" w="14288">
            <a:solidFill>
              <a:srgbClr val="C2410C"/>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125" b="0">
                <a:solidFill>
                  <a:srgbClr val="142735"/>
                </a:solidFill>
                <a:latin typeface="Arial"/>
                <a:ea typeface="Arial"/>
                <a:cs typeface="Arial"/>
              </a:defRPr>
            </a:pPr>
            <a:r>
              <a:rPr sz="1125" b="0">
                <a:solidFill>
                  <a:srgbClr val="142735"/>
                </a:solidFill>
                <a:latin typeface="Arial"/>
                <a:ea typeface="Arial"/>
                <a:cs typeface="Arial"/>
              </a:rPr>
              <a:t>Manipulate</a:t>
            </a:r>
          </a:p>
          <a:p xmlns:a="http://schemas.openxmlformats.org/drawingml/2006/main">
            <a:r>
              <a:t/>
            </a:r>
          </a:p>
          <a:p xmlns:a="http://schemas.openxmlformats.org/drawingml/2006/main">
            <a:pPr algn="ctr">
              <a:lnSpc>
                <a:spcPct val="100000"/>
              </a:lnSpc>
              <a:buNone/>
              <a:defRPr sz="1125" b="0">
                <a:solidFill>
                  <a:srgbClr val="142735"/>
                </a:solidFill>
                <a:latin typeface="Arial"/>
                <a:ea typeface="Arial"/>
                <a:cs typeface="Arial"/>
              </a:defRPr>
            </a:pPr>
            <a:r>
              <a:rPr sz="1125" b="0">
                <a:solidFill>
                  <a:srgbClr val="142735"/>
                </a:solidFill>
                <a:latin typeface="Arial"/>
                <a:ea typeface="Arial"/>
                <a:cs typeface="Arial"/>
              </a:rPr>
              <a:t>MoveIt arm/gripper plan and attachment proof</a:t>
            </a:r>
          </a:p>
        </p:txBody>
      </p:sp>
      <p:cxnSp>
        <p:nvCxnSpPr>
          <p:cNvPr id="41" name=""/>
          <p:cNvCxnSpPr>
            <a:stCxn xmlns:a="http://schemas.openxmlformats.org/drawingml/2006/main" id="8" idx="3"/>
            <a:endCxn xmlns:a="http://schemas.openxmlformats.org/drawingml/2006/main" id="10" idx="1"/>
          </p:cNvCxnSpPr>
          <p:nvPr/>
        </p:nvCxnSpPr>
        <p:spPr>
          <a:xfrm xmlns:a="http://schemas.openxmlformats.org/drawingml/2006/main">
            <a:off x="6800850" y="2933700"/>
            <a:ext cx="381000"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12" name="">
            <a:extLst xmlns:a="http://schemas.openxmlformats.org/drawingml/2006/main">
              <a:ext uri="{FF2B5EF4-FFF2-40B4-BE49-F238E27FC236}">
                <a16:creationId xmlns:a16="http://schemas.microsoft.com/office/drawing/2014/main" id="{E4E07FC9-92AA-4455-BD32-06671B75C40F}"/>
              </a:ext>
            </a:extLst>
          </p:cNvPr>
          <p:cNvSpPr>
            <a:spLocks xmlns:a="http://schemas.openxmlformats.org/drawingml/2006/main" noGrp="1"/>
          </p:cNvSpPr>
          <p:nvPr/>
        </p:nvSpPr>
        <p:spPr>
          <a:xfrm xmlns:a="http://schemas.openxmlformats.org/drawingml/2006/main">
            <a:off x="9372600" y="2190750"/>
            <a:ext cx="1809750" cy="1485900"/>
          </a:xfrm>
          <a:prstGeom xmlns:a="http://schemas.openxmlformats.org/drawingml/2006/main" prst="roundRect">
            <a:avLst>
              <a:gd name="adj" fmla="val 7692"/>
            </a:avLst>
          </a:prstGeom>
          <a:solidFill xmlns:a="http://schemas.openxmlformats.org/drawingml/2006/main">
            <a:srgbClr val="E9F8EE"/>
          </a:solidFill>
          <a:ln xmlns:a="http://schemas.openxmlformats.org/drawingml/2006/main" w="14288">
            <a:solidFill>
              <a:srgbClr val="15803D"/>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125" b="1">
                <a:solidFill>
                  <a:srgbClr val="142735"/>
                </a:solidFill>
                <a:latin typeface="Arial"/>
                <a:ea typeface="Arial"/>
                <a:cs typeface="Arial"/>
              </a:defRPr>
            </a:pPr>
            <a:r>
              <a:rPr sz="1125" b="1">
                <a:solidFill>
                  <a:srgbClr val="142735"/>
                </a:solidFill>
                <a:latin typeface="Arial"/>
                <a:ea typeface="Arial"/>
                <a:cs typeface="Arial"/>
              </a:rPr>
              <a:t>Verify</a:t>
            </a:r>
          </a:p>
          <a:p xmlns:a="http://schemas.openxmlformats.org/drawingml/2006/main">
            <a:r>
              <a:t/>
            </a:r>
          </a:p>
          <a:p xmlns:a="http://schemas.openxmlformats.org/drawingml/2006/main">
            <a:pPr algn="ctr">
              <a:lnSpc>
                <a:spcPct val="100000"/>
              </a:lnSpc>
              <a:buNone/>
              <a:defRPr sz="1125" b="1">
                <a:solidFill>
                  <a:srgbClr val="142735"/>
                </a:solidFill>
                <a:latin typeface="Arial"/>
                <a:ea typeface="Arial"/>
                <a:cs typeface="Arial"/>
              </a:defRPr>
            </a:pPr>
            <a:r>
              <a:rPr sz="1125" b="1">
                <a:solidFill>
                  <a:srgbClr val="142735"/>
                </a:solidFill>
                <a:latin typeface="Arial"/>
                <a:ea typeface="Arial"/>
                <a:cs typeface="Arial"/>
              </a:rPr>
              <a:t>Freshness, collision, cancellation and terminal gates</a:t>
            </a:r>
          </a:p>
        </p:txBody>
      </p:sp>
      <p:cxnSp>
        <p:nvCxnSpPr>
          <p:cNvPr id="43" name=""/>
          <p:cNvCxnSpPr>
            <a:stCxn xmlns:a="http://schemas.openxmlformats.org/drawingml/2006/main" id="10" idx="3"/>
            <a:endCxn xmlns:a="http://schemas.openxmlformats.org/drawingml/2006/main" id="12" idx="1"/>
          </p:cNvCxnSpPr>
          <p:nvPr/>
        </p:nvCxnSpPr>
        <p:spPr>
          <a:xfrm xmlns:a="http://schemas.openxmlformats.org/drawingml/2006/main">
            <a:off x="8991600" y="2933700"/>
            <a:ext cx="381000"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14" name="">
            <a:extLst xmlns:a="http://schemas.openxmlformats.org/drawingml/2006/main">
              <a:ext uri="{FF2B5EF4-FFF2-40B4-BE49-F238E27FC236}">
                <a16:creationId xmlns:a16="http://schemas.microsoft.com/office/drawing/2014/main" id="{022F1F29-33D6-4F09-9B29-719DE7D22257}"/>
              </a:ext>
            </a:extLst>
          </p:cNvPr>
          <p:cNvSpPr>
            <a:spLocks xmlns:a="http://schemas.openxmlformats.org/drawingml/2006/main" noGrp="1"/>
          </p:cNvSpPr>
          <p:nvPr/>
        </p:nvSpPr>
        <p:spPr>
          <a:xfrm xmlns:a="http://schemas.openxmlformats.org/drawingml/2006/main">
            <a:off x="609600" y="4391025"/>
            <a:ext cx="2667000" cy="323850"/>
          </a:xfrm>
          <a:prstGeom xmlns:a="http://schemas.openxmlformats.org/drawingml/2006/main" prst="roundRect">
            <a:avLst>
              <a:gd name="adj" fmla="val 35294"/>
            </a:avLst>
          </a:prstGeom>
          <a:solidFill xmlns:a="http://schemas.openxmlformats.org/drawingml/2006/main">
            <a:srgbClr val="0F172A"/>
          </a:solidFill>
          <a:ln xmlns:a="http://schemas.openxmlformats.org/drawingml/2006/main" w="0">
            <a:solidFill>
              <a:srgbClr val="0F172A"/>
            </a:solidFill>
            <a:prstDash val="solid"/>
          </a:ln>
        </p:spPr>
        <p:txBody>
          <a:bodyPr xmlns:a="http://schemas.openxmlformats.org/drawingml/2006/main" lIns="114300" tIns="76200" rIns="114300" bIns="76200" anchor="ctr">
            <a:normAutofit fontScale="58046"/>
          </a:bodyPr>
          <a:lstStyle xmlns:a="http://schemas.openxmlformats.org/drawingml/2006/main"/>
          <a:p xmlns:a="http://schemas.openxmlformats.org/drawingml/2006/main">
            <a:pPr algn="ctr">
              <a:lnSpc>
                <a:spcPct val="105000"/>
              </a:lnSpc>
              <a:buNone/>
              <a:defRPr sz="1125" b="1">
                <a:solidFill>
                  <a:srgbClr val="FFFFFF"/>
                </a:solidFill>
                <a:latin typeface="Arial"/>
                <a:ea typeface="Arial"/>
                <a:cs typeface="Arial"/>
              </a:defRPr>
            </a:pPr>
            <a:r>
              <a:rPr sz="1125" b="1">
                <a:solidFill>
                  <a:srgbClr val="FFFFFF"/>
                </a:solidFill>
                <a:latin typeface="Arial"/>
                <a:ea typeface="Arial"/>
                <a:cs typeface="Arial"/>
              </a:rPr>
              <a:t>Current autonomous factory scope</a:t>
            </a:r>
          </a:p>
        </p:txBody>
      </p:sp>
      <p:sp>
        <p:nvSpPr>
          <p:cNvPr id="15" name="">
            <a:extLst xmlns:a="http://schemas.openxmlformats.org/drawingml/2006/main">
              <a:ext uri="{FF2B5EF4-FFF2-40B4-BE49-F238E27FC236}">
                <a16:creationId xmlns:a16="http://schemas.microsoft.com/office/drawing/2014/main" id="{8F02A08A-D8FA-4300-B9D5-82602E7DE2D4}"/>
              </a:ext>
            </a:extLst>
          </p:cNvPr>
          <p:cNvSpPr>
            <a:spLocks xmlns:a="http://schemas.openxmlformats.org/drawingml/2006/main" noGrp="1"/>
          </p:cNvSpPr>
          <p:nvPr/>
        </p:nvSpPr>
        <p:spPr>
          <a:xfrm xmlns:a="http://schemas.openxmlformats.org/drawingml/2006/main">
            <a:off x="742950" y="4857750"/>
            <a:ext cx="10287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Product 101 and Product 102 are the active registry-driven scope</a:t>
            </a:r>
          </a:p>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Product 103, Gate 7, hardware and functional-safety acceptance are outside scope</a:t>
            </a:r>
          </a:p>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Home permission depends on idle, fresh and safe empty-stowed proof</a:t>
            </a:r>
          </a:p>
        </p:txBody>
      </p:sp>
      <p:sp>
        <p:nvSpPr>
          <p:cNvPr id="16" name="">
            <a:extLst xmlns:a="http://schemas.openxmlformats.org/drawingml/2006/main">
              <a:ext uri="{FF2B5EF4-FFF2-40B4-BE49-F238E27FC236}">
                <a16:creationId xmlns:a16="http://schemas.microsoft.com/office/drawing/2014/main" id="{6C71B25E-3CD6-45B5-8C72-74BE22C393A3}"/>
              </a:ext>
            </a:extLst>
          </p:cNvPr>
          <p:cNvSpPr>
            <a:spLocks xmlns:a="http://schemas.openxmlformats.org/drawingml/2006/main" noGrp="1"/>
          </p:cNvSpPr>
          <p:nvPr/>
        </p:nvSpPr>
        <p:spPr>
          <a:xfrm xmlns:a="http://schemas.openxmlformats.org/drawingml/2006/main">
            <a:off x="533400" y="6543675"/>
            <a:ext cx="1009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94A3B8"/>
                </a:solidFill>
                <a:latin typeface="Arial"/>
                <a:ea typeface="Arial"/>
                <a:cs typeface="Arial"/>
              </a:defRPr>
            </a:pPr>
            <a:r>
              <a:rPr sz="750" b="0">
                <a:solidFill>
                  <a:srgbClr val="94A3B8"/>
                </a:solidFill>
                <a:latin typeface="Arial"/>
                <a:ea typeface="Arial"/>
                <a:cs typeface="Arial"/>
              </a:rPr>
              <a:t>Sources: src/amr_factory/launch/factory_autonomous.launch.py; src/amr_factory/scripts/factory_cli.py; src/amr_bringup/config/interface_ownership.yaml</a:t>
            </a:r>
          </a:p>
        </p:txBody>
      </p:sp>
      <p:sp>
        <p:nvSpPr>
          <p:cNvPr id="17" name="">
            <a:extLst xmlns:a="http://schemas.openxmlformats.org/drawingml/2006/main">
              <a:ext uri="{FF2B5EF4-FFF2-40B4-BE49-F238E27FC236}">
                <a16:creationId xmlns:a16="http://schemas.microsoft.com/office/drawing/2014/main" id="{EFAA7BED-0F07-4AB4-8378-7E7F988B418D}"/>
              </a:ext>
            </a:extLst>
          </p:cNvPr>
          <p:cNvSpPr>
            <a:spLocks xmlns:a="http://schemas.openxmlformats.org/drawingml/2006/main" noGrp="1"/>
          </p:cNvSpPr>
          <p:nvPr/>
        </p:nvSpPr>
        <p:spPr>
          <a:xfrm xmlns:a="http://schemas.openxmlformats.org/drawingml/2006/main">
            <a:off x="11191875" y="65151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04</a:t>
            </a:r>
          </a:p>
        </p:txBody>
      </p:sp>
    </p:spTree>
    <p:extLst>
      <p:ext uri="{BB962C8B-B14F-4D97-AF65-F5344CB8AC3E}">
        <p14:creationId xmlns:p14="http://schemas.microsoft.com/office/powerpoint/2010/main" val="1526554183"/>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4A399EE-5D90-407F-8395-DB81752B4969}"/>
              </a:ext>
            </a:extLst>
          </p:cNvPr>
          <p:cNvSpPr>
            <a:spLocks xmlns:a="http://schemas.openxmlformats.org/drawingml/2006/main" noGrp="1"/>
          </p:cNvSpPr>
          <p:nvPr/>
        </p:nvSpPr>
        <p:spPr>
          <a:xfrm xmlns:a="http://schemas.openxmlformats.org/drawingml/2006/main">
            <a:off x="552450" y="2286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AMR ROS 2 SOFTWARE ARCHITECTURE</a:t>
            </a:r>
          </a:p>
        </p:txBody>
      </p:sp>
      <p:sp>
        <p:nvSpPr>
          <p:cNvPr id="2" name="">
            <a:extLst xmlns:a="http://schemas.openxmlformats.org/drawingml/2006/main">
              <a:ext uri="{FF2B5EF4-FFF2-40B4-BE49-F238E27FC236}">
                <a16:creationId xmlns:a16="http://schemas.microsoft.com/office/drawing/2014/main" id="{1CD922F9-E911-4B52-A128-5132B0275C4C}"/>
              </a:ext>
            </a:extLst>
          </p:cNvPr>
          <p:cNvSpPr>
            <a:spLocks xmlns:a="http://schemas.openxmlformats.org/drawingml/2006/main" noGrp="1"/>
          </p:cNvSpPr>
          <p:nvPr/>
        </p:nvSpPr>
        <p:spPr>
          <a:xfrm xmlns:a="http://schemas.openxmlformats.org/drawingml/2006/main">
            <a:off x="533400" y="4095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325" b="1">
                <a:solidFill>
                  <a:srgbClr val="142735"/>
                </a:solidFill>
                <a:latin typeface="Arial"/>
                <a:ea typeface="Arial"/>
                <a:cs typeface="Arial"/>
              </a:defRPr>
            </a:pPr>
            <a:r>
              <a:rPr sz="2325" b="1">
                <a:solidFill>
                  <a:srgbClr val="142735"/>
                </a:solidFill>
                <a:latin typeface="Arial"/>
                <a:ea typeface="Arial"/>
                <a:cs typeface="Arial"/>
              </a:rPr>
              <a:t>Robot model: URDF and Xacro</a:t>
            </a:r>
          </a:p>
        </p:txBody>
      </p:sp>
      <p:sp>
        <p:nvSpPr>
          <p:cNvPr id="3" name="">
            <a:extLst xmlns:a="http://schemas.openxmlformats.org/drawingml/2006/main">
              <a:ext uri="{FF2B5EF4-FFF2-40B4-BE49-F238E27FC236}">
                <a16:creationId xmlns:a16="http://schemas.microsoft.com/office/drawing/2014/main" id="{A4077B17-4963-4B3B-8C2C-42EFECAC4C08}"/>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A2AEF528-8593-4709-BF38-37573CFA5A64}"/>
              </a:ext>
            </a:extLst>
          </p:cNvPr>
          <p:cNvSpPr>
            <a:spLocks xmlns:a="http://schemas.openxmlformats.org/drawingml/2006/main" noGrp="1"/>
          </p:cNvSpPr>
          <p:nvPr/>
        </p:nvSpPr>
        <p:spPr>
          <a:xfrm xmlns:a="http://schemas.openxmlformats.org/drawingml/2006/main">
            <a:off x="609600" y="11620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14300" tIns="76200" rIns="114300" bIns="76200" anchor="t">
            <a:normAutofit fontScale="79365"/>
          </a:bodyPr>
          <a:lstStyle xmlns:a="http://schemas.openxmlformats.org/drawingml/2006/main"/>
          <a:p xmlns:a="http://schemas.openxmlformats.org/drawingml/2006/main">
            <a:pPr algn="l">
              <a:lnSpc>
                <a:spcPct val="105000"/>
              </a:lnSpc>
              <a:buNone/>
              <a:defRPr sz="1350" b="0">
                <a:solidFill>
                  <a:srgbClr val="52606D"/>
                </a:solidFill>
                <a:latin typeface="Arial"/>
                <a:ea typeface="Arial"/>
                <a:cs typeface="Arial"/>
              </a:defRPr>
            </a:pPr>
            <a:r>
              <a:rPr sz="1350" b="0">
                <a:solidFill>
                  <a:srgbClr val="52606D"/>
                </a:solidFill>
                <a:latin typeface="Arial"/>
                <a:ea typeface="Arial"/>
                <a:cs typeface="Arial"/>
              </a:rPr>
              <a:t>Xacro builds the robot description once and reuses it across Gazebo, TF, sensor adapters, Nav2 and MoveIt</a:t>
            </a:r>
          </a:p>
        </p:txBody>
      </p:sp>
      <p:sp>
        <p:nvSpPr>
          <p:cNvPr id="5" name="">
            <a:extLst xmlns:a="http://schemas.openxmlformats.org/drawingml/2006/main">
              <a:ext uri="{FF2B5EF4-FFF2-40B4-BE49-F238E27FC236}">
                <a16:creationId xmlns:a16="http://schemas.microsoft.com/office/drawing/2014/main" id="{811F898E-C7E7-4E44-B596-76EFBCBCF566}"/>
              </a:ext>
            </a:extLst>
          </p:cNvPr>
          <p:cNvSpPr>
            <a:spLocks xmlns:a="http://schemas.openxmlformats.org/drawingml/2006/main" noGrp="1"/>
          </p:cNvSpPr>
          <p:nvPr/>
        </p:nvSpPr>
        <p:spPr>
          <a:xfrm xmlns:a="http://schemas.openxmlformats.org/drawingml/2006/main">
            <a:off x="990600" y="1752600"/>
            <a:ext cx="1428750" cy="400050"/>
          </a:xfrm>
          <a:prstGeom xmlns:a="http://schemas.openxmlformats.org/drawingml/2006/main" prst="roundRect">
            <a:avLst>
              <a:gd name="adj" fmla="val 28571"/>
            </a:avLst>
          </a:prstGeom>
          <a:solidFill xmlns:a="http://schemas.openxmlformats.org/drawingml/2006/main">
            <a:srgbClr val="EAF2FF"/>
          </a:solidFill>
          <a:ln xmlns:a="http://schemas.openxmlformats.org/drawingml/2006/main" w="9525">
            <a:solidFill>
              <a:srgbClr val="1D4ED8"/>
            </a:solidFill>
            <a:prstDash val="solid"/>
          </a:ln>
        </p:spPr>
        <p:txBody>
          <a:bodyPr xmlns:a="http://schemas.openxmlformats.org/drawingml/2006/main" lIns="114300" tIns="76200" rIns="114300" bIns="76200" anchor="ctr">
            <a:normAutofit fontScale="88566"/>
          </a:bodyPr>
          <a:lstStyle xmlns:a="http://schemas.openxmlformats.org/drawingml/2006/main"/>
          <a:p xmlns:a="http://schemas.openxmlformats.org/drawingml/2006/main">
            <a:pPr algn="ctr">
              <a:lnSpc>
                <a:spcPct val="105000"/>
              </a:lnSpc>
              <a:buNone/>
              <a:defRPr sz="1275" b="1">
                <a:solidFill>
                  <a:srgbClr val="1D4ED8"/>
                </a:solidFill>
                <a:latin typeface="Arial"/>
                <a:ea typeface="Arial"/>
                <a:cs typeface="Arial"/>
              </a:defRPr>
            </a:pPr>
            <a:r>
              <a:rPr sz="1275" b="1">
                <a:solidFill>
                  <a:srgbClr val="1D4ED8"/>
                </a:solidFill>
                <a:latin typeface="Arial"/>
                <a:ea typeface="Arial"/>
                <a:cs typeface="Arial"/>
              </a:rPr>
              <a:t>map</a:t>
            </a:r>
          </a:p>
        </p:txBody>
      </p:sp>
      <p:sp>
        <p:nvSpPr>
          <p:cNvPr id="6" name="">
            <a:extLst xmlns:a="http://schemas.openxmlformats.org/drawingml/2006/main">
              <a:ext uri="{FF2B5EF4-FFF2-40B4-BE49-F238E27FC236}">
                <a16:creationId xmlns:a16="http://schemas.microsoft.com/office/drawing/2014/main" id="{6F60899E-3FAA-4673-A6C9-FE6A72B5327C}"/>
              </a:ext>
            </a:extLst>
          </p:cNvPr>
          <p:cNvSpPr>
            <a:spLocks xmlns:a="http://schemas.openxmlformats.org/drawingml/2006/main" noGrp="1"/>
          </p:cNvSpPr>
          <p:nvPr/>
        </p:nvSpPr>
        <p:spPr>
          <a:xfrm xmlns:a="http://schemas.openxmlformats.org/drawingml/2006/main">
            <a:off x="990600" y="2381250"/>
            <a:ext cx="1428750" cy="400050"/>
          </a:xfrm>
          <a:prstGeom xmlns:a="http://schemas.openxmlformats.org/drawingml/2006/main" prst="roundRect">
            <a:avLst>
              <a:gd name="adj" fmla="val 28571"/>
            </a:avLst>
          </a:prstGeom>
          <a:solidFill xmlns:a="http://schemas.openxmlformats.org/drawingml/2006/main">
            <a:srgbClr val="F1EAFE"/>
          </a:solidFill>
          <a:ln xmlns:a="http://schemas.openxmlformats.org/drawingml/2006/main" w="9525">
            <a:solidFill>
              <a:srgbClr val="6D28D9"/>
            </a:solidFill>
            <a:prstDash val="solid"/>
          </a:ln>
        </p:spPr>
        <p:txBody>
          <a:bodyPr xmlns:a="http://schemas.openxmlformats.org/drawingml/2006/main" lIns="114300" tIns="76200" rIns="114300" bIns="76200" anchor="ctr">
            <a:normAutofit fontScale="88566"/>
          </a:bodyPr>
          <a:lstStyle xmlns:a="http://schemas.openxmlformats.org/drawingml/2006/main"/>
          <a:p xmlns:a="http://schemas.openxmlformats.org/drawingml/2006/main">
            <a:pPr algn="ctr">
              <a:lnSpc>
                <a:spcPct val="105000"/>
              </a:lnSpc>
              <a:buNone/>
              <a:defRPr sz="1275" b="1">
                <a:solidFill>
                  <a:srgbClr val="6D28D9"/>
                </a:solidFill>
                <a:latin typeface="Arial"/>
                <a:ea typeface="Arial"/>
                <a:cs typeface="Arial"/>
              </a:defRPr>
            </a:pPr>
            <a:r>
              <a:rPr sz="1275" b="1">
                <a:solidFill>
                  <a:srgbClr val="6D28D9"/>
                </a:solidFill>
                <a:latin typeface="Arial"/>
                <a:ea typeface="Arial"/>
                <a:cs typeface="Arial"/>
              </a:rPr>
              <a:t>odom</a:t>
            </a:r>
          </a:p>
        </p:txBody>
      </p:sp>
      <p:sp>
        <p:nvSpPr>
          <p:cNvPr id="7" name="">
            <a:extLst xmlns:a="http://schemas.openxmlformats.org/drawingml/2006/main">
              <a:ext uri="{FF2B5EF4-FFF2-40B4-BE49-F238E27FC236}">
                <a16:creationId xmlns:a16="http://schemas.microsoft.com/office/drawing/2014/main" id="{6408E554-3656-4BA4-B034-802E3A6CA140}"/>
              </a:ext>
            </a:extLst>
          </p:cNvPr>
          <p:cNvSpPr>
            <a:spLocks xmlns:a="http://schemas.openxmlformats.org/drawingml/2006/main" noGrp="1"/>
          </p:cNvSpPr>
          <p:nvPr/>
        </p:nvSpPr>
        <p:spPr>
          <a:xfrm xmlns:a="http://schemas.openxmlformats.org/drawingml/2006/main">
            <a:off x="800100" y="3009900"/>
            <a:ext cx="1809750" cy="400050"/>
          </a:xfrm>
          <a:prstGeom xmlns:a="http://schemas.openxmlformats.org/drawingml/2006/main" prst="roundRect">
            <a:avLst>
              <a:gd name="adj" fmla="val 28571"/>
            </a:avLst>
          </a:prstGeom>
          <a:solidFill xmlns:a="http://schemas.openxmlformats.org/drawingml/2006/main">
            <a:srgbClr val="E6FFFA"/>
          </a:solidFill>
          <a:ln xmlns:a="http://schemas.openxmlformats.org/drawingml/2006/main" w="9525">
            <a:solidFill>
              <a:srgbClr val="0F766E"/>
            </a:solidFill>
            <a:prstDash val="solid"/>
          </a:ln>
        </p:spPr>
        <p:txBody>
          <a:bodyPr xmlns:a="http://schemas.openxmlformats.org/drawingml/2006/main" lIns="114300" tIns="76200" rIns="114300" bIns="76200" anchor="ctr">
            <a:normAutofit fontScale="94101"/>
          </a:bodyPr>
          <a:lstStyle xmlns:a="http://schemas.openxmlformats.org/drawingml/2006/main"/>
          <a:p xmlns:a="http://schemas.openxmlformats.org/drawingml/2006/main">
            <a:pPr algn="ctr">
              <a:lnSpc>
                <a:spcPct val="105000"/>
              </a:lnSpc>
              <a:buNone/>
              <a:defRPr sz="1200" b="1">
                <a:solidFill>
                  <a:srgbClr val="0F766E"/>
                </a:solidFill>
                <a:latin typeface="Arial"/>
                <a:ea typeface="Arial"/>
                <a:cs typeface="Arial"/>
              </a:defRPr>
            </a:pPr>
            <a:r>
              <a:rPr sz="1200" b="1">
                <a:solidFill>
                  <a:srgbClr val="0F766E"/>
                </a:solidFill>
                <a:latin typeface="Arial"/>
                <a:ea typeface="Arial"/>
                <a:cs typeface="Arial"/>
              </a:rPr>
              <a:t>base_footprint</a:t>
            </a:r>
          </a:p>
        </p:txBody>
      </p:sp>
      <p:sp>
        <p:nvSpPr>
          <p:cNvPr id="8" name="">
            <a:extLst xmlns:a="http://schemas.openxmlformats.org/drawingml/2006/main">
              <a:ext uri="{FF2B5EF4-FFF2-40B4-BE49-F238E27FC236}">
                <a16:creationId xmlns:a16="http://schemas.microsoft.com/office/drawing/2014/main" id="{E2568934-5644-4033-A28E-D79FBC8AC8D1}"/>
              </a:ext>
            </a:extLst>
          </p:cNvPr>
          <p:cNvSpPr>
            <a:spLocks xmlns:a="http://schemas.openxmlformats.org/drawingml/2006/main" noGrp="1"/>
          </p:cNvSpPr>
          <p:nvPr/>
        </p:nvSpPr>
        <p:spPr>
          <a:xfrm xmlns:a="http://schemas.openxmlformats.org/drawingml/2006/main">
            <a:off x="990600" y="3638550"/>
            <a:ext cx="1428750" cy="400050"/>
          </a:xfrm>
          <a:prstGeom xmlns:a="http://schemas.openxmlformats.org/drawingml/2006/main" prst="roundRect">
            <a:avLst>
              <a:gd name="adj" fmla="val 28571"/>
            </a:avLst>
          </a:prstGeom>
          <a:solidFill xmlns:a="http://schemas.openxmlformats.org/drawingml/2006/main">
            <a:srgbClr val="FFF1E8"/>
          </a:solidFill>
          <a:ln xmlns:a="http://schemas.openxmlformats.org/drawingml/2006/main" w="9525">
            <a:solidFill>
              <a:srgbClr val="C2410C"/>
            </a:solidFill>
            <a:prstDash val="solid"/>
          </a:ln>
        </p:spPr>
        <p:txBody>
          <a:bodyPr xmlns:a="http://schemas.openxmlformats.org/drawingml/2006/main" lIns="114300" tIns="76200" rIns="114300" bIns="76200" anchor="ctr">
            <a:normAutofit fontScale="88566"/>
          </a:bodyPr>
          <a:lstStyle xmlns:a="http://schemas.openxmlformats.org/drawingml/2006/main"/>
          <a:p xmlns:a="http://schemas.openxmlformats.org/drawingml/2006/main">
            <a:pPr algn="ctr">
              <a:lnSpc>
                <a:spcPct val="105000"/>
              </a:lnSpc>
              <a:buNone/>
              <a:defRPr sz="1275" b="1">
                <a:solidFill>
                  <a:srgbClr val="C2410C"/>
                </a:solidFill>
                <a:latin typeface="Arial"/>
                <a:ea typeface="Arial"/>
                <a:cs typeface="Arial"/>
              </a:defRPr>
            </a:pPr>
            <a:r>
              <a:rPr sz="1275" b="1">
                <a:solidFill>
                  <a:srgbClr val="C2410C"/>
                </a:solidFill>
                <a:latin typeface="Arial"/>
                <a:ea typeface="Arial"/>
                <a:cs typeface="Arial"/>
              </a:rPr>
              <a:t>base_link</a:t>
            </a:r>
          </a:p>
        </p:txBody>
      </p:sp>
      <p:cxnSp>
        <p:nvCxnSpPr>
          <p:cNvPr id="57" name=""/>
          <p:cNvCxnSpPr>
            <a:stCxn xmlns:a="http://schemas.openxmlformats.org/drawingml/2006/main" id="5" idx="2"/>
            <a:endCxn xmlns:a="http://schemas.openxmlformats.org/drawingml/2006/main" id="6" idx="0"/>
          </p:cNvCxnSpPr>
          <p:nvPr/>
        </p:nvCxnSpPr>
        <p:spPr>
          <a:xfrm xmlns:a="http://schemas.openxmlformats.org/drawingml/2006/main">
            <a:off x="1704975" y="2152650"/>
            <a:ext cx="0" cy="228600"/>
          </a:xfrm>
          <a:prstGeom xmlns:a="http://schemas.openxmlformats.org/drawingml/2006/main" prst="straightConnector1">
            <a:avLst/>
          </a:prstGeom>
          <a:ln xmlns:a="http://schemas.openxmlformats.org/drawingml/2006/main" w="19050">
            <a:solidFill>
              <a:srgbClr val="1D4ED8"/>
            </a:solidFill>
            <a:prstDash val="solid"/>
            <a:headEnd type="none" w="med" len="med"/>
            <a:tailEnd type="arrow" w="sm" len="sm"/>
          </a:ln>
        </p:spPr>
      </p:cxnSp>
      <p:cxnSp>
        <p:nvCxnSpPr>
          <p:cNvPr id="58" name=""/>
          <p:cNvCxnSpPr>
            <a:stCxn xmlns:a="http://schemas.openxmlformats.org/drawingml/2006/main" id="6" idx="2"/>
            <a:endCxn xmlns:a="http://schemas.openxmlformats.org/drawingml/2006/main" id="7" idx="0"/>
          </p:cNvCxnSpPr>
          <p:nvPr/>
        </p:nvCxnSpPr>
        <p:spPr>
          <a:xfrm xmlns:a="http://schemas.openxmlformats.org/drawingml/2006/main">
            <a:off x="1704975" y="2781300"/>
            <a:ext cx="0" cy="228600"/>
          </a:xfrm>
          <a:prstGeom xmlns:a="http://schemas.openxmlformats.org/drawingml/2006/main" prst="straightConnector1">
            <a:avLst/>
          </a:prstGeom>
          <a:ln xmlns:a="http://schemas.openxmlformats.org/drawingml/2006/main" w="19050">
            <a:solidFill>
              <a:srgbClr val="6D28D9"/>
            </a:solidFill>
            <a:prstDash val="solid"/>
            <a:headEnd type="none" w="med" len="med"/>
            <a:tailEnd type="arrow" w="sm" len="sm"/>
          </a:ln>
        </p:spPr>
      </p:cxnSp>
      <p:cxnSp>
        <p:nvCxnSpPr>
          <p:cNvPr id="59" name=""/>
          <p:cNvCxnSpPr>
            <a:stCxn xmlns:a="http://schemas.openxmlformats.org/drawingml/2006/main" id="7" idx="2"/>
            <a:endCxn xmlns:a="http://schemas.openxmlformats.org/drawingml/2006/main" id="8" idx="0"/>
          </p:cNvCxnSpPr>
          <p:nvPr/>
        </p:nvCxnSpPr>
        <p:spPr>
          <a:xfrm xmlns:a="http://schemas.openxmlformats.org/drawingml/2006/main">
            <a:off x="1704975" y="3409950"/>
            <a:ext cx="0" cy="228600"/>
          </a:xfrm>
          <a:prstGeom xmlns:a="http://schemas.openxmlformats.org/drawingml/2006/main" prst="straightConnector1">
            <a:avLst/>
          </a:prstGeom>
          <a:ln xmlns:a="http://schemas.openxmlformats.org/drawingml/2006/main" w="19050">
            <a:solidFill>
              <a:srgbClr val="0F766E"/>
            </a:solidFill>
            <a:prstDash val="solid"/>
            <a:headEnd type="none" w="med" len="med"/>
            <a:tailEnd type="arrow" w="sm" len="sm"/>
          </a:ln>
        </p:spPr>
      </p:cxnSp>
      <p:sp>
        <p:nvSpPr>
          <p:cNvPr id="12" name="">
            <a:extLst xmlns:a="http://schemas.openxmlformats.org/drawingml/2006/main">
              <a:ext uri="{FF2B5EF4-FFF2-40B4-BE49-F238E27FC236}">
                <a16:creationId xmlns:a16="http://schemas.microsoft.com/office/drawing/2014/main" id="{550194CF-067A-40A0-9BFC-B65E2D616E58}"/>
              </a:ext>
            </a:extLst>
          </p:cNvPr>
          <p:cNvSpPr>
            <a:spLocks xmlns:a="http://schemas.openxmlformats.org/drawingml/2006/main" noGrp="1"/>
          </p:cNvSpPr>
          <p:nvPr/>
        </p:nvSpPr>
        <p:spPr>
          <a:xfrm xmlns:a="http://schemas.openxmlformats.org/drawingml/2006/main">
            <a:off x="3143250" y="1733550"/>
            <a:ext cx="1714500" cy="400050"/>
          </a:xfrm>
          <a:prstGeom xmlns:a="http://schemas.openxmlformats.org/drawingml/2006/main" prst="roundRect">
            <a:avLst>
              <a:gd name="adj" fmla="val 28571"/>
            </a:avLst>
          </a:prstGeom>
          <a:solidFill xmlns:a="http://schemas.openxmlformats.org/drawingml/2006/main">
            <a:srgbClr val="E6FFFA"/>
          </a:solidFill>
          <a:ln xmlns:a="http://schemas.openxmlformats.org/drawingml/2006/main" w="9525">
            <a:solidFill>
              <a:srgbClr val="0F766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125" b="0">
                <a:solidFill>
                  <a:srgbClr val="0F766E"/>
                </a:solidFill>
                <a:latin typeface="Arial"/>
                <a:ea typeface="Arial"/>
                <a:cs typeface="Arial"/>
              </a:defRPr>
            </a:pPr>
            <a:r>
              <a:rPr sz="1125" b="0">
                <a:solidFill>
                  <a:srgbClr val="0F766E"/>
                </a:solidFill>
                <a:latin typeface="Arial"/>
                <a:ea typeface="Arial"/>
                <a:cs typeface="Arial"/>
              </a:rPr>
              <a:t>front_lidar_link</a:t>
            </a:r>
          </a:p>
        </p:txBody>
      </p:sp>
      <p:sp>
        <p:nvSpPr>
          <p:cNvPr id="13" name="">
            <a:extLst xmlns:a="http://schemas.openxmlformats.org/drawingml/2006/main">
              <a:ext uri="{FF2B5EF4-FFF2-40B4-BE49-F238E27FC236}">
                <a16:creationId xmlns:a16="http://schemas.microsoft.com/office/drawing/2014/main" id="{5D0CF38E-A5A7-476B-803C-9B0CE2EB1E1E}"/>
              </a:ext>
            </a:extLst>
          </p:cNvPr>
          <p:cNvSpPr>
            <a:spLocks xmlns:a="http://schemas.openxmlformats.org/drawingml/2006/main" noGrp="1"/>
          </p:cNvSpPr>
          <p:nvPr/>
        </p:nvSpPr>
        <p:spPr>
          <a:xfrm xmlns:a="http://schemas.openxmlformats.org/drawingml/2006/main">
            <a:off x="3143250" y="2381250"/>
            <a:ext cx="1714500" cy="400050"/>
          </a:xfrm>
          <a:prstGeom xmlns:a="http://schemas.openxmlformats.org/drawingml/2006/main" prst="roundRect">
            <a:avLst>
              <a:gd name="adj" fmla="val 28571"/>
            </a:avLst>
          </a:prstGeom>
          <a:solidFill xmlns:a="http://schemas.openxmlformats.org/drawingml/2006/main">
            <a:srgbClr val="E6FFFA"/>
          </a:solidFill>
          <a:ln xmlns:a="http://schemas.openxmlformats.org/drawingml/2006/main" w="9525">
            <a:solidFill>
              <a:srgbClr val="0F766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125" b="0">
                <a:solidFill>
                  <a:srgbClr val="0F766E"/>
                </a:solidFill>
                <a:latin typeface="Arial"/>
                <a:ea typeface="Arial"/>
                <a:cs typeface="Arial"/>
              </a:defRPr>
            </a:pPr>
            <a:r>
              <a:rPr sz="1125" b="0">
                <a:solidFill>
                  <a:srgbClr val="0F766E"/>
                </a:solidFill>
                <a:latin typeface="Arial"/>
                <a:ea typeface="Arial"/>
                <a:cs typeface="Arial"/>
              </a:rPr>
              <a:t>rear_lidar_link</a:t>
            </a:r>
          </a:p>
        </p:txBody>
      </p:sp>
      <p:sp>
        <p:nvSpPr>
          <p:cNvPr id="14" name="">
            <a:extLst xmlns:a="http://schemas.openxmlformats.org/drawingml/2006/main">
              <a:ext uri="{FF2B5EF4-FFF2-40B4-BE49-F238E27FC236}">
                <a16:creationId xmlns:a16="http://schemas.microsoft.com/office/drawing/2014/main" id="{BC824A37-E23D-4ED8-916F-94CE872A2412}"/>
              </a:ext>
            </a:extLst>
          </p:cNvPr>
          <p:cNvSpPr>
            <a:spLocks xmlns:a="http://schemas.openxmlformats.org/drawingml/2006/main" noGrp="1"/>
          </p:cNvSpPr>
          <p:nvPr/>
        </p:nvSpPr>
        <p:spPr>
          <a:xfrm xmlns:a="http://schemas.openxmlformats.org/drawingml/2006/main">
            <a:off x="3143250" y="3028950"/>
            <a:ext cx="1714500" cy="400050"/>
          </a:xfrm>
          <a:prstGeom xmlns:a="http://schemas.openxmlformats.org/drawingml/2006/main" prst="roundRect">
            <a:avLst>
              <a:gd name="adj" fmla="val 28571"/>
            </a:avLst>
          </a:prstGeom>
          <a:solidFill xmlns:a="http://schemas.openxmlformats.org/drawingml/2006/main">
            <a:srgbClr val="F1EAFE"/>
          </a:solidFill>
          <a:ln xmlns:a="http://schemas.openxmlformats.org/drawingml/2006/main" w="9525">
            <a:solidFill>
              <a:srgbClr val="6D28D9"/>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125" b="0">
                <a:solidFill>
                  <a:srgbClr val="6D28D9"/>
                </a:solidFill>
                <a:latin typeface="Arial"/>
                <a:ea typeface="Arial"/>
                <a:cs typeface="Arial"/>
              </a:defRPr>
            </a:pPr>
            <a:r>
              <a:rPr sz="1125" b="0">
                <a:solidFill>
                  <a:srgbClr val="6D28D9"/>
                </a:solidFill>
                <a:latin typeface="Arial"/>
                <a:ea typeface="Arial"/>
                <a:cs typeface="Arial"/>
              </a:rPr>
              <a:t>imu_link</a:t>
            </a:r>
          </a:p>
        </p:txBody>
      </p:sp>
      <p:sp>
        <p:nvSpPr>
          <p:cNvPr id="15" name="">
            <a:extLst xmlns:a="http://schemas.openxmlformats.org/drawingml/2006/main">
              <a:ext uri="{FF2B5EF4-FFF2-40B4-BE49-F238E27FC236}">
                <a16:creationId xmlns:a16="http://schemas.microsoft.com/office/drawing/2014/main" id="{1B5C1D6F-BCD5-4E00-A28D-8910506BA492}"/>
              </a:ext>
            </a:extLst>
          </p:cNvPr>
          <p:cNvSpPr>
            <a:spLocks xmlns:a="http://schemas.openxmlformats.org/drawingml/2006/main" noGrp="1"/>
          </p:cNvSpPr>
          <p:nvPr/>
        </p:nvSpPr>
        <p:spPr>
          <a:xfrm xmlns:a="http://schemas.openxmlformats.org/drawingml/2006/main">
            <a:off x="3143250" y="3676650"/>
            <a:ext cx="2476500" cy="400050"/>
          </a:xfrm>
          <a:prstGeom xmlns:a="http://schemas.openxmlformats.org/drawingml/2006/main" prst="roundRect">
            <a:avLst>
              <a:gd name="adj" fmla="val 28571"/>
            </a:avLst>
          </a:prstGeom>
          <a:solidFill xmlns:a="http://schemas.openxmlformats.org/drawingml/2006/main">
            <a:srgbClr val="FFF1E8"/>
          </a:solidFill>
          <a:ln xmlns:a="http://schemas.openxmlformats.org/drawingml/2006/main" w="9525">
            <a:solidFill>
              <a:srgbClr val="C2410C"/>
            </a:solidFill>
            <a:prstDash val="solid"/>
          </a:ln>
        </p:spPr>
        <p:txBody>
          <a:bodyPr xmlns:a="http://schemas.openxmlformats.org/drawingml/2006/main" lIns="114300" tIns="76200" rIns="114300" bIns="76200" anchor="ctr">
            <a:normAutofit fontScale="94754"/>
          </a:bodyPr>
          <a:lstStyle xmlns:a="http://schemas.openxmlformats.org/drawingml/2006/main"/>
          <a:p xmlns:a="http://schemas.openxmlformats.org/drawingml/2006/main">
            <a:pPr algn="ctr">
              <a:lnSpc>
                <a:spcPct val="105000"/>
              </a:lnSpc>
              <a:buNone/>
              <a:defRPr sz="1050" b="0">
                <a:solidFill>
                  <a:srgbClr val="C2410C"/>
                </a:solidFill>
                <a:latin typeface="Arial"/>
                <a:ea typeface="Arial"/>
                <a:cs typeface="Arial"/>
              </a:defRPr>
            </a:pPr>
            <a:r>
              <a:rPr sz="1050" b="0">
                <a:solidFill>
                  <a:srgbClr val="C2410C"/>
                </a:solidFill>
                <a:latin typeface="Arial"/>
                <a:ea typeface="Arial"/>
                <a:cs typeface="Arial"/>
              </a:rPr>
              <a:t>arm_base_link → arm_* → gripper_tcp</a:t>
            </a:r>
          </a:p>
        </p:txBody>
      </p:sp>
      <p:sp>
        <p:nvSpPr>
          <p:cNvPr id="16" name="">
            <a:extLst xmlns:a="http://schemas.openxmlformats.org/drawingml/2006/main">
              <a:ext uri="{FF2B5EF4-FFF2-40B4-BE49-F238E27FC236}">
                <a16:creationId xmlns:a16="http://schemas.microsoft.com/office/drawing/2014/main" id="{ED23F2C0-E9C2-4B86-A37A-96847AFF6E6A}"/>
              </a:ext>
            </a:extLst>
          </p:cNvPr>
          <p:cNvSpPr>
            <a:spLocks xmlns:a="http://schemas.openxmlformats.org/drawingml/2006/main" noGrp="1"/>
          </p:cNvSpPr>
          <p:nvPr/>
        </p:nvSpPr>
        <p:spPr>
          <a:xfrm xmlns:a="http://schemas.openxmlformats.org/drawingml/2006/main">
            <a:off x="3143250" y="4324350"/>
            <a:ext cx="2476500" cy="400050"/>
          </a:xfrm>
          <a:prstGeom xmlns:a="http://schemas.openxmlformats.org/drawingml/2006/main" prst="roundRect">
            <a:avLst>
              <a:gd name="adj" fmla="val 28571"/>
            </a:avLst>
          </a:prstGeom>
          <a:solidFill xmlns:a="http://schemas.openxmlformats.org/drawingml/2006/main">
            <a:srgbClr val="EAF2FF"/>
          </a:solidFill>
          <a:ln xmlns:a="http://schemas.openxmlformats.org/drawingml/2006/main" w="9525">
            <a:solidFill>
              <a:srgbClr val="1D4ED8"/>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050" b="0">
                <a:solidFill>
                  <a:srgbClr val="1D4ED8"/>
                </a:solidFill>
                <a:latin typeface="Arial"/>
                <a:ea typeface="Arial"/>
                <a:cs typeface="Arial"/>
              </a:defRPr>
            </a:pPr>
            <a:r>
              <a:rPr sz="1050" b="0">
                <a:solidFill>
                  <a:srgbClr val="1D4ED8"/>
                </a:solidFill>
                <a:latin typeface="Arial"/>
                <a:ea typeface="Arial"/>
                <a:cs typeface="Arial"/>
              </a:rPr>
              <a:t>product_camera_optical_frame</a:t>
            </a:r>
          </a:p>
        </p:txBody>
      </p:sp>
      <p:cxnSp>
        <p:nvCxnSpPr>
          <p:cNvPr id="65" name=""/>
          <p:cNvCxnSpPr>
            <a:stCxn xmlns:a="http://schemas.openxmlformats.org/drawingml/2006/main" id="8" idx="3"/>
            <a:endCxn xmlns:a="http://schemas.openxmlformats.org/drawingml/2006/main" id="12" idx="1"/>
          </p:cNvCxnSpPr>
          <p:nvPr/>
        </p:nvCxnSpPr>
        <p:spPr>
          <a:xfrm xmlns:a="http://schemas.openxmlformats.org/drawingml/2006/main" flipV="1">
            <a:off x="2419350" y="1933575"/>
            <a:ext cx="723900" cy="1905000"/>
          </a:xfrm>
          <a:prstGeom xmlns:a="http://schemas.openxmlformats.org/drawingml/2006/main" prst="bentConnector3">
            <a:avLst>
              <a:gd name="adj1" fmla="val 50000"/>
            </a:avLst>
          </a:prstGeom>
          <a:ln xmlns:a="http://schemas.openxmlformats.org/drawingml/2006/main" w="19050">
            <a:solidFill>
              <a:srgbClr val="94A3B8"/>
            </a:solidFill>
            <a:prstDash val="solid"/>
            <a:headEnd type="none" w="med" len="med"/>
            <a:tailEnd type="none" w="med" len="med"/>
          </a:ln>
        </p:spPr>
      </p:cxnSp>
      <p:cxnSp>
        <p:nvCxnSpPr>
          <p:cNvPr id="66" name=""/>
          <p:cNvCxnSpPr>
            <a:stCxn xmlns:a="http://schemas.openxmlformats.org/drawingml/2006/main" id="8" idx="3"/>
            <a:endCxn xmlns:a="http://schemas.openxmlformats.org/drawingml/2006/main" id="13" idx="1"/>
          </p:cNvCxnSpPr>
          <p:nvPr/>
        </p:nvCxnSpPr>
        <p:spPr>
          <a:xfrm xmlns:a="http://schemas.openxmlformats.org/drawingml/2006/main" flipV="1">
            <a:off x="2419350" y="2581275"/>
            <a:ext cx="723900" cy="1257300"/>
          </a:xfrm>
          <a:prstGeom xmlns:a="http://schemas.openxmlformats.org/drawingml/2006/main" prst="bentConnector3">
            <a:avLst>
              <a:gd name="adj1" fmla="val 50000"/>
            </a:avLst>
          </a:prstGeom>
          <a:ln xmlns:a="http://schemas.openxmlformats.org/drawingml/2006/main" w="19050">
            <a:solidFill>
              <a:srgbClr val="94A3B8"/>
            </a:solidFill>
            <a:prstDash val="solid"/>
            <a:headEnd type="none" w="med" len="med"/>
            <a:tailEnd type="none" w="med" len="med"/>
          </a:ln>
        </p:spPr>
      </p:cxnSp>
      <p:cxnSp>
        <p:nvCxnSpPr>
          <p:cNvPr id="67" name=""/>
          <p:cNvCxnSpPr>
            <a:stCxn xmlns:a="http://schemas.openxmlformats.org/drawingml/2006/main" id="8" idx="3"/>
            <a:endCxn xmlns:a="http://schemas.openxmlformats.org/drawingml/2006/main" id="14" idx="1"/>
          </p:cNvCxnSpPr>
          <p:nvPr/>
        </p:nvCxnSpPr>
        <p:spPr>
          <a:xfrm xmlns:a="http://schemas.openxmlformats.org/drawingml/2006/main" flipV="1">
            <a:off x="2419350" y="3228975"/>
            <a:ext cx="723900" cy="609600"/>
          </a:xfrm>
          <a:prstGeom xmlns:a="http://schemas.openxmlformats.org/drawingml/2006/main" prst="bentConnector3">
            <a:avLst>
              <a:gd name="adj1" fmla="val 50000"/>
            </a:avLst>
          </a:prstGeom>
          <a:ln xmlns:a="http://schemas.openxmlformats.org/drawingml/2006/main" w="19050">
            <a:solidFill>
              <a:srgbClr val="94A3B8"/>
            </a:solidFill>
            <a:prstDash val="solid"/>
            <a:headEnd type="none" w="med" len="med"/>
            <a:tailEnd type="none" w="med" len="med"/>
          </a:ln>
        </p:spPr>
      </p:cxnSp>
      <p:cxnSp>
        <p:nvCxnSpPr>
          <p:cNvPr id="68" name=""/>
          <p:cNvCxnSpPr>
            <a:stCxn xmlns:a="http://schemas.openxmlformats.org/drawingml/2006/main" id="8" idx="3"/>
            <a:endCxn xmlns:a="http://schemas.openxmlformats.org/drawingml/2006/main" id="15" idx="1"/>
          </p:cNvCxnSpPr>
          <p:nvPr/>
        </p:nvCxnSpPr>
        <p:spPr>
          <a:xfrm xmlns:a="http://schemas.openxmlformats.org/drawingml/2006/main">
            <a:off x="2419350" y="3838575"/>
            <a:ext cx="723900" cy="38100"/>
          </a:xfrm>
          <a:prstGeom xmlns:a="http://schemas.openxmlformats.org/drawingml/2006/main" prst="bentConnector3">
            <a:avLst>
              <a:gd name="adj1" fmla="val 50000"/>
            </a:avLst>
          </a:prstGeom>
          <a:ln xmlns:a="http://schemas.openxmlformats.org/drawingml/2006/main" w="19050">
            <a:solidFill>
              <a:srgbClr val="94A3B8"/>
            </a:solidFill>
            <a:prstDash val="solid"/>
            <a:headEnd type="none" w="med" len="med"/>
            <a:tailEnd type="none" w="med" len="med"/>
          </a:ln>
        </p:spPr>
      </p:cxnSp>
      <p:cxnSp>
        <p:nvCxnSpPr>
          <p:cNvPr id="69" name=""/>
          <p:cNvCxnSpPr>
            <a:stCxn xmlns:a="http://schemas.openxmlformats.org/drawingml/2006/main" id="8" idx="3"/>
            <a:endCxn xmlns:a="http://schemas.openxmlformats.org/drawingml/2006/main" id="16" idx="1"/>
          </p:cNvCxnSpPr>
          <p:nvPr/>
        </p:nvCxnSpPr>
        <p:spPr>
          <a:xfrm xmlns:a="http://schemas.openxmlformats.org/drawingml/2006/main">
            <a:off x="2419350" y="3838575"/>
            <a:ext cx="723900" cy="685800"/>
          </a:xfrm>
          <a:prstGeom xmlns:a="http://schemas.openxmlformats.org/drawingml/2006/main" prst="bentConnector3">
            <a:avLst>
              <a:gd name="adj1" fmla="val 50000"/>
            </a:avLst>
          </a:prstGeom>
          <a:ln xmlns:a="http://schemas.openxmlformats.org/drawingml/2006/main" w="19050">
            <a:solidFill>
              <a:srgbClr val="94A3B8"/>
            </a:solidFill>
            <a:prstDash val="solid"/>
            <a:headEnd type="none" w="med" len="med"/>
            <a:tailEnd type="none" w="med" len="med"/>
          </a:ln>
        </p:spPr>
      </p:cxnSp>
      <p:sp>
        <p:nvSpPr>
          <p:cNvPr id="22" name="">
            <a:extLst xmlns:a="http://schemas.openxmlformats.org/drawingml/2006/main">
              <a:ext uri="{FF2B5EF4-FFF2-40B4-BE49-F238E27FC236}">
                <a16:creationId xmlns:a16="http://schemas.microsoft.com/office/drawing/2014/main" id="{443B6972-A472-4BF1-9B5E-1723026545A6}"/>
              </a:ext>
            </a:extLst>
          </p:cNvPr>
          <p:cNvSpPr>
            <a:spLocks xmlns:a="http://schemas.openxmlformats.org/drawingml/2006/main" noGrp="1"/>
          </p:cNvSpPr>
          <p:nvPr/>
        </p:nvSpPr>
        <p:spPr>
          <a:xfrm xmlns:a="http://schemas.openxmlformats.org/drawingml/2006/main">
            <a:off x="6553200" y="1733550"/>
            <a:ext cx="2095500" cy="304800"/>
          </a:xfrm>
          <a:prstGeom xmlns:a="http://schemas.openxmlformats.org/drawingml/2006/main" prst="roundRect">
            <a:avLst>
              <a:gd name="adj" fmla="val 37500"/>
            </a:avLst>
          </a:prstGeom>
          <a:solidFill xmlns:a="http://schemas.openxmlformats.org/drawingml/2006/main">
            <a:srgbClr val="EAF2FF"/>
          </a:solidFill>
          <a:ln xmlns:a="http://schemas.openxmlformats.org/drawingml/2006/main" w="9525">
            <a:solidFill>
              <a:srgbClr val="1D4ED8"/>
            </a:solidFill>
            <a:prstDash val="solid"/>
          </a:ln>
        </p:spPr>
        <p:txBody>
          <a:bodyPr xmlns:a="http://schemas.openxmlformats.org/drawingml/2006/main" lIns="76200" tIns="38100" rIns="76200" bIns="38100" anchor="ctr">
            <a:normAutofit fontScale="96205"/>
          </a:bodyPr>
          <a:lstStyle xmlns:a="http://schemas.openxmlformats.org/drawingml/2006/main"/>
          <a:p xmlns:a="http://schemas.openxmlformats.org/drawingml/2006/main">
            <a:pPr algn="ctr">
              <a:lnSpc>
                <a:spcPct val="105000"/>
              </a:lnSpc>
              <a:buNone/>
              <a:defRPr sz="1050" b="1">
                <a:solidFill>
                  <a:srgbClr val="1D4ED8"/>
                </a:solidFill>
                <a:latin typeface="Arial"/>
                <a:ea typeface="Arial"/>
                <a:cs typeface="Arial"/>
              </a:defRPr>
            </a:pPr>
            <a:r>
              <a:rPr sz="1050" b="1">
                <a:solidFill>
                  <a:srgbClr val="1D4ED8"/>
                </a:solidFill>
                <a:latin typeface="Arial"/>
                <a:ea typeface="Arial"/>
                <a:cs typeface="Arial"/>
              </a:rPr>
              <a:t>amr.urdf.xacro</a:t>
            </a:r>
          </a:p>
        </p:txBody>
      </p:sp>
      <p:sp>
        <p:nvSpPr>
          <p:cNvPr id="23" name="">
            <a:extLst xmlns:a="http://schemas.openxmlformats.org/drawingml/2006/main">
              <a:ext uri="{FF2B5EF4-FFF2-40B4-BE49-F238E27FC236}">
                <a16:creationId xmlns:a16="http://schemas.microsoft.com/office/drawing/2014/main" id="{DB3C03EF-613F-4146-88DE-5F353B846C43}"/>
              </a:ext>
            </a:extLst>
          </p:cNvPr>
          <p:cNvSpPr>
            <a:spLocks xmlns:a="http://schemas.openxmlformats.org/drawingml/2006/main" noGrp="1"/>
          </p:cNvSpPr>
          <p:nvPr/>
        </p:nvSpPr>
        <p:spPr>
          <a:xfrm xmlns:a="http://schemas.openxmlformats.org/drawingml/2006/main">
            <a:off x="6667500" y="2152650"/>
            <a:ext cx="45720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Chassis, drive wheels, casters, LiDARs and IMU</a:t>
            </a:r>
          </a:p>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Gazebo DiffDrive plus native command watchdog</a:t>
            </a:r>
          </a:p>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CAD visuals with primitive collision geometry</a:t>
            </a:r>
          </a:p>
        </p:txBody>
      </p:sp>
      <p:sp>
        <p:nvSpPr>
          <p:cNvPr id="24" name="">
            <a:extLst xmlns:a="http://schemas.openxmlformats.org/drawingml/2006/main">
              <a:ext uri="{FF2B5EF4-FFF2-40B4-BE49-F238E27FC236}">
                <a16:creationId xmlns:a16="http://schemas.microsoft.com/office/drawing/2014/main" id="{2DDCC2BC-1F38-41BC-B409-16860519094A}"/>
              </a:ext>
            </a:extLst>
          </p:cNvPr>
          <p:cNvSpPr>
            <a:spLocks xmlns:a="http://schemas.openxmlformats.org/drawingml/2006/main" noGrp="1"/>
          </p:cNvSpPr>
          <p:nvPr/>
        </p:nvSpPr>
        <p:spPr>
          <a:xfrm xmlns:a="http://schemas.openxmlformats.org/drawingml/2006/main">
            <a:off x="6553200" y="3581400"/>
            <a:ext cx="3048000" cy="304800"/>
          </a:xfrm>
          <a:prstGeom xmlns:a="http://schemas.openxmlformats.org/drawingml/2006/main" prst="roundRect">
            <a:avLst>
              <a:gd name="adj" fmla="val 37500"/>
            </a:avLst>
          </a:prstGeom>
          <a:solidFill xmlns:a="http://schemas.openxmlformats.org/drawingml/2006/main">
            <a:srgbClr val="FFF1E8"/>
          </a:solidFill>
          <a:ln xmlns:a="http://schemas.openxmlformats.org/drawingml/2006/main" w="9525">
            <a:solidFill>
              <a:srgbClr val="C2410C"/>
            </a:solidFill>
            <a:prstDash val="solid"/>
          </a:ln>
        </p:spPr>
        <p:txBody>
          <a:bodyPr xmlns:a="http://schemas.openxmlformats.org/drawingml/2006/main" lIns="76200" tIns="38100" rIns="76200" bIns="38100" anchor="ctr">
            <a:normAutofit fontScale="96205"/>
          </a:bodyPr>
          <a:lstStyle xmlns:a="http://schemas.openxmlformats.org/drawingml/2006/main"/>
          <a:p xmlns:a="http://schemas.openxmlformats.org/drawingml/2006/main">
            <a:pPr algn="ctr">
              <a:lnSpc>
                <a:spcPct val="105000"/>
              </a:lnSpc>
              <a:buNone/>
              <a:defRPr sz="1050" b="1">
                <a:solidFill>
                  <a:srgbClr val="C2410C"/>
                </a:solidFill>
                <a:latin typeface="Arial"/>
                <a:ea typeface="Arial"/>
                <a:cs typeface="Arial"/>
              </a:defRPr>
            </a:pPr>
            <a:r>
              <a:rPr sz="1050" b="1">
                <a:solidFill>
                  <a:srgbClr val="C2410C"/>
                </a:solidFill>
                <a:latin typeface="Arial"/>
                <a:ea typeface="Arial"/>
                <a:cs typeface="Arial"/>
              </a:rPr>
              <a:t>phase14_mobile_manipulator.urdf.xacro</a:t>
            </a:r>
          </a:p>
        </p:txBody>
      </p:sp>
      <p:sp>
        <p:nvSpPr>
          <p:cNvPr id="25" name="">
            <a:extLst xmlns:a="http://schemas.openxmlformats.org/drawingml/2006/main">
              <a:ext uri="{FF2B5EF4-FFF2-40B4-BE49-F238E27FC236}">
                <a16:creationId xmlns:a16="http://schemas.microsoft.com/office/drawing/2014/main" id="{35588D16-0A45-45BD-8C57-E9AC6393FDD8}"/>
              </a:ext>
            </a:extLst>
          </p:cNvPr>
          <p:cNvSpPr>
            <a:spLocks xmlns:a="http://schemas.openxmlformats.org/drawingml/2006/main" noGrp="1"/>
          </p:cNvSpPr>
          <p:nvPr/>
        </p:nvSpPr>
        <p:spPr>
          <a:xfrm xmlns:a="http://schemas.openxmlformats.org/drawingml/2006/main">
            <a:off x="6667500" y="4000500"/>
            <a:ext cx="4572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Includes the base description and KUKA KR6 R900-2 macro</a:t>
            </a:r>
          </a:p>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Adds gripper, product camera, optional loaded product and attachment hooks</a:t>
            </a:r>
          </a:p>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Uses gz_ros2_control for arm and gripper joint interfaces</a:t>
            </a:r>
          </a:p>
        </p:txBody>
      </p:sp>
      <p:sp>
        <p:nvSpPr>
          <p:cNvPr id="26" name="">
            <a:extLst xmlns:a="http://schemas.openxmlformats.org/drawingml/2006/main">
              <a:ext uri="{FF2B5EF4-FFF2-40B4-BE49-F238E27FC236}">
                <a16:creationId xmlns:a16="http://schemas.microsoft.com/office/drawing/2014/main" id="{46DCCCB1-3A6E-4158-B743-B662AC30B490}"/>
              </a:ext>
            </a:extLst>
          </p:cNvPr>
          <p:cNvSpPr>
            <a:spLocks xmlns:a="http://schemas.openxmlformats.org/drawingml/2006/main" noGrp="1"/>
          </p:cNvSpPr>
          <p:nvPr/>
        </p:nvSpPr>
        <p:spPr>
          <a:xfrm xmlns:a="http://schemas.openxmlformats.org/drawingml/2006/main">
            <a:off x="533400" y="6543675"/>
            <a:ext cx="1009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94A3B8"/>
                </a:solidFill>
                <a:latin typeface="Arial"/>
                <a:ea typeface="Arial"/>
                <a:cs typeface="Arial"/>
              </a:defRPr>
            </a:pPr>
            <a:r>
              <a:rPr sz="750" b="0">
                <a:solidFill>
                  <a:srgbClr val="94A3B8"/>
                </a:solidFill>
                <a:latin typeface="Arial"/>
                <a:ea typeface="Arial"/>
                <a:cs typeface="Arial"/>
              </a:rPr>
              <a:t>Sources: src/amr_description/urdf/amr.urdf.xacro; src/amr_description/urdf/phase14_mobile_manipulator.urdf.xacro</a:t>
            </a:r>
          </a:p>
        </p:txBody>
      </p:sp>
      <p:sp>
        <p:nvSpPr>
          <p:cNvPr id="27" name="">
            <a:extLst xmlns:a="http://schemas.openxmlformats.org/drawingml/2006/main">
              <a:ext uri="{FF2B5EF4-FFF2-40B4-BE49-F238E27FC236}">
                <a16:creationId xmlns:a16="http://schemas.microsoft.com/office/drawing/2014/main" id="{A9242CD3-F1F8-4840-ABAA-38F8EB55AED8}"/>
              </a:ext>
            </a:extLst>
          </p:cNvPr>
          <p:cNvSpPr>
            <a:spLocks xmlns:a="http://schemas.openxmlformats.org/drawingml/2006/main" noGrp="1"/>
          </p:cNvSpPr>
          <p:nvPr/>
        </p:nvSpPr>
        <p:spPr>
          <a:xfrm xmlns:a="http://schemas.openxmlformats.org/drawingml/2006/main">
            <a:off x="11191875" y="65151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05</a:t>
            </a:r>
          </a:p>
        </p:txBody>
      </p:sp>
    </p:spTree>
    <p:extLst>
      <p:ext uri="{BB962C8B-B14F-4D97-AF65-F5344CB8AC3E}">
        <p14:creationId xmlns:p14="http://schemas.microsoft.com/office/powerpoint/2010/main" val="1675352438"/>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10D4263-9EB8-48AE-90E0-ADBA92B998E3}"/>
              </a:ext>
            </a:extLst>
          </p:cNvPr>
          <p:cNvSpPr>
            <a:spLocks xmlns:a="http://schemas.openxmlformats.org/drawingml/2006/main" noGrp="1"/>
          </p:cNvSpPr>
          <p:nvPr/>
        </p:nvSpPr>
        <p:spPr>
          <a:xfrm xmlns:a="http://schemas.openxmlformats.org/drawingml/2006/main">
            <a:off x="552450" y="2286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AMR ROS 2 SOFTWARE ARCHITECTURE</a:t>
            </a:r>
          </a:p>
        </p:txBody>
      </p:sp>
      <p:sp>
        <p:nvSpPr>
          <p:cNvPr id="2" name="">
            <a:extLst xmlns:a="http://schemas.openxmlformats.org/drawingml/2006/main">
              <a:ext uri="{FF2B5EF4-FFF2-40B4-BE49-F238E27FC236}">
                <a16:creationId xmlns:a16="http://schemas.microsoft.com/office/drawing/2014/main" id="{F39E528E-2734-47CF-8D6C-16E336C6C72D}"/>
              </a:ext>
            </a:extLst>
          </p:cNvPr>
          <p:cNvSpPr>
            <a:spLocks xmlns:a="http://schemas.openxmlformats.org/drawingml/2006/main" noGrp="1"/>
          </p:cNvSpPr>
          <p:nvPr/>
        </p:nvSpPr>
        <p:spPr>
          <a:xfrm xmlns:a="http://schemas.openxmlformats.org/drawingml/2006/main">
            <a:off x="533400" y="4095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325" b="1">
                <a:solidFill>
                  <a:srgbClr val="142735"/>
                </a:solidFill>
                <a:latin typeface="Arial"/>
                <a:ea typeface="Arial"/>
                <a:cs typeface="Arial"/>
              </a:defRPr>
            </a:pPr>
            <a:r>
              <a:rPr sz="2325" b="1">
                <a:solidFill>
                  <a:srgbClr val="142735"/>
                </a:solidFill>
                <a:latin typeface="Arial"/>
                <a:ea typeface="Arial"/>
                <a:cs typeface="Arial"/>
              </a:rPr>
              <a:t>Sensors and ROS interfaces</a:t>
            </a:r>
          </a:p>
        </p:txBody>
      </p:sp>
      <p:sp>
        <p:nvSpPr>
          <p:cNvPr id="3" name="">
            <a:extLst xmlns:a="http://schemas.openxmlformats.org/drawingml/2006/main">
              <a:ext uri="{FF2B5EF4-FFF2-40B4-BE49-F238E27FC236}">
                <a16:creationId xmlns:a16="http://schemas.microsoft.com/office/drawing/2014/main" id="{BACDC352-57D2-40A3-A05C-67643C52DB13}"/>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C3C836F7-3381-468B-A314-EDEEBCB47798}"/>
              </a:ext>
            </a:extLst>
          </p:cNvPr>
          <p:cNvSpPr>
            <a:spLocks xmlns:a="http://schemas.openxmlformats.org/drawingml/2006/main" noGrp="1"/>
          </p:cNvSpPr>
          <p:nvPr/>
        </p:nvSpPr>
        <p:spPr>
          <a:xfrm xmlns:a="http://schemas.openxmlformats.org/drawingml/2006/main">
            <a:off x="609600" y="1162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14300" tIns="76200" rIns="114300" bIns="76200" anchor="t">
            <a:normAutofit fontScale="79365"/>
          </a:bodyPr>
          <a:lstStyle xmlns:a="http://schemas.openxmlformats.org/drawingml/2006/main"/>
          <a:p xmlns:a="http://schemas.openxmlformats.org/drawingml/2006/main">
            <a:pPr algn="l">
              <a:lnSpc>
                <a:spcPct val="105000"/>
              </a:lnSpc>
              <a:buNone/>
              <a:defRPr sz="1350" b="0">
                <a:solidFill>
                  <a:srgbClr val="52606D"/>
                </a:solidFill>
                <a:latin typeface="Arial"/>
                <a:ea typeface="Arial"/>
                <a:cs typeface="Arial"/>
              </a:defRPr>
            </a:pPr>
            <a:r>
              <a:rPr sz="1350" b="0">
                <a:solidFill>
                  <a:srgbClr val="52606D"/>
                </a:solidFill>
                <a:latin typeface="Arial"/>
                <a:ea typeface="Arial"/>
                <a:cs typeface="Arial"/>
              </a:rPr>
              <a:t>Adapters give each simulated sensor a stable project-owned topic and preserve the sensor frame. Consumers subscribe to the interface they own</a:t>
            </a:r>
          </a:p>
        </p:txBody>
      </p:sp>
      <p:graphicFrame>
        <p:nvGraphicFramePr>
          <p:cNvPr id="15" name=""/>
          <p:cNvGraphicFramePr/>
          <p:nvPr/>
        </p:nvGraphicFramePr>
        <p:xfrm>
          <a:off xmlns:a="http://schemas.openxmlformats.org/drawingml/2006/main" x="609600" y="1790700"/>
          <a:ext xmlns:a="http://schemas.openxmlformats.org/drawingml/2006/main" cx="10953750" cy="3571875"/>
        </p:xfrm>
        <a:graphic xmlns:a="http://schemas.openxmlformats.org/drawingml/2006/main">
          <a:graphicData uri="http://schemas.openxmlformats.org/drawingml/2006/table">
            <a:tbl>
              <a:tblPr/>
              <a:tblGrid>
                <a:gridCol w="1809750"/>
                <a:gridCol w="4762500"/>
                <a:gridCol w="4381500"/>
              </a:tblGrid>
              <a:tr h="595313">
                <a:tc>
                  <a:txBody>
                    <a:bodyPr>
                      <a:normAutofit/>
                    </a:bodyPr>
                    <a:lstStyle/>
                    <a:p>
                      <a:r>
                        <a:rPr sz="1200" b="1">
                          <a:solidFill>
                            <a:srgbClr val="FFFFFF"/>
                          </a:solidFill>
                          <a:latin typeface="Arial"/>
                          <a:ea typeface="Arial"/>
                          <a:cs typeface="Arial"/>
                        </a:rPr>
                        <a:t>Source</a:t>
                      </a:r>
                    </a:p>
                  </a:txBody>
                  <a:tcPr marL="91440" marR="91440" marT="45720" marB="45720" anchor="ctr">
                    <a:solidFill>
                      <a:srgbClr val="123B5D"/>
                    </a:solidFill>
                  </a:tcPr>
                </a:tc>
                <a:tc>
                  <a:txBody>
                    <a:bodyPr>
                      <a:normAutofit/>
                    </a:bodyPr>
                    <a:lstStyle/>
                    <a:p>
                      <a:r>
                        <a:rPr sz="1200" b="1">
                          <a:solidFill>
                            <a:srgbClr val="FFFFFF"/>
                          </a:solidFill>
                          <a:latin typeface="Arial"/>
                          <a:ea typeface="Arial"/>
                          <a:cs typeface="Arial"/>
                        </a:rPr>
                        <a:t>Project interface</a:t>
                      </a:r>
                    </a:p>
                  </a:txBody>
                  <a:tcPr marL="91440" marR="91440" marT="45720" marB="45720" anchor="ctr">
                    <a:solidFill>
                      <a:srgbClr val="123B5D"/>
                    </a:solidFill>
                  </a:tcPr>
                </a:tc>
                <a:tc>
                  <a:txBody>
                    <a:bodyPr>
                      <a:normAutofit/>
                    </a:bodyPr>
                    <a:lstStyle/>
                    <a:p>
                      <a:r>
                        <a:rPr sz="1200" b="1">
                          <a:solidFill>
                            <a:srgbClr val="FFFFFF"/>
                          </a:solidFill>
                          <a:latin typeface="Arial"/>
                          <a:ea typeface="Arial"/>
                          <a:cs typeface="Arial"/>
                        </a:rPr>
                        <a:t>Main consumer</a:t>
                      </a:r>
                    </a:p>
                  </a:txBody>
                  <a:tcPr marL="91440" marR="91440" marT="45720" marB="45720" anchor="ctr">
                    <a:solidFill>
                      <a:srgbClr val="123B5D"/>
                    </a:solidFill>
                  </a:tcPr>
                </a:tc>
              </a:tr>
              <a:tr h="595313">
                <a:tc>
                  <a:txBody>
                    <a:bodyPr>
                      <a:normAutofit/>
                    </a:bodyPr>
                    <a:lstStyle/>
                    <a:p>
                      <a:r>
                        <a:rPr sz="1125" b="0">
                          <a:solidFill>
                            <a:srgbClr val="142735"/>
                          </a:solidFill>
                          <a:latin typeface="Arial"/>
                          <a:ea typeface="Arial"/>
                          <a:cs typeface="Arial"/>
                        </a:rPr>
                        <a:t>Front LiDAR</a:t>
                      </a:r>
                    </a:p>
                  </a:txBody>
                  <a:tcPr marL="91440" marR="91440" marT="45720" marB="45720" anchor="ctr">
                    <a:solidFill>
                      <a:srgbClr val="FFFFFF"/>
                    </a:solidFill>
                  </a:tcPr>
                </a:tc>
                <a:tc>
                  <a:txBody>
                    <a:bodyPr>
                      <a:normAutofit/>
                    </a:bodyPr>
                    <a:lstStyle/>
                    <a:p>
                      <a:r>
                        <a:rPr sz="1125" b="0">
                          <a:solidFill>
                            <a:srgbClr val="142735"/>
                          </a:solidFill>
                          <a:latin typeface="Arial"/>
                          <a:ea typeface="Arial"/>
                          <a:cs typeface="Arial"/>
                        </a:rPr>
                        <a:t>/amr/sensors/front_lidar/scan</a:t>
                      </a:r>
                    </a:p>
                    <a:p>
                      <a:r>
                        <a:rPr sz="1125" b="0">
                          <a:solidFill>
                            <a:srgbClr val="142735"/>
                          </a:solidFill>
                          <a:latin typeface="Arial"/>
                          <a:ea typeface="Arial"/>
                          <a:cs typeface="Arial"/>
                        </a:rPr>
                        <a:t>/amr/sensors/front_lidar/points</a:t>
                      </a:r>
                    </a:p>
                  </a:txBody>
                  <a:tcPr marL="91440" marR="91440" marT="45720" marB="45720" anchor="ctr">
                    <a:solidFill>
                      <a:srgbClr val="FFFFFF"/>
                    </a:solidFill>
                  </a:tcPr>
                </a:tc>
                <a:tc>
                  <a:txBody>
                    <a:bodyPr>
                      <a:normAutofit/>
                    </a:bodyPr>
                    <a:lstStyle/>
                    <a:p>
                      <a:r>
                        <a:rPr sz="1125" b="0">
                          <a:solidFill>
                            <a:srgbClr val="142735"/>
                          </a:solidFill>
                          <a:latin typeface="Arial"/>
                          <a:ea typeface="Arial"/>
                          <a:cs typeface="Arial"/>
                        </a:rPr>
                        <a:t>SLAM Toolbox</a:t>
                      </a:r>
                    </a:p>
                    <a:p>
                      <a:r>
                        <a:rPr sz="1125" b="0">
                          <a:solidFill>
                            <a:srgbClr val="142735"/>
                          </a:solidFill>
                          <a:latin typeface="Arial"/>
                          <a:ea typeface="Arial"/>
                          <a:cs typeface="Arial"/>
                        </a:rPr>
                        <a:t>front perception</a:t>
                      </a:r>
                    </a:p>
                  </a:txBody>
                  <a:tcPr marL="91440" marR="91440" marT="45720" marB="45720" anchor="ctr">
                    <a:solidFill>
                      <a:srgbClr val="FFFFFF"/>
                    </a:solidFill>
                  </a:tcPr>
                </a:tc>
              </a:tr>
              <a:tr h="595313">
                <a:tc>
                  <a:txBody>
                    <a:bodyPr>
                      <a:normAutofit/>
                    </a:bodyPr>
                    <a:lstStyle/>
                    <a:p>
                      <a:r>
                        <a:rPr sz="1125" b="0">
                          <a:solidFill>
                            <a:srgbClr val="142735"/>
                          </a:solidFill>
                          <a:latin typeface="Arial"/>
                          <a:ea typeface="Arial"/>
                          <a:cs typeface="Arial"/>
                        </a:rPr>
                        <a:t>Rear LiDAR</a:t>
                      </a:r>
                    </a:p>
                  </a:txBody>
                  <a:tcPr marL="91440" marR="91440" marT="45720" marB="45720" anchor="ctr">
                    <a:solidFill>
                      <a:srgbClr val="F1F5F9"/>
                    </a:solidFill>
                  </a:tcPr>
                </a:tc>
                <a:tc>
                  <a:txBody>
                    <a:bodyPr>
                      <a:normAutofit/>
                    </a:bodyPr>
                    <a:lstStyle/>
                    <a:p>
                      <a:r>
                        <a:rPr sz="1125" b="0">
                          <a:solidFill>
                            <a:srgbClr val="142735"/>
                          </a:solidFill>
                          <a:latin typeface="Arial"/>
                          <a:ea typeface="Arial"/>
                          <a:cs typeface="Arial"/>
                        </a:rPr>
                        <a:t>/amr/sensors/rear_lidar/scan</a:t>
                      </a:r>
                    </a:p>
                    <a:p>
                      <a:r>
                        <a:rPr sz="1125" b="0">
                          <a:solidFill>
                            <a:srgbClr val="142735"/>
                          </a:solidFill>
                          <a:latin typeface="Arial"/>
                          <a:ea typeface="Arial"/>
                          <a:cs typeface="Arial"/>
                        </a:rPr>
                        <a:t>/amr/sensors/rear_lidar/points</a:t>
                      </a:r>
                    </a:p>
                  </a:txBody>
                  <a:tcPr marL="91440" marR="91440" marT="45720" marB="45720" anchor="ctr">
                    <a:solidFill>
                      <a:srgbClr val="F1F5F9"/>
                    </a:solidFill>
                  </a:tcPr>
                </a:tc>
                <a:tc>
                  <a:txBody>
                    <a:bodyPr>
                      <a:normAutofit/>
                    </a:bodyPr>
                    <a:lstStyle/>
                    <a:p>
                      <a:r>
                        <a:rPr sz="1125" b="0">
                          <a:solidFill>
                            <a:srgbClr val="142735"/>
                          </a:solidFill>
                          <a:latin typeface="Arial"/>
                          <a:ea typeface="Arial"/>
                          <a:cs typeface="Arial"/>
                        </a:rPr>
                        <a:t>rear perception</a:t>
                      </a:r>
                    </a:p>
                    <a:p>
                      <a:r>
                        <a:rPr sz="1125" b="0">
                          <a:solidFill>
                            <a:srgbClr val="142735"/>
                          </a:solidFill>
                          <a:latin typeface="Arial"/>
                          <a:ea typeface="Arial"/>
                          <a:cs typeface="Arial"/>
                        </a:rPr>
                        <a:t>local + global costmaps</a:t>
                      </a:r>
                    </a:p>
                  </a:txBody>
                  <a:tcPr marL="91440" marR="91440" marT="45720" marB="45720" anchor="ctr">
                    <a:solidFill>
                      <a:srgbClr val="F1F5F9"/>
                    </a:solidFill>
                  </a:tcPr>
                </a:tc>
              </a:tr>
              <a:tr h="595313">
                <a:tc>
                  <a:txBody>
                    <a:bodyPr>
                      <a:normAutofit/>
                    </a:bodyPr>
                    <a:lstStyle/>
                    <a:p>
                      <a:r>
                        <a:rPr sz="1125" b="0">
                          <a:solidFill>
                            <a:srgbClr val="142735"/>
                          </a:solidFill>
                          <a:latin typeface="Arial"/>
                          <a:ea typeface="Arial"/>
                          <a:cs typeface="Arial"/>
                        </a:rPr>
                        <a:t>IMU</a:t>
                      </a:r>
                    </a:p>
                  </a:txBody>
                  <a:tcPr marL="91440" marR="91440" marT="45720" marB="45720" anchor="ctr">
                    <a:solidFill>
                      <a:srgbClr val="FFFFFF"/>
                    </a:solidFill>
                  </a:tcPr>
                </a:tc>
                <a:tc>
                  <a:txBody>
                    <a:bodyPr>
                      <a:normAutofit/>
                    </a:bodyPr>
                    <a:lstStyle/>
                    <a:p>
                      <a:r>
                        <a:rPr sz="1125" b="0">
                          <a:solidFill>
                            <a:srgbClr val="142735"/>
                          </a:solidFill>
                          <a:latin typeface="Arial"/>
                          <a:ea typeface="Arial"/>
                          <a:cs typeface="Arial"/>
                        </a:rPr>
                        <a:t>/amr/sensors/imu/data_raw</a:t>
                      </a:r>
                    </a:p>
                  </a:txBody>
                  <a:tcPr marL="91440" marR="91440" marT="45720" marB="45720" anchor="ctr">
                    <a:solidFill>
                      <a:srgbClr val="FFFFFF"/>
                    </a:solidFill>
                  </a:tcPr>
                </a:tc>
                <a:tc>
                  <a:txBody>
                    <a:bodyPr>
                      <a:normAutofit/>
                    </a:bodyPr>
                    <a:lstStyle/>
                    <a:p>
                      <a:r>
                        <a:rPr sz="1125" b="0">
                          <a:solidFill>
                            <a:srgbClr val="142735"/>
                          </a:solidFill>
                          <a:latin typeface="Arial"/>
                          <a:ea typeface="Arial"/>
                          <a:cs typeface="Arial"/>
                        </a:rPr>
                        <a:t>robot_localization EKF</a:t>
                      </a:r>
                    </a:p>
                  </a:txBody>
                  <a:tcPr marL="91440" marR="91440" marT="45720" marB="45720" anchor="ctr">
                    <a:solidFill>
                      <a:srgbClr val="FFFFFF"/>
                    </a:solidFill>
                  </a:tcPr>
                </a:tc>
              </a:tr>
              <a:tr h="595313">
                <a:tc>
                  <a:txBody>
                    <a:bodyPr>
                      <a:normAutofit/>
                    </a:bodyPr>
                    <a:lstStyle/>
                    <a:p>
                      <a:r>
                        <a:rPr sz="1125" b="0">
                          <a:solidFill>
                            <a:srgbClr val="142735"/>
                          </a:solidFill>
                          <a:latin typeface="Arial"/>
                          <a:ea typeface="Arial"/>
                          <a:cs typeface="Arial"/>
                        </a:rPr>
                        <a:t>Base / wheel state</a:t>
                      </a:r>
                    </a:p>
                  </a:txBody>
                  <a:tcPr marL="91440" marR="91440" marT="45720" marB="45720" anchor="ctr">
                    <a:solidFill>
                      <a:srgbClr val="F1F5F9"/>
                    </a:solidFill>
                  </a:tcPr>
                </a:tc>
                <a:tc>
                  <a:txBody>
                    <a:bodyPr>
                      <a:normAutofit/>
                    </a:bodyPr>
                    <a:lstStyle/>
                    <a:p>
                      <a:r>
                        <a:rPr sz="1125" b="0">
                          <a:solidFill>
                            <a:srgbClr val="142735"/>
                          </a:solidFill>
                          <a:latin typeface="Arial"/>
                          <a:ea typeface="Arial"/>
                          <a:cs typeface="Arial"/>
                        </a:rPr>
                        <a:t>/amr/base/odometry_raw</a:t>
                      </a:r>
                    </a:p>
                    <a:p>
                      <a:r>
                        <a:rPr sz="1125" b="0">
                          <a:solidFill>
                            <a:srgbClr val="142735"/>
                          </a:solidFill>
                          <a:latin typeface="Arial"/>
                          <a:ea typeface="Arial"/>
                          <a:cs typeface="Arial"/>
                        </a:rPr>
                        <a:t>/amr/base/joint_states</a:t>
                      </a:r>
                    </a:p>
                  </a:txBody>
                  <a:tcPr marL="91440" marR="91440" marT="45720" marB="45720" anchor="ctr">
                    <a:solidFill>
                      <a:srgbClr val="F1F5F9"/>
                    </a:solidFill>
                  </a:tcPr>
                </a:tc>
                <a:tc>
                  <a:txBody>
                    <a:bodyPr>
                      <a:normAutofit/>
                    </a:bodyPr>
                    <a:lstStyle/>
                    <a:p>
                      <a:r>
                        <a:rPr sz="1125" b="0">
                          <a:solidFill>
                            <a:srgbClr val="142735"/>
                          </a:solidFill>
                          <a:latin typeface="Arial"/>
                          <a:ea typeface="Arial"/>
                          <a:cs typeface="Arial"/>
                        </a:rPr>
                        <a:t>wheel odometry</a:t>
                      </a:r>
                    </a:p>
                    <a:p>
                      <a:r>
                        <a:rPr sz="1125" b="0">
                          <a:solidFill>
                            <a:srgbClr val="142735"/>
                          </a:solidFill>
                          <a:latin typeface="Arial"/>
                          <a:ea typeface="Arial"/>
                          <a:cs typeface="Arial"/>
                        </a:rPr>
                        <a:t>MoveIt / controllers</a:t>
                      </a:r>
                    </a:p>
                  </a:txBody>
                  <a:tcPr marL="91440" marR="91440" marT="45720" marB="45720" anchor="ctr">
                    <a:solidFill>
                      <a:srgbClr val="F1F5F9"/>
                    </a:solidFill>
                  </a:tcPr>
                </a:tc>
              </a:tr>
              <a:tr h="595313">
                <a:tc>
                  <a:txBody>
                    <a:bodyPr>
                      <a:normAutofit/>
                    </a:bodyPr>
                    <a:lstStyle/>
                    <a:p>
                      <a:r>
                        <a:rPr sz="1125" b="0">
                          <a:solidFill>
                            <a:srgbClr val="142735"/>
                          </a:solidFill>
                          <a:latin typeface="Arial"/>
                          <a:ea typeface="Arial"/>
                          <a:cs typeface="Arial"/>
                        </a:rPr>
                        <a:t>Product camera</a:t>
                      </a:r>
                    </a:p>
                  </a:txBody>
                  <a:tcPr marL="91440" marR="91440" marT="45720" marB="45720" anchor="ctr">
                    <a:solidFill>
                      <a:srgbClr val="FFFFFF"/>
                    </a:solidFill>
                  </a:tcPr>
                </a:tc>
                <a:tc>
                  <a:txBody>
                    <a:bodyPr>
                      <a:normAutofit/>
                    </a:bodyPr>
                    <a:lstStyle/>
                    <a:p>
                      <a:r>
                        <a:rPr sz="1125" b="0">
                          <a:solidFill>
                            <a:srgbClr val="142735"/>
                          </a:solidFill>
                          <a:latin typeface="Arial"/>
                          <a:ea typeface="Arial"/>
                          <a:cs typeface="Arial"/>
                        </a:rPr>
                        <a:t>/amr/sensors/product_camera/*</a:t>
                      </a:r>
                    </a:p>
                  </a:txBody>
                  <a:tcPr marL="91440" marR="91440" marT="45720" marB="45720" anchor="ctr">
                    <a:solidFill>
                      <a:srgbClr val="FFFFFF"/>
                    </a:solidFill>
                  </a:tcPr>
                </a:tc>
                <a:tc>
                  <a:txBody>
                    <a:bodyPr>
                      <a:normAutofit/>
                    </a:bodyPr>
                    <a:lstStyle/>
                    <a:p>
                      <a:r>
                        <a:rPr sz="1125" b="0">
                          <a:solidFill>
                            <a:srgbClr val="142735"/>
                          </a:solidFill>
                          <a:latin typeface="Arial"/>
                          <a:ea typeface="Arial"/>
                          <a:cs typeface="Arial"/>
                        </a:rPr>
                        <a:t>AprilTag / manipulation</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14903B9-4AFD-4803-89EF-4B427E6C308F}"/>
              </a:ext>
            </a:extLst>
          </p:cNvPr>
          <p:cNvSpPr>
            <a:spLocks xmlns:a="http://schemas.openxmlformats.org/drawingml/2006/main" noGrp="1"/>
          </p:cNvSpPr>
          <p:nvPr/>
        </p:nvSpPr>
        <p:spPr>
          <a:xfrm xmlns:a="http://schemas.openxmlformats.org/drawingml/2006/main">
            <a:off x="609600" y="5629275"/>
            <a:ext cx="10953750" cy="504825"/>
          </a:xfrm>
          <a:prstGeom xmlns:a="http://schemas.openxmlformats.org/drawingml/2006/main" prst="roundRect">
            <a:avLst>
              <a:gd name="adj" fmla="val 22642"/>
            </a:avLst>
          </a:prstGeom>
          <a:solidFill xmlns:a="http://schemas.openxmlformats.org/drawingml/2006/main">
            <a:srgbClr val="E6FFFA"/>
          </a:solidFill>
          <a:ln xmlns:a="http://schemas.openxmlformats.org/drawingml/2006/main" w="9525">
            <a:solidFill>
              <a:srgbClr val="0F766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00" b="0">
                <a:solidFill>
                  <a:srgbClr val="0F766E"/>
                </a:solidFill>
                <a:latin typeface="Arial"/>
                <a:ea typeface="Arial"/>
                <a:cs typeface="Arial"/>
              </a:defRPr>
            </a:pPr>
            <a:r>
              <a:rPr sz="1200" b="0">
                <a:solidFill>
                  <a:srgbClr val="0F766E"/>
                </a:solidFill>
                <a:latin typeface="Arial"/>
                <a:ea typeface="Arial"/>
                <a:cs typeface="Arial"/>
              </a:rPr>
              <a:t>Sensor streams use sensor QoS. The perception pipeline drops malformed, stale, future or non-monotonic point clouds before republishing accepted data.</a:t>
            </a:r>
          </a:p>
        </p:txBody>
      </p:sp>
      <p:sp>
        <p:nvSpPr>
          <p:cNvPr id="7" name="">
            <a:extLst xmlns:a="http://schemas.openxmlformats.org/drawingml/2006/main">
              <a:ext uri="{FF2B5EF4-FFF2-40B4-BE49-F238E27FC236}">
                <a16:creationId xmlns:a16="http://schemas.microsoft.com/office/drawing/2014/main" id="{04027F06-9FCB-4C88-9348-D53BF89FDE1A}"/>
              </a:ext>
            </a:extLst>
          </p:cNvPr>
          <p:cNvSpPr>
            <a:spLocks xmlns:a="http://schemas.openxmlformats.org/drawingml/2006/main" noGrp="1"/>
          </p:cNvSpPr>
          <p:nvPr/>
        </p:nvSpPr>
        <p:spPr>
          <a:xfrm xmlns:a="http://schemas.openxmlformats.org/drawingml/2006/main">
            <a:off x="533400" y="6543675"/>
            <a:ext cx="1009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94A3B8"/>
                </a:solidFill>
                <a:latin typeface="Arial"/>
                <a:ea typeface="Arial"/>
                <a:cs typeface="Arial"/>
              </a:defRPr>
            </a:pPr>
            <a:r>
              <a:rPr sz="750" b="0">
                <a:solidFill>
                  <a:srgbClr val="94A3B8"/>
                </a:solidFill>
                <a:latin typeface="Arial"/>
                <a:ea typeface="Arial"/>
                <a:cs typeface="Arial"/>
              </a:rPr>
              <a:t>Source: src/amr_bringup/config/interface_ownership.yaml; src/amr_sensor_adapters/src; src/amr_perception/src/lidar_pipeline_node.cpp</a:t>
            </a:r>
          </a:p>
        </p:txBody>
      </p:sp>
      <p:sp>
        <p:nvSpPr>
          <p:cNvPr id="8" name="">
            <a:extLst xmlns:a="http://schemas.openxmlformats.org/drawingml/2006/main">
              <a:ext uri="{FF2B5EF4-FFF2-40B4-BE49-F238E27FC236}">
                <a16:creationId xmlns:a16="http://schemas.microsoft.com/office/drawing/2014/main" id="{F361DA08-EF2B-4671-8896-EB2EB8389C76}"/>
              </a:ext>
            </a:extLst>
          </p:cNvPr>
          <p:cNvSpPr>
            <a:spLocks xmlns:a="http://schemas.openxmlformats.org/drawingml/2006/main" noGrp="1"/>
          </p:cNvSpPr>
          <p:nvPr/>
        </p:nvSpPr>
        <p:spPr>
          <a:xfrm xmlns:a="http://schemas.openxmlformats.org/drawingml/2006/main">
            <a:off x="11191875" y="65151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06</a:t>
            </a:r>
          </a:p>
        </p:txBody>
      </p:sp>
    </p:spTree>
    <p:extLst>
      <p:ext uri="{BB962C8B-B14F-4D97-AF65-F5344CB8AC3E}">
        <p14:creationId xmlns:p14="http://schemas.microsoft.com/office/powerpoint/2010/main" val="1717912509"/>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D4FBD21-C55E-44D7-84BE-9841EDB36822}"/>
              </a:ext>
            </a:extLst>
          </p:cNvPr>
          <p:cNvSpPr>
            <a:spLocks xmlns:a="http://schemas.openxmlformats.org/drawingml/2006/main" noGrp="1"/>
          </p:cNvSpPr>
          <p:nvPr/>
        </p:nvSpPr>
        <p:spPr>
          <a:xfrm xmlns:a="http://schemas.openxmlformats.org/drawingml/2006/main">
            <a:off x="552450" y="2286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AMR ROS 2 SOFTWARE ARCHITECTURE</a:t>
            </a:r>
          </a:p>
        </p:txBody>
      </p:sp>
      <p:sp>
        <p:nvSpPr>
          <p:cNvPr id="2" name="">
            <a:extLst xmlns:a="http://schemas.openxmlformats.org/drawingml/2006/main">
              <a:ext uri="{FF2B5EF4-FFF2-40B4-BE49-F238E27FC236}">
                <a16:creationId xmlns:a16="http://schemas.microsoft.com/office/drawing/2014/main" id="{B7827733-079A-4347-ABA5-CC99F55D0F77}"/>
              </a:ext>
            </a:extLst>
          </p:cNvPr>
          <p:cNvSpPr>
            <a:spLocks xmlns:a="http://schemas.openxmlformats.org/drawingml/2006/main" noGrp="1"/>
          </p:cNvSpPr>
          <p:nvPr/>
        </p:nvSpPr>
        <p:spPr>
          <a:xfrm xmlns:a="http://schemas.openxmlformats.org/drawingml/2006/main">
            <a:off x="533400" y="4095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325" b="1">
                <a:solidFill>
                  <a:srgbClr val="142735"/>
                </a:solidFill>
                <a:latin typeface="Arial"/>
                <a:ea typeface="Arial"/>
                <a:cs typeface="Arial"/>
              </a:defRPr>
            </a:pPr>
            <a:r>
              <a:rPr sz="2325" b="1">
                <a:solidFill>
                  <a:srgbClr val="142735"/>
                </a:solidFill>
                <a:latin typeface="Arial"/>
                <a:ea typeface="Arial"/>
                <a:cs typeface="Arial"/>
              </a:rPr>
              <a:t>Sensor fusion: how the EKF helps</a:t>
            </a:r>
          </a:p>
        </p:txBody>
      </p:sp>
      <p:sp>
        <p:nvSpPr>
          <p:cNvPr id="3" name="">
            <a:extLst xmlns:a="http://schemas.openxmlformats.org/drawingml/2006/main">
              <a:ext uri="{FF2B5EF4-FFF2-40B4-BE49-F238E27FC236}">
                <a16:creationId xmlns:a16="http://schemas.microsoft.com/office/drawing/2014/main" id="{3DDF54E9-C3B2-45BD-8F14-3F6C25341ED9}"/>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C73EB855-A966-4684-88E4-211D5AB3A8C1}"/>
              </a:ext>
            </a:extLst>
          </p:cNvPr>
          <p:cNvSpPr>
            <a:spLocks xmlns:a="http://schemas.openxmlformats.org/drawingml/2006/main" noGrp="1"/>
          </p:cNvSpPr>
          <p:nvPr/>
        </p:nvSpPr>
        <p:spPr>
          <a:xfrm xmlns:a="http://schemas.openxmlformats.org/drawingml/2006/main">
            <a:off x="609600" y="1162050"/>
            <a:ext cx="10715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14300" tIns="76200" rIns="114300" bIns="76200" anchor="t">
            <a:normAutofit fontScale="79365"/>
          </a:bodyPr>
          <a:lstStyle xmlns:a="http://schemas.openxmlformats.org/drawingml/2006/main"/>
          <a:p xmlns:a="http://schemas.openxmlformats.org/drawingml/2006/main">
            <a:pPr algn="l">
              <a:lnSpc>
                <a:spcPct val="105000"/>
              </a:lnSpc>
              <a:buNone/>
              <a:defRPr sz="1350" b="0">
                <a:solidFill>
                  <a:srgbClr val="52606D"/>
                </a:solidFill>
                <a:latin typeface="Arial"/>
                <a:ea typeface="Arial"/>
                <a:cs typeface="Arial"/>
              </a:defRPr>
            </a:pPr>
            <a:r>
              <a:rPr sz="1350" b="0">
                <a:solidFill>
                  <a:srgbClr val="52606D"/>
                </a:solidFill>
                <a:latin typeface="Arial"/>
                <a:ea typeface="Arial"/>
                <a:cs typeface="Arial"/>
              </a:rPr>
              <a:t>The EKF produces a planar, time-bounded odometry estimate for local motion. It does not decide the global map position</a:t>
            </a:r>
          </a:p>
        </p:txBody>
      </p:sp>
      <p:sp>
        <p:nvSpPr>
          <p:cNvPr id="5" name="">
            <a:extLst xmlns:a="http://schemas.openxmlformats.org/drawingml/2006/main">
              <a:ext uri="{FF2B5EF4-FFF2-40B4-BE49-F238E27FC236}">
                <a16:creationId xmlns:a16="http://schemas.microsoft.com/office/drawing/2014/main" id="{A2AD1855-BB9D-4735-9418-77B180177535}"/>
              </a:ext>
            </a:extLst>
          </p:cNvPr>
          <p:cNvSpPr>
            <a:spLocks xmlns:a="http://schemas.openxmlformats.org/drawingml/2006/main" noGrp="1"/>
          </p:cNvSpPr>
          <p:nvPr/>
        </p:nvSpPr>
        <p:spPr>
          <a:xfrm xmlns:a="http://schemas.openxmlformats.org/drawingml/2006/main">
            <a:off x="609600" y="2362200"/>
            <a:ext cx="2381250" cy="857250"/>
          </a:xfrm>
          <a:prstGeom xmlns:a="http://schemas.openxmlformats.org/drawingml/2006/main" prst="roundRect">
            <a:avLst>
              <a:gd name="adj" fmla="val 13333"/>
            </a:avLst>
          </a:prstGeom>
          <a:solidFill xmlns:a="http://schemas.openxmlformats.org/drawingml/2006/main">
            <a:srgbClr val="FFF1E8"/>
          </a:solidFill>
          <a:ln xmlns:a="http://schemas.openxmlformats.org/drawingml/2006/main" w="14288">
            <a:solidFill>
              <a:srgbClr val="C2410C"/>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75" b="1">
                <a:solidFill>
                  <a:srgbClr val="142735"/>
                </a:solidFill>
                <a:latin typeface="Arial"/>
                <a:ea typeface="Arial"/>
                <a:cs typeface="Arial"/>
              </a:defRPr>
            </a:pPr>
            <a:r>
              <a:rPr sz="1275" b="1">
                <a:solidFill>
                  <a:srgbClr val="142735"/>
                </a:solidFill>
                <a:latin typeface="Arial"/>
                <a:ea typeface="Arial"/>
                <a:cs typeface="Arial"/>
              </a:rPr>
              <a:t>Wheel odometry</a:t>
            </a:r>
          </a:p>
          <a:p xmlns:a="http://schemas.openxmlformats.org/drawingml/2006/main">
            <a:pPr algn="ctr">
              <a:lnSpc>
                <a:spcPct val="105000"/>
              </a:lnSpc>
              <a:buNone/>
              <a:defRPr sz="1275" b="1">
                <a:solidFill>
                  <a:srgbClr val="142735"/>
                </a:solidFill>
                <a:latin typeface="Arial"/>
                <a:ea typeface="Arial"/>
                <a:cs typeface="Arial"/>
              </a:defRPr>
            </a:pPr>
            <a:r>
              <a:rPr sz="1275" b="1">
                <a:solidFill>
                  <a:srgbClr val="142735"/>
                </a:solidFill>
                <a:latin typeface="Arial"/>
                <a:ea typeface="Arial"/>
                <a:cs typeface="Arial"/>
              </a:rPr>
              <a:t>/amr/localization/wheel_odometry</a:t>
            </a:r>
          </a:p>
        </p:txBody>
      </p:sp>
      <p:sp>
        <p:nvSpPr>
          <p:cNvPr id="6" name="">
            <a:extLst xmlns:a="http://schemas.openxmlformats.org/drawingml/2006/main">
              <a:ext uri="{FF2B5EF4-FFF2-40B4-BE49-F238E27FC236}">
                <a16:creationId xmlns:a16="http://schemas.microsoft.com/office/drawing/2014/main" id="{7BF2657C-22DC-4CEB-B4AB-AC02604790C3}"/>
              </a:ext>
            </a:extLst>
          </p:cNvPr>
          <p:cNvSpPr>
            <a:spLocks xmlns:a="http://schemas.openxmlformats.org/drawingml/2006/main" noGrp="1"/>
          </p:cNvSpPr>
          <p:nvPr/>
        </p:nvSpPr>
        <p:spPr>
          <a:xfrm xmlns:a="http://schemas.openxmlformats.org/drawingml/2006/main">
            <a:off x="609600" y="3676650"/>
            <a:ext cx="2381250" cy="857250"/>
          </a:xfrm>
          <a:prstGeom xmlns:a="http://schemas.openxmlformats.org/drawingml/2006/main" prst="roundRect">
            <a:avLst>
              <a:gd name="adj" fmla="val 13333"/>
            </a:avLst>
          </a:prstGeom>
          <a:solidFill xmlns:a="http://schemas.openxmlformats.org/drawingml/2006/main">
            <a:srgbClr val="F1EAFE"/>
          </a:solidFill>
          <a:ln xmlns:a="http://schemas.openxmlformats.org/drawingml/2006/main" w="14288">
            <a:solidFill>
              <a:srgbClr val="6D28D9"/>
            </a:solidFill>
            <a:prstDash val="solid"/>
          </a:ln>
        </p:spPr>
        <p:txBody>
          <a:bodyPr xmlns:a="http://schemas.openxmlformats.org/drawingml/2006/main" lIns="114300" tIns="76200" rIns="114300" bIns="76200" anchor="ctr">
            <a:normAutofit fontScale="99632"/>
          </a:bodyPr>
          <a:lstStyle xmlns:a="http://schemas.openxmlformats.org/drawingml/2006/main"/>
          <a:p xmlns:a="http://schemas.openxmlformats.org/drawingml/2006/main">
            <a:pPr algn="ctr">
              <a:lnSpc>
                <a:spcPct val="105000"/>
              </a:lnSpc>
              <a:buNone/>
              <a:defRPr sz="1275" b="1">
                <a:solidFill>
                  <a:srgbClr val="142735"/>
                </a:solidFill>
                <a:latin typeface="Arial"/>
                <a:ea typeface="Arial"/>
                <a:cs typeface="Arial"/>
              </a:defRPr>
            </a:pPr>
            <a:r>
              <a:rPr sz="1275" b="1">
                <a:solidFill>
                  <a:srgbClr val="142735"/>
                </a:solidFill>
                <a:latin typeface="Arial"/>
                <a:ea typeface="Arial"/>
                <a:cs typeface="Arial"/>
              </a:rPr>
              <a:t>IMU</a:t>
            </a:r>
          </a:p>
          <a:p xmlns:a="http://schemas.openxmlformats.org/drawingml/2006/main">
            <a:pPr algn="ctr">
              <a:lnSpc>
                <a:spcPct val="105000"/>
              </a:lnSpc>
              <a:buNone/>
              <a:defRPr sz="1275" b="1">
                <a:solidFill>
                  <a:srgbClr val="142735"/>
                </a:solidFill>
                <a:latin typeface="Arial"/>
                <a:ea typeface="Arial"/>
                <a:cs typeface="Arial"/>
              </a:defRPr>
            </a:pPr>
            <a:r>
              <a:rPr sz="1275" b="1">
                <a:solidFill>
                  <a:srgbClr val="142735"/>
                </a:solidFill>
                <a:latin typeface="Arial"/>
                <a:ea typeface="Arial"/>
                <a:cs typeface="Arial"/>
              </a:rPr>
              <a:t>/amr/sensors/imu/data_raw</a:t>
            </a:r>
          </a:p>
          <a:p xmlns:a="http://schemas.openxmlformats.org/drawingml/2006/main">
            <a:pPr algn="ctr">
              <a:lnSpc>
                <a:spcPct val="105000"/>
              </a:lnSpc>
              <a:buNone/>
              <a:defRPr sz="1275" b="1">
                <a:solidFill>
                  <a:srgbClr val="142735"/>
                </a:solidFill>
                <a:latin typeface="Arial"/>
                <a:ea typeface="Arial"/>
                <a:cs typeface="Arial"/>
              </a:defRPr>
            </a:pPr>
            <a:r>
              <a:rPr sz="1275" b="1">
                <a:solidFill>
                  <a:srgbClr val="142735"/>
                </a:solidFill>
                <a:latin typeface="Arial"/>
                <a:ea typeface="Arial"/>
                <a:cs typeface="Arial"/>
              </a:rPr>
              <a:t>yaw + yaw rate</a:t>
            </a:r>
          </a:p>
        </p:txBody>
      </p:sp>
      <p:sp>
        <p:nvSpPr>
          <p:cNvPr id="7" name="">
            <a:extLst xmlns:a="http://schemas.openxmlformats.org/drawingml/2006/main">
              <a:ext uri="{FF2B5EF4-FFF2-40B4-BE49-F238E27FC236}">
                <a16:creationId xmlns:a16="http://schemas.microsoft.com/office/drawing/2014/main" id="{79C66E23-0EA6-497A-B633-08600DBAA30F}"/>
              </a:ext>
            </a:extLst>
          </p:cNvPr>
          <p:cNvSpPr>
            <a:spLocks xmlns:a="http://schemas.openxmlformats.org/drawingml/2006/main" noGrp="1"/>
          </p:cNvSpPr>
          <p:nvPr/>
        </p:nvSpPr>
        <p:spPr>
          <a:xfrm xmlns:a="http://schemas.openxmlformats.org/drawingml/2006/main">
            <a:off x="4019550" y="2895600"/>
            <a:ext cx="2619375" cy="1095375"/>
          </a:xfrm>
          <a:prstGeom xmlns:a="http://schemas.openxmlformats.org/drawingml/2006/main" prst="roundRect">
            <a:avLst>
              <a:gd name="adj" fmla="val 10435"/>
            </a:avLst>
          </a:prstGeom>
          <a:solidFill xmlns:a="http://schemas.openxmlformats.org/drawingml/2006/main">
            <a:srgbClr val="123B5D"/>
          </a:solidFill>
          <a:ln xmlns:a="http://schemas.openxmlformats.org/drawingml/2006/main" w="9525">
            <a:solidFill>
              <a:srgbClr val="123B5D"/>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robot_localization</a:t>
            </a:r>
          </a:p>
          <a:p xmlns:a="http://schemas.openxmlformats.org/drawingml/2006/main">
            <a:pPr algn="ctr">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ekf_filter_node</a:t>
            </a:r>
          </a:p>
        </p:txBody>
      </p:sp>
      <p:sp>
        <p:nvSpPr>
          <p:cNvPr id="8" name="">
            <a:extLst xmlns:a="http://schemas.openxmlformats.org/drawingml/2006/main">
              <a:ext uri="{FF2B5EF4-FFF2-40B4-BE49-F238E27FC236}">
                <a16:creationId xmlns:a16="http://schemas.microsoft.com/office/drawing/2014/main" id="{B1E0F8E3-FBEC-4AAF-8C76-5BD328B75D66}"/>
              </a:ext>
            </a:extLst>
          </p:cNvPr>
          <p:cNvSpPr>
            <a:spLocks xmlns:a="http://schemas.openxmlformats.org/drawingml/2006/main" noGrp="1"/>
          </p:cNvSpPr>
          <p:nvPr/>
        </p:nvSpPr>
        <p:spPr>
          <a:xfrm xmlns:a="http://schemas.openxmlformats.org/drawingml/2006/main">
            <a:off x="7667625" y="2895600"/>
            <a:ext cx="3048000" cy="1095375"/>
          </a:xfrm>
          <a:prstGeom xmlns:a="http://schemas.openxmlformats.org/drawingml/2006/main" prst="roundRect">
            <a:avLst>
              <a:gd name="adj" fmla="val 10435"/>
            </a:avLst>
          </a:prstGeom>
          <a:solidFill xmlns:a="http://schemas.openxmlformats.org/drawingml/2006/main">
            <a:srgbClr val="E6FFFA"/>
          </a:solidFill>
          <a:ln xmlns:a="http://schemas.openxmlformats.org/drawingml/2006/main" w="14288">
            <a:solidFill>
              <a:srgbClr val="0F766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350" b="1">
                <a:solidFill>
                  <a:srgbClr val="0F766E"/>
                </a:solidFill>
                <a:latin typeface="Arial"/>
                <a:ea typeface="Arial"/>
                <a:cs typeface="Arial"/>
              </a:defRPr>
            </a:pPr>
            <a:r>
              <a:rPr sz="1350" b="1">
                <a:solidFill>
                  <a:srgbClr val="0F766E"/>
                </a:solidFill>
                <a:latin typeface="Arial"/>
                <a:ea typeface="Arial"/>
                <a:cs typeface="Arial"/>
              </a:rPr>
              <a:t>Fused odometry</a:t>
            </a:r>
          </a:p>
          <a:p xmlns:a="http://schemas.openxmlformats.org/drawingml/2006/main">
            <a:pPr algn="ctr">
              <a:lnSpc>
                <a:spcPct val="105000"/>
              </a:lnSpc>
              <a:buNone/>
              <a:defRPr sz="1350" b="1">
                <a:solidFill>
                  <a:srgbClr val="0F766E"/>
                </a:solidFill>
                <a:latin typeface="Arial"/>
                <a:ea typeface="Arial"/>
                <a:cs typeface="Arial"/>
              </a:defRPr>
            </a:pPr>
            <a:r>
              <a:rPr sz="1350" b="1">
                <a:solidFill>
                  <a:srgbClr val="0F766E"/>
                </a:solidFill>
                <a:latin typeface="Arial"/>
                <a:ea typeface="Arial"/>
                <a:cs typeface="Arial"/>
              </a:rPr>
              <a:t>/amr/localization/odometry</a:t>
            </a:r>
          </a:p>
          <a:p xmlns:a="http://schemas.openxmlformats.org/drawingml/2006/main">
            <a:pPr algn="ctr">
              <a:lnSpc>
                <a:spcPct val="105000"/>
              </a:lnSpc>
              <a:buNone/>
              <a:defRPr sz="1350" b="1">
                <a:solidFill>
                  <a:srgbClr val="0F766E"/>
                </a:solidFill>
                <a:latin typeface="Arial"/>
                <a:ea typeface="Arial"/>
                <a:cs typeface="Arial"/>
              </a:defRPr>
            </a:pPr>
            <a:r>
              <a:rPr sz="1350" b="1">
                <a:solidFill>
                  <a:srgbClr val="0F766E"/>
                </a:solidFill>
                <a:latin typeface="Arial"/>
                <a:ea typeface="Arial"/>
                <a:cs typeface="Arial"/>
              </a:rPr>
              <a:t>TF: odom → base_footprint</a:t>
            </a:r>
          </a:p>
        </p:txBody>
      </p:sp>
      <p:cxnSp>
        <p:nvCxnSpPr>
          <p:cNvPr id="35" name=""/>
          <p:cNvCxnSpPr>
            <a:stCxn xmlns:a="http://schemas.openxmlformats.org/drawingml/2006/main" id="5" idx="3"/>
            <a:endCxn xmlns:a="http://schemas.openxmlformats.org/drawingml/2006/main" id="7" idx="1"/>
          </p:cNvCxnSpPr>
          <p:nvPr/>
        </p:nvCxnSpPr>
        <p:spPr>
          <a:xfrm xmlns:a="http://schemas.openxmlformats.org/drawingml/2006/main">
            <a:off x="2990850" y="2790825"/>
            <a:ext cx="1028700" cy="652463"/>
          </a:xfrm>
          <a:prstGeom xmlns:a="http://schemas.openxmlformats.org/drawingml/2006/main" prst="straightConnector1">
            <a:avLst/>
          </a:prstGeom>
          <a:ln xmlns:a="http://schemas.openxmlformats.org/drawingml/2006/main" w="19050">
            <a:solidFill>
              <a:srgbClr val="C2410C"/>
            </a:solidFill>
            <a:prstDash val="solid"/>
            <a:headEnd type="none" w="med" len="med"/>
            <a:tailEnd type="arrow" w="sm" len="sm"/>
          </a:ln>
        </p:spPr>
      </p:cxnSp>
      <p:cxnSp>
        <p:nvCxnSpPr>
          <p:cNvPr id="36" name=""/>
          <p:cNvCxnSpPr>
            <a:stCxn xmlns:a="http://schemas.openxmlformats.org/drawingml/2006/main" id="6" idx="3"/>
            <a:endCxn xmlns:a="http://schemas.openxmlformats.org/drawingml/2006/main" id="7" idx="1"/>
          </p:cNvCxnSpPr>
          <p:nvPr/>
        </p:nvCxnSpPr>
        <p:spPr>
          <a:xfrm xmlns:a="http://schemas.openxmlformats.org/drawingml/2006/main" flipV="1">
            <a:off x="2990850" y="3443288"/>
            <a:ext cx="1028700" cy="661988"/>
          </a:xfrm>
          <a:prstGeom xmlns:a="http://schemas.openxmlformats.org/drawingml/2006/main" prst="straightConnector1">
            <a:avLst/>
          </a:prstGeom>
          <a:ln xmlns:a="http://schemas.openxmlformats.org/drawingml/2006/main" w="19050">
            <a:solidFill>
              <a:srgbClr val="6D28D9"/>
            </a:solidFill>
            <a:prstDash val="solid"/>
            <a:headEnd type="none" w="med" len="med"/>
            <a:tailEnd type="arrow" w="sm" len="sm"/>
          </a:ln>
        </p:spPr>
      </p:cxnSp>
      <p:cxnSp>
        <p:nvCxnSpPr>
          <p:cNvPr id="37" name=""/>
          <p:cNvCxnSpPr>
            <a:stCxn xmlns:a="http://schemas.openxmlformats.org/drawingml/2006/main" id="7" idx="3"/>
            <a:endCxn xmlns:a="http://schemas.openxmlformats.org/drawingml/2006/main" id="8" idx="1"/>
          </p:cNvCxnSpPr>
          <p:nvPr/>
        </p:nvCxnSpPr>
        <p:spPr>
          <a:xfrm xmlns:a="http://schemas.openxmlformats.org/drawingml/2006/main">
            <a:off x="6638925" y="3443288"/>
            <a:ext cx="1028700" cy="0"/>
          </a:xfrm>
          <a:prstGeom xmlns:a="http://schemas.openxmlformats.org/drawingml/2006/main" prst="straightConnector1">
            <a:avLst/>
          </a:prstGeom>
          <a:ln xmlns:a="http://schemas.openxmlformats.org/drawingml/2006/main" w="19050">
            <a:solidFill>
              <a:srgbClr val="0F766E"/>
            </a:solidFill>
            <a:prstDash val="solid"/>
            <a:headEnd type="none" w="med" len="med"/>
            <a:tailEnd type="arrow" w="sm" len="sm"/>
          </a:ln>
        </p:spPr>
      </p:cxnSp>
      <p:sp>
        <p:nvSpPr>
          <p:cNvPr id="12" name="">
            <a:extLst xmlns:a="http://schemas.openxmlformats.org/drawingml/2006/main">
              <a:ext uri="{FF2B5EF4-FFF2-40B4-BE49-F238E27FC236}">
                <a16:creationId xmlns:a16="http://schemas.microsoft.com/office/drawing/2014/main" id="{678CB8F6-4DC1-46E5-824A-48C2F0639E09}"/>
              </a:ext>
            </a:extLst>
          </p:cNvPr>
          <p:cNvSpPr>
            <a:spLocks xmlns:a="http://schemas.openxmlformats.org/drawingml/2006/main" noGrp="1"/>
          </p:cNvSpPr>
          <p:nvPr/>
        </p:nvSpPr>
        <p:spPr>
          <a:xfrm xmlns:a="http://schemas.openxmlformats.org/drawingml/2006/main">
            <a:off x="609600" y="5105400"/>
            <a:ext cx="2571750" cy="304800"/>
          </a:xfrm>
          <a:prstGeom xmlns:a="http://schemas.openxmlformats.org/drawingml/2006/main" prst="roundRect">
            <a:avLst>
              <a:gd name="adj" fmla="val 37500"/>
            </a:avLst>
          </a:prstGeom>
          <a:solidFill xmlns:a="http://schemas.openxmlformats.org/drawingml/2006/main">
            <a:srgbClr val="EAF2FF"/>
          </a:solidFill>
          <a:ln xmlns:a="http://schemas.openxmlformats.org/drawingml/2006/main" w="9525">
            <a:solidFill>
              <a:srgbClr val="1D4ED8"/>
            </a:solidFill>
            <a:prstDash val="solid"/>
          </a:ln>
        </p:spPr>
        <p:txBody>
          <a:bodyPr xmlns:a="http://schemas.openxmlformats.org/drawingml/2006/main" lIns="76200" tIns="38100" rIns="76200" bIns="38100" anchor="ctr">
            <a:normAutofit fontScale="96205"/>
          </a:bodyPr>
          <a:lstStyle xmlns:a="http://schemas.openxmlformats.org/drawingml/2006/main"/>
          <a:p xmlns:a="http://schemas.openxmlformats.org/drawingml/2006/main">
            <a:pPr algn="ctr">
              <a:lnSpc>
                <a:spcPct val="105000"/>
              </a:lnSpc>
              <a:buNone/>
              <a:defRPr sz="1050" b="1">
                <a:solidFill>
                  <a:srgbClr val="1D4ED8"/>
                </a:solidFill>
                <a:latin typeface="Arial"/>
                <a:ea typeface="Arial"/>
                <a:cs typeface="Arial"/>
              </a:defRPr>
            </a:pPr>
            <a:r>
              <a:rPr sz="1050" b="1">
                <a:solidFill>
                  <a:srgbClr val="1D4ED8"/>
                </a:solidFill>
                <a:latin typeface="Arial"/>
                <a:ea typeface="Arial"/>
                <a:cs typeface="Arial"/>
              </a:rPr>
              <a:t>CURRENT EKF CONTRACT</a:t>
            </a:r>
          </a:p>
        </p:txBody>
      </p:sp>
      <p:sp>
        <p:nvSpPr>
          <p:cNvPr id="13" name="">
            <a:extLst xmlns:a="http://schemas.openxmlformats.org/drawingml/2006/main">
              <a:ext uri="{FF2B5EF4-FFF2-40B4-BE49-F238E27FC236}">
                <a16:creationId xmlns:a16="http://schemas.microsoft.com/office/drawing/2014/main" id="{0E50ED19-9F0D-4706-A221-2D7F2315BFCA}"/>
              </a:ext>
            </a:extLst>
          </p:cNvPr>
          <p:cNvSpPr>
            <a:spLocks xmlns:a="http://schemas.openxmlformats.org/drawingml/2006/main" noGrp="1"/>
          </p:cNvSpPr>
          <p:nvPr/>
        </p:nvSpPr>
        <p:spPr>
          <a:xfrm xmlns:a="http://schemas.openxmlformats.org/drawingml/2006/main">
            <a:off x="685800" y="5448300"/>
            <a:ext cx="10287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marL="228600" indent="-114300" algn="l">
              <a:lnSpc>
                <a:spcPct val="100000"/>
              </a:lnSpc>
              <a:spcAft>
                <a:spcPts val="400"/>
              </a:spcAft>
              <a:buNone/>
              <a:defRPr sz="1125" b="0">
                <a:solidFill>
                  <a:srgbClr val="142735"/>
                </a:solidFill>
                <a:latin typeface="Arial"/>
                <a:ea typeface="Arial"/>
                <a:cs typeface="Arial"/>
              </a:defRPr>
            </a:pPr>
            <a:r>
              <a:rPr sz="1125" b="0">
                <a:solidFill>
                  <a:srgbClr val="142735"/>
                </a:solidFill>
                <a:latin typeface="Arial"/>
                <a:ea typeface="Arial"/>
                <a:cs typeface="Arial"/>
              </a:rPr>
              <a:t>2D filter, world_frame: odom</a:t>
            </a:r>
          </a:p>
          <a:p xmlns:a="http://schemas.openxmlformats.org/drawingml/2006/main">
            <a:pPr marL="228600" indent="-114300" algn="l">
              <a:lnSpc>
                <a:spcPct val="100000"/>
              </a:lnSpc>
              <a:spcAft>
                <a:spcPts val="400"/>
              </a:spcAft>
              <a:buNone/>
              <a:defRPr sz="1125" b="0">
                <a:solidFill>
                  <a:srgbClr val="142735"/>
                </a:solidFill>
                <a:latin typeface="Arial"/>
                <a:ea typeface="Arial"/>
                <a:cs typeface="Arial"/>
              </a:defRPr>
            </a:pPr>
            <a:r>
              <a:rPr sz="1125" b="0">
                <a:solidFill>
                  <a:srgbClr val="142735"/>
                </a:solidFill>
                <a:latin typeface="Arial"/>
                <a:ea typeface="Arial"/>
                <a:cs typeface="Arial"/>
              </a:rPr>
              <a:t>30 Hz, 0.2 s sensor timeout</a:t>
            </a:r>
          </a:p>
          <a:p xmlns:a="http://schemas.openxmlformats.org/drawingml/2006/main">
            <a:pPr marL="228600" indent="-114300" algn="l">
              <a:lnSpc>
                <a:spcPct val="100000"/>
              </a:lnSpc>
              <a:spcAft>
                <a:spcPts val="400"/>
              </a:spcAft>
              <a:buNone/>
              <a:defRPr sz="1125" b="0">
                <a:solidFill>
                  <a:srgbClr val="142735"/>
                </a:solidFill>
                <a:latin typeface="Arial"/>
                <a:ea typeface="Arial"/>
                <a:cs typeface="Arial"/>
              </a:defRPr>
            </a:pPr>
            <a:r>
              <a:rPr sz="1125" b="0">
                <a:solidFill>
                  <a:srgbClr val="142735"/>
                </a:solidFill>
                <a:latin typeface="Arial"/>
                <a:ea typeface="Arial"/>
                <a:cs typeface="Arial"/>
              </a:rPr>
              <a:t>Wheel velocity plus IMU yaw / yaw rate</a:t>
            </a:r>
          </a:p>
          <a:p xmlns:a="http://schemas.openxmlformats.org/drawingml/2006/main">
            <a:pPr marL="228600" indent="-114300" algn="l">
              <a:lnSpc>
                <a:spcPct val="100000"/>
              </a:lnSpc>
              <a:spcAft>
                <a:spcPts val="400"/>
              </a:spcAft>
              <a:buNone/>
              <a:defRPr sz="1125" b="0">
                <a:solidFill>
                  <a:srgbClr val="142735"/>
                </a:solidFill>
                <a:latin typeface="Arial"/>
                <a:ea typeface="Arial"/>
                <a:cs typeface="Arial"/>
              </a:defRPr>
            </a:pPr>
            <a:r>
              <a:rPr sz="1125" b="0">
                <a:solidFill>
                  <a:srgbClr val="142735"/>
                </a:solidFill>
                <a:latin typeface="Arial"/>
                <a:ea typeface="Arial"/>
                <a:cs typeface="Arial"/>
              </a:rPr>
              <a:t>Reset on time jump</a:t>
            </a:r>
          </a:p>
        </p:txBody>
      </p:sp>
      <p:sp>
        <p:nvSpPr>
          <p:cNvPr id="14" name="">
            <a:extLst xmlns:a="http://schemas.openxmlformats.org/drawingml/2006/main">
              <a:ext uri="{FF2B5EF4-FFF2-40B4-BE49-F238E27FC236}">
                <a16:creationId xmlns:a16="http://schemas.microsoft.com/office/drawing/2014/main" id="{07F8CB3C-DBE6-44CC-B108-1F565BD7D0D0}"/>
              </a:ext>
            </a:extLst>
          </p:cNvPr>
          <p:cNvSpPr>
            <a:spLocks xmlns:a="http://schemas.openxmlformats.org/drawingml/2006/main" noGrp="1"/>
          </p:cNvSpPr>
          <p:nvPr/>
        </p:nvSpPr>
        <p:spPr>
          <a:xfrm xmlns:a="http://schemas.openxmlformats.org/drawingml/2006/main">
            <a:off x="533400" y="6543675"/>
            <a:ext cx="1009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94A3B8"/>
                </a:solidFill>
                <a:latin typeface="Arial"/>
                <a:ea typeface="Arial"/>
                <a:cs typeface="Arial"/>
              </a:defRPr>
            </a:pPr>
            <a:r>
              <a:rPr sz="750" b="0">
                <a:solidFill>
                  <a:srgbClr val="94A3B8"/>
                </a:solidFill>
                <a:latin typeface="Arial"/>
                <a:ea typeface="Arial"/>
                <a:cs typeface="Arial"/>
              </a:rPr>
              <a:t>Source: src/amr_localization/config/ekf.yaml; src/amr_localization/test/test_localization_contract.py</a:t>
            </a:r>
          </a:p>
        </p:txBody>
      </p:sp>
      <p:sp>
        <p:nvSpPr>
          <p:cNvPr id="15" name="">
            <a:extLst xmlns:a="http://schemas.openxmlformats.org/drawingml/2006/main">
              <a:ext uri="{FF2B5EF4-FFF2-40B4-BE49-F238E27FC236}">
                <a16:creationId xmlns:a16="http://schemas.microsoft.com/office/drawing/2014/main" id="{3405637B-847E-447A-AA98-18BD6E4CFC57}"/>
              </a:ext>
            </a:extLst>
          </p:cNvPr>
          <p:cNvSpPr>
            <a:spLocks xmlns:a="http://schemas.openxmlformats.org/drawingml/2006/main" noGrp="1"/>
          </p:cNvSpPr>
          <p:nvPr/>
        </p:nvSpPr>
        <p:spPr>
          <a:xfrm xmlns:a="http://schemas.openxmlformats.org/drawingml/2006/main">
            <a:off x="11191875" y="65151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07</a:t>
            </a:r>
          </a:p>
        </p:txBody>
      </p:sp>
    </p:spTree>
    <p:extLst>
      <p:ext uri="{BB962C8B-B14F-4D97-AF65-F5344CB8AC3E}">
        <p14:creationId xmlns:p14="http://schemas.microsoft.com/office/powerpoint/2010/main" val="261424148"/>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C192D7C-4719-46A5-A0B4-1701F5E9C2B3}"/>
              </a:ext>
            </a:extLst>
          </p:cNvPr>
          <p:cNvSpPr>
            <a:spLocks xmlns:a="http://schemas.openxmlformats.org/drawingml/2006/main" noGrp="1"/>
          </p:cNvSpPr>
          <p:nvPr/>
        </p:nvSpPr>
        <p:spPr>
          <a:xfrm xmlns:a="http://schemas.openxmlformats.org/drawingml/2006/main">
            <a:off x="552450" y="2286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AMR ROS 2 SOFTWARE ARCHITECTURE</a:t>
            </a:r>
          </a:p>
        </p:txBody>
      </p:sp>
      <p:sp>
        <p:nvSpPr>
          <p:cNvPr id="2" name="">
            <a:extLst xmlns:a="http://schemas.openxmlformats.org/drawingml/2006/main">
              <a:ext uri="{FF2B5EF4-FFF2-40B4-BE49-F238E27FC236}">
                <a16:creationId xmlns:a16="http://schemas.microsoft.com/office/drawing/2014/main" id="{8E1B10CF-A84C-4EB8-B02A-02664EDC8F24}"/>
              </a:ext>
            </a:extLst>
          </p:cNvPr>
          <p:cNvSpPr>
            <a:spLocks xmlns:a="http://schemas.openxmlformats.org/drawingml/2006/main" noGrp="1"/>
          </p:cNvSpPr>
          <p:nvPr/>
        </p:nvSpPr>
        <p:spPr>
          <a:xfrm xmlns:a="http://schemas.openxmlformats.org/drawingml/2006/main">
            <a:off x="533400" y="4095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325" b="1">
                <a:solidFill>
                  <a:srgbClr val="142735"/>
                </a:solidFill>
                <a:latin typeface="Arial"/>
                <a:ea typeface="Arial"/>
                <a:cs typeface="Arial"/>
              </a:defRPr>
            </a:pPr>
            <a:r>
              <a:rPr sz="2325" b="1">
                <a:solidFill>
                  <a:srgbClr val="142735"/>
                </a:solidFill>
                <a:latin typeface="Arial"/>
                <a:ea typeface="Arial"/>
                <a:cs typeface="Arial"/>
              </a:rPr>
              <a:t>Localization and TF ownership</a:t>
            </a:r>
          </a:p>
        </p:txBody>
      </p:sp>
      <p:sp>
        <p:nvSpPr>
          <p:cNvPr id="3" name="">
            <a:extLst xmlns:a="http://schemas.openxmlformats.org/drawingml/2006/main">
              <a:ext uri="{FF2B5EF4-FFF2-40B4-BE49-F238E27FC236}">
                <a16:creationId xmlns:a16="http://schemas.microsoft.com/office/drawing/2014/main" id="{CA335C8E-04BE-47DB-8ED4-DC2F2DA7D689}"/>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EE6DA701-54FD-48F5-B7AB-413C37C23BB9}"/>
              </a:ext>
            </a:extLst>
          </p:cNvPr>
          <p:cNvSpPr>
            <a:spLocks xmlns:a="http://schemas.openxmlformats.org/drawingml/2006/main" noGrp="1"/>
          </p:cNvSpPr>
          <p:nvPr/>
        </p:nvSpPr>
        <p:spPr>
          <a:xfrm xmlns:a="http://schemas.openxmlformats.org/drawingml/2006/main">
            <a:off x="609600" y="11620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14300" tIns="76200" rIns="114300" bIns="76200" anchor="t">
            <a:normAutofit fontScale="79365"/>
          </a:bodyPr>
          <a:lstStyle xmlns:a="http://schemas.openxmlformats.org/drawingml/2006/main"/>
          <a:p xmlns:a="http://schemas.openxmlformats.org/drawingml/2006/main">
            <a:pPr algn="l">
              <a:lnSpc>
                <a:spcPct val="105000"/>
              </a:lnSpc>
              <a:buNone/>
              <a:defRPr sz="1350" b="0">
                <a:solidFill>
                  <a:srgbClr val="52606D"/>
                </a:solidFill>
                <a:latin typeface="Arial"/>
                <a:ea typeface="Arial"/>
                <a:cs typeface="Arial"/>
              </a:defRPr>
            </a:pPr>
            <a:r>
              <a:rPr sz="1350" b="0">
                <a:solidFill>
                  <a:srgbClr val="52606D"/>
                </a:solidFill>
                <a:latin typeface="Arial"/>
                <a:ea typeface="Arial"/>
                <a:cs typeface="Arial"/>
              </a:rPr>
              <a:t>Both localization modes share the same local odometry TF. They differ in who owns map → odom</a:t>
            </a:r>
          </a:p>
        </p:txBody>
      </p:sp>
      <p:sp>
        <p:nvSpPr>
          <p:cNvPr id="5" name="">
            <a:extLst xmlns:a="http://schemas.openxmlformats.org/drawingml/2006/main">
              <a:ext uri="{FF2B5EF4-FFF2-40B4-BE49-F238E27FC236}">
                <a16:creationId xmlns:a16="http://schemas.microsoft.com/office/drawing/2014/main" id="{238C6936-3FB6-4F87-AD82-CCA5E32C04FC}"/>
              </a:ext>
            </a:extLst>
          </p:cNvPr>
          <p:cNvSpPr>
            <a:spLocks xmlns:a="http://schemas.openxmlformats.org/drawingml/2006/main" noGrp="1"/>
          </p:cNvSpPr>
          <p:nvPr/>
        </p:nvSpPr>
        <p:spPr>
          <a:xfrm xmlns:a="http://schemas.openxmlformats.org/drawingml/2006/main">
            <a:off x="5219700" y="1828800"/>
            <a:ext cx="1428750" cy="428625"/>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9525">
            <a:solidFill>
              <a:srgbClr val="1D4ED8"/>
            </a:solidFill>
            <a:prstDash val="solid"/>
          </a:ln>
        </p:spPr>
        <p:txBody>
          <a:bodyPr xmlns:a="http://schemas.openxmlformats.org/drawingml/2006/main" lIns="114300" tIns="76200" rIns="114300" bIns="76200" anchor="ctr">
            <a:normAutofit fontScale="96872"/>
          </a:bodyPr>
          <a:lstStyle xmlns:a="http://schemas.openxmlformats.org/drawingml/2006/main"/>
          <a:p xmlns:a="http://schemas.openxmlformats.org/drawingml/2006/main">
            <a:pPr algn="ctr">
              <a:lnSpc>
                <a:spcPct val="105000"/>
              </a:lnSpc>
              <a:buNone/>
              <a:defRPr sz="1350" b="1">
                <a:solidFill>
                  <a:srgbClr val="1D4ED8"/>
                </a:solidFill>
                <a:latin typeface="Arial"/>
                <a:ea typeface="Arial"/>
                <a:cs typeface="Arial"/>
              </a:defRPr>
            </a:pPr>
            <a:r>
              <a:rPr sz="1350" b="1">
                <a:solidFill>
                  <a:srgbClr val="1D4ED8"/>
                </a:solidFill>
                <a:latin typeface="Arial"/>
                <a:ea typeface="Arial"/>
                <a:cs typeface="Arial"/>
              </a:rPr>
              <a:t>map</a:t>
            </a:r>
          </a:p>
        </p:txBody>
      </p:sp>
      <p:sp>
        <p:nvSpPr>
          <p:cNvPr id="6" name="">
            <a:extLst xmlns:a="http://schemas.openxmlformats.org/drawingml/2006/main">
              <a:ext uri="{FF2B5EF4-FFF2-40B4-BE49-F238E27FC236}">
                <a16:creationId xmlns:a16="http://schemas.microsoft.com/office/drawing/2014/main" id="{7054CC95-B602-41CE-A29E-B785A6E9E0CC}"/>
              </a:ext>
            </a:extLst>
          </p:cNvPr>
          <p:cNvSpPr>
            <a:spLocks xmlns:a="http://schemas.openxmlformats.org/drawingml/2006/main" noGrp="1"/>
          </p:cNvSpPr>
          <p:nvPr/>
        </p:nvSpPr>
        <p:spPr>
          <a:xfrm xmlns:a="http://schemas.openxmlformats.org/drawingml/2006/main">
            <a:off x="5219700" y="2781300"/>
            <a:ext cx="1428750" cy="428625"/>
          </a:xfrm>
          <a:prstGeom xmlns:a="http://schemas.openxmlformats.org/drawingml/2006/main" prst="roundRect">
            <a:avLst>
              <a:gd name="adj" fmla="val 26667"/>
            </a:avLst>
          </a:prstGeom>
          <a:solidFill xmlns:a="http://schemas.openxmlformats.org/drawingml/2006/main">
            <a:srgbClr val="F1EAFE"/>
          </a:solidFill>
          <a:ln xmlns:a="http://schemas.openxmlformats.org/drawingml/2006/main" w="9525">
            <a:solidFill>
              <a:srgbClr val="6D28D9"/>
            </a:solidFill>
            <a:prstDash val="solid"/>
          </a:ln>
        </p:spPr>
        <p:txBody>
          <a:bodyPr xmlns:a="http://schemas.openxmlformats.org/drawingml/2006/main" lIns="114300" tIns="76200" rIns="114300" bIns="76200" anchor="ctr">
            <a:normAutofit fontScale="96872"/>
          </a:bodyPr>
          <a:lstStyle xmlns:a="http://schemas.openxmlformats.org/drawingml/2006/main"/>
          <a:p xmlns:a="http://schemas.openxmlformats.org/drawingml/2006/main">
            <a:pPr algn="ctr">
              <a:lnSpc>
                <a:spcPct val="105000"/>
              </a:lnSpc>
              <a:buNone/>
              <a:defRPr sz="1350" b="1">
                <a:solidFill>
                  <a:srgbClr val="6D28D9"/>
                </a:solidFill>
                <a:latin typeface="Arial"/>
                <a:ea typeface="Arial"/>
                <a:cs typeface="Arial"/>
              </a:defRPr>
            </a:pPr>
            <a:r>
              <a:rPr sz="1350" b="1">
                <a:solidFill>
                  <a:srgbClr val="6D28D9"/>
                </a:solidFill>
                <a:latin typeface="Arial"/>
                <a:ea typeface="Arial"/>
                <a:cs typeface="Arial"/>
              </a:rPr>
              <a:t>odom</a:t>
            </a:r>
          </a:p>
        </p:txBody>
      </p:sp>
      <p:sp>
        <p:nvSpPr>
          <p:cNvPr id="7" name="">
            <a:extLst xmlns:a="http://schemas.openxmlformats.org/drawingml/2006/main">
              <a:ext uri="{FF2B5EF4-FFF2-40B4-BE49-F238E27FC236}">
                <a16:creationId xmlns:a16="http://schemas.microsoft.com/office/drawing/2014/main" id="{C6EA8BA8-29CD-4067-8A60-0AE9D998A377}"/>
              </a:ext>
            </a:extLst>
          </p:cNvPr>
          <p:cNvSpPr>
            <a:spLocks xmlns:a="http://schemas.openxmlformats.org/drawingml/2006/main" noGrp="1"/>
          </p:cNvSpPr>
          <p:nvPr/>
        </p:nvSpPr>
        <p:spPr>
          <a:xfrm xmlns:a="http://schemas.openxmlformats.org/drawingml/2006/main">
            <a:off x="4953000" y="3733800"/>
            <a:ext cx="1952625" cy="428625"/>
          </a:xfrm>
          <a:prstGeom xmlns:a="http://schemas.openxmlformats.org/drawingml/2006/main" prst="roundRect">
            <a:avLst>
              <a:gd name="adj" fmla="val 26667"/>
            </a:avLst>
          </a:prstGeom>
          <a:solidFill xmlns:a="http://schemas.openxmlformats.org/drawingml/2006/main">
            <a:srgbClr val="E6FFFA"/>
          </a:solidFill>
          <a:ln xmlns:a="http://schemas.openxmlformats.org/drawingml/2006/main" w="9525">
            <a:solidFill>
              <a:srgbClr val="0F766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75" b="1">
                <a:solidFill>
                  <a:srgbClr val="0F766E"/>
                </a:solidFill>
                <a:latin typeface="Arial"/>
                <a:ea typeface="Arial"/>
                <a:cs typeface="Arial"/>
              </a:defRPr>
            </a:pPr>
            <a:r>
              <a:rPr sz="1275" b="1">
                <a:solidFill>
                  <a:srgbClr val="0F766E"/>
                </a:solidFill>
                <a:latin typeface="Arial"/>
                <a:ea typeface="Arial"/>
                <a:cs typeface="Arial"/>
              </a:rPr>
              <a:t>base_footprint</a:t>
            </a:r>
          </a:p>
        </p:txBody>
      </p:sp>
      <p:cxnSp>
        <p:nvCxnSpPr>
          <p:cNvPr id="37" name=""/>
          <p:cNvCxnSpPr>
            <a:stCxn xmlns:a="http://schemas.openxmlformats.org/drawingml/2006/main" id="5" idx="2"/>
            <a:endCxn xmlns:a="http://schemas.openxmlformats.org/drawingml/2006/main" id="6" idx="0"/>
          </p:cNvCxnSpPr>
          <p:nvPr/>
        </p:nvCxnSpPr>
        <p:spPr>
          <a:xfrm xmlns:a="http://schemas.openxmlformats.org/drawingml/2006/main">
            <a:off x="5934075" y="2257425"/>
            <a:ext cx="0" cy="523875"/>
          </a:xfrm>
          <a:prstGeom xmlns:a="http://schemas.openxmlformats.org/drawingml/2006/main" prst="straightConnector1">
            <a:avLst/>
          </a:prstGeom>
          <a:ln xmlns:a="http://schemas.openxmlformats.org/drawingml/2006/main" w="19050">
            <a:solidFill>
              <a:srgbClr val="1D4ED8"/>
            </a:solidFill>
            <a:prstDash val="solid"/>
            <a:headEnd type="none" w="med" len="med"/>
            <a:tailEnd type="arrow" w="sm" len="sm"/>
          </a:ln>
        </p:spPr>
      </p:cxnSp>
      <p:cxnSp>
        <p:nvCxnSpPr>
          <p:cNvPr id="38" name=""/>
          <p:cNvCxnSpPr>
            <a:stCxn xmlns:a="http://schemas.openxmlformats.org/drawingml/2006/main" id="6" idx="2"/>
            <a:endCxn xmlns:a="http://schemas.openxmlformats.org/drawingml/2006/main" id="7" idx="0"/>
          </p:cNvCxnSpPr>
          <p:nvPr/>
        </p:nvCxnSpPr>
        <p:spPr>
          <a:xfrm xmlns:a="http://schemas.openxmlformats.org/drawingml/2006/main" flipH="1">
            <a:off x="5929313" y="3209925"/>
            <a:ext cx="4763" cy="523875"/>
          </a:xfrm>
          <a:prstGeom xmlns:a="http://schemas.openxmlformats.org/drawingml/2006/main" prst="straightConnector1">
            <a:avLst/>
          </a:prstGeom>
          <a:ln xmlns:a="http://schemas.openxmlformats.org/drawingml/2006/main" w="19050">
            <a:solidFill>
              <a:srgbClr val="6D28D9"/>
            </a:solidFill>
            <a:prstDash val="solid"/>
            <a:headEnd type="none" w="med" len="med"/>
            <a:tailEnd type="arrow" w="sm" len="sm"/>
          </a:ln>
        </p:spPr>
      </p:cxnSp>
      <p:sp>
        <p:nvSpPr>
          <p:cNvPr id="10" name="">
            <a:extLst xmlns:a="http://schemas.openxmlformats.org/drawingml/2006/main">
              <a:ext uri="{FF2B5EF4-FFF2-40B4-BE49-F238E27FC236}">
                <a16:creationId xmlns:a16="http://schemas.microsoft.com/office/drawing/2014/main" id="{CBEC2CE3-1314-4D18-AB3E-149E2A607A85}"/>
              </a:ext>
            </a:extLst>
          </p:cNvPr>
          <p:cNvSpPr>
            <a:spLocks xmlns:a="http://schemas.openxmlformats.org/drawingml/2006/main" noGrp="1"/>
          </p:cNvSpPr>
          <p:nvPr/>
        </p:nvSpPr>
        <p:spPr>
          <a:xfrm xmlns:a="http://schemas.openxmlformats.org/drawingml/2006/main">
            <a:off x="666750" y="2238375"/>
            <a:ext cx="3333750" cy="1381125"/>
          </a:xfrm>
          <a:prstGeom xmlns:a="http://schemas.openxmlformats.org/drawingml/2006/main" prst="roundRect">
            <a:avLst>
              <a:gd name="adj" fmla="val 8276"/>
            </a:avLst>
          </a:prstGeom>
          <a:solidFill xmlns:a="http://schemas.openxmlformats.org/drawingml/2006/main">
            <a:srgbClr val="EAF2FF"/>
          </a:solidFill>
          <a:ln xmlns:a="http://schemas.openxmlformats.org/drawingml/2006/main" w="14288">
            <a:solidFill>
              <a:srgbClr val="1D4ED8"/>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MAPPING / EXPLORATION</a:t>
            </a:r>
          </a:p>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SLAM Toolbox owns map → odom</a:t>
            </a:r>
          </a:p>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Front LaserScan + odometry</a:t>
            </a:r>
          </a:p>
        </p:txBody>
      </p:sp>
      <p:sp>
        <p:nvSpPr>
          <p:cNvPr id="11" name="">
            <a:extLst xmlns:a="http://schemas.openxmlformats.org/drawingml/2006/main">
              <a:ext uri="{FF2B5EF4-FFF2-40B4-BE49-F238E27FC236}">
                <a16:creationId xmlns:a16="http://schemas.microsoft.com/office/drawing/2014/main" id="{BA0C07B8-B0FC-4500-ACC7-D390B1D87741}"/>
              </a:ext>
            </a:extLst>
          </p:cNvPr>
          <p:cNvSpPr>
            <a:spLocks xmlns:a="http://schemas.openxmlformats.org/drawingml/2006/main" noGrp="1"/>
          </p:cNvSpPr>
          <p:nvPr/>
        </p:nvSpPr>
        <p:spPr>
          <a:xfrm xmlns:a="http://schemas.openxmlformats.org/drawingml/2006/main">
            <a:off x="8191500" y="2238375"/>
            <a:ext cx="3333750" cy="1381125"/>
          </a:xfrm>
          <a:prstGeom xmlns:a="http://schemas.openxmlformats.org/drawingml/2006/main" prst="roundRect">
            <a:avLst>
              <a:gd name="adj" fmla="val 8276"/>
            </a:avLst>
          </a:prstGeom>
          <a:solidFill xmlns:a="http://schemas.openxmlformats.org/drawingml/2006/main">
            <a:srgbClr val="E9F8EE"/>
          </a:solidFill>
          <a:ln xmlns:a="http://schemas.openxmlformats.org/drawingml/2006/main" w="14288">
            <a:solidFill>
              <a:srgbClr val="15803D"/>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FACTORY LOCALIZATION</a:t>
            </a:r>
          </a:p>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AMCL + map server own map → odom</a:t>
            </a:r>
          </a:p>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Saved map + odometry</a:t>
            </a:r>
          </a:p>
        </p:txBody>
      </p:sp>
      <p:cxnSp>
        <p:nvCxnSpPr>
          <p:cNvPr id="41" name=""/>
          <p:cNvCxnSpPr>
            <a:stCxn xmlns:a="http://schemas.openxmlformats.org/drawingml/2006/main" id="10" idx="3"/>
            <a:endCxn xmlns:a="http://schemas.openxmlformats.org/drawingml/2006/main" id="5" idx="1"/>
          </p:cNvCxnSpPr>
          <p:nvPr/>
        </p:nvCxnSpPr>
        <p:spPr>
          <a:xfrm xmlns:a="http://schemas.openxmlformats.org/drawingml/2006/main" flipV="1">
            <a:off x="4000500" y="2043113"/>
            <a:ext cx="1219200" cy="885825"/>
          </a:xfrm>
          <a:prstGeom xmlns:a="http://schemas.openxmlformats.org/drawingml/2006/main" prst="straightConnector1">
            <a:avLst/>
          </a:prstGeom>
          <a:ln xmlns:a="http://schemas.openxmlformats.org/drawingml/2006/main" w="19050">
            <a:solidFill>
              <a:srgbClr val="1D4ED8"/>
            </a:solidFill>
            <a:prstDash val="solid"/>
            <a:headEnd type="none" w="med" len="med"/>
            <a:tailEnd type="arrow" w="sm" len="sm"/>
          </a:ln>
        </p:spPr>
      </p:cxnSp>
      <p:cxnSp>
        <p:nvCxnSpPr>
          <p:cNvPr id="42" name=""/>
          <p:cNvCxnSpPr>
            <a:stCxn xmlns:a="http://schemas.openxmlformats.org/drawingml/2006/main" id="11" idx="1"/>
            <a:endCxn xmlns:a="http://schemas.openxmlformats.org/drawingml/2006/main" id="5" idx="3"/>
          </p:cNvCxnSpPr>
          <p:nvPr/>
        </p:nvCxnSpPr>
        <p:spPr>
          <a:xfrm xmlns:a="http://schemas.openxmlformats.org/drawingml/2006/main" flipH="1" flipV="1">
            <a:off x="6648450" y="2043113"/>
            <a:ext cx="1543050" cy="885825"/>
          </a:xfrm>
          <a:prstGeom xmlns:a="http://schemas.openxmlformats.org/drawingml/2006/main" prst="straightConnector1">
            <a:avLst/>
          </a:prstGeom>
          <a:ln xmlns:a="http://schemas.openxmlformats.org/drawingml/2006/main" w="19050">
            <a:solidFill>
              <a:srgbClr val="15803D"/>
            </a:solidFill>
            <a:prstDash val="solid"/>
            <a:headEnd type="none" w="med" len="med"/>
            <a:tailEnd type="arrow" w="sm" len="sm"/>
          </a:ln>
        </p:spPr>
      </p:cxnSp>
      <p:sp>
        <p:nvSpPr>
          <p:cNvPr id="14" name="">
            <a:extLst xmlns:a="http://schemas.openxmlformats.org/drawingml/2006/main">
              <a:ext uri="{FF2B5EF4-FFF2-40B4-BE49-F238E27FC236}">
                <a16:creationId xmlns:a16="http://schemas.microsoft.com/office/drawing/2014/main" id="{B60F9554-D487-4431-B4B4-432B0C46F04D}"/>
              </a:ext>
            </a:extLst>
          </p:cNvPr>
          <p:cNvSpPr>
            <a:spLocks xmlns:a="http://schemas.openxmlformats.org/drawingml/2006/main" noGrp="1"/>
          </p:cNvSpPr>
          <p:nvPr/>
        </p:nvSpPr>
        <p:spPr>
          <a:xfrm xmlns:a="http://schemas.openxmlformats.org/drawingml/2006/main">
            <a:off x="1219200" y="4810125"/>
            <a:ext cx="9753600" cy="609600"/>
          </a:xfrm>
          <a:prstGeom xmlns:a="http://schemas.openxmlformats.org/drawingml/2006/main" prst="roundRect">
            <a:avLst>
              <a:gd name="adj" fmla="val 18750"/>
            </a:avLst>
          </a:prstGeom>
          <a:solidFill xmlns:a="http://schemas.openxmlformats.org/drawingml/2006/main">
            <a:srgbClr val="0F172A"/>
          </a:solidFill>
          <a:ln xmlns:a="http://schemas.openxmlformats.org/drawingml/2006/main" w="0">
            <a:solidFill>
              <a:srgbClr val="0F172A"/>
            </a:solidFill>
            <a:prstDash val="solid"/>
          </a:ln>
        </p:spPr>
        <p:txBody>
          <a:bodyPr xmlns:a="http://schemas.openxmlformats.org/drawingml/2006/main" lIns="114300" tIns="76200" rIns="114300" bIns="76200" anchor="ctr">
            <a:normAutofit fontScale="88076"/>
          </a:bodyPr>
          <a:lstStyle xmlns:a="http://schemas.openxmlformats.org/drawingml/2006/main"/>
          <a:p xmlns:a="http://schemas.openxmlformats.org/drawingml/2006/main">
            <a:pPr algn="ctr">
              <a:lnSpc>
                <a:spcPct val="105000"/>
              </a:lnSpc>
              <a:buNone/>
              <a:defRPr sz="1425" b="1">
                <a:solidFill>
                  <a:srgbClr val="FFFFFF"/>
                </a:solidFill>
                <a:latin typeface="Arial"/>
                <a:ea typeface="Arial"/>
                <a:cs typeface="Arial"/>
              </a:defRPr>
            </a:pPr>
            <a:r>
              <a:rPr sz="1425" b="1">
                <a:solidFill>
                  <a:srgbClr val="FFFFFF"/>
                </a:solidFill>
                <a:latin typeface="Arial"/>
                <a:ea typeface="Arial"/>
                <a:cs typeface="Arial"/>
              </a:rPr>
              <a:t>The single-owner TF rule prevents SLAM and AMCL from publishing competing global transforms in the same runtime mode.</a:t>
            </a:r>
          </a:p>
        </p:txBody>
      </p:sp>
      <p:sp>
        <p:nvSpPr>
          <p:cNvPr id="15" name="">
            <a:extLst xmlns:a="http://schemas.openxmlformats.org/drawingml/2006/main">
              <a:ext uri="{FF2B5EF4-FFF2-40B4-BE49-F238E27FC236}">
                <a16:creationId xmlns:a16="http://schemas.microsoft.com/office/drawing/2014/main" id="{58EEDC97-2D09-4102-83AF-F0167F3419AF}"/>
              </a:ext>
            </a:extLst>
          </p:cNvPr>
          <p:cNvSpPr>
            <a:spLocks xmlns:a="http://schemas.openxmlformats.org/drawingml/2006/main" noGrp="1"/>
          </p:cNvSpPr>
          <p:nvPr/>
        </p:nvSpPr>
        <p:spPr>
          <a:xfrm xmlns:a="http://schemas.openxmlformats.org/drawingml/2006/main">
            <a:off x="533400" y="6543675"/>
            <a:ext cx="1009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94A3B8"/>
                </a:solidFill>
                <a:latin typeface="Arial"/>
                <a:ea typeface="Arial"/>
                <a:cs typeface="Arial"/>
              </a:defRPr>
            </a:pPr>
            <a:r>
              <a:rPr sz="750" b="0">
                <a:solidFill>
                  <a:srgbClr val="94A3B8"/>
                </a:solidFill>
                <a:latin typeface="Arial"/>
                <a:ea typeface="Arial"/>
                <a:cs typeface="Arial"/>
              </a:rPr>
              <a:t>Source: src/amr_bringup/config/interface_ownership.yaml; src/amr_slam/config/mapper.yaml; src/amr_factory/config/amcl.yaml</a:t>
            </a:r>
          </a:p>
        </p:txBody>
      </p:sp>
      <p:sp>
        <p:nvSpPr>
          <p:cNvPr id="16" name="">
            <a:extLst xmlns:a="http://schemas.openxmlformats.org/drawingml/2006/main">
              <a:ext uri="{FF2B5EF4-FFF2-40B4-BE49-F238E27FC236}">
                <a16:creationId xmlns:a16="http://schemas.microsoft.com/office/drawing/2014/main" id="{273AE9CF-CEF7-44EE-BDC7-F7E781B6FBDF}"/>
              </a:ext>
            </a:extLst>
          </p:cNvPr>
          <p:cNvSpPr>
            <a:spLocks xmlns:a="http://schemas.openxmlformats.org/drawingml/2006/main" noGrp="1"/>
          </p:cNvSpPr>
          <p:nvPr/>
        </p:nvSpPr>
        <p:spPr>
          <a:xfrm xmlns:a="http://schemas.openxmlformats.org/drawingml/2006/main">
            <a:off x="11191875" y="65151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08</a:t>
            </a:r>
          </a:p>
        </p:txBody>
      </p:sp>
    </p:spTree>
    <p:extLst>
      <p:ext uri="{BB962C8B-B14F-4D97-AF65-F5344CB8AC3E}">
        <p14:creationId xmlns:p14="http://schemas.microsoft.com/office/powerpoint/2010/main" val="691528577"/>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80940FF-C182-4910-A8DD-5C34D3A50DE2}"/>
              </a:ext>
            </a:extLst>
          </p:cNvPr>
          <p:cNvSpPr>
            <a:spLocks xmlns:a="http://schemas.openxmlformats.org/drawingml/2006/main" noGrp="1"/>
          </p:cNvSpPr>
          <p:nvPr/>
        </p:nvSpPr>
        <p:spPr>
          <a:xfrm xmlns:a="http://schemas.openxmlformats.org/drawingml/2006/main">
            <a:off x="552450" y="2286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AMR ROS 2 SOFTWARE ARCHITECTURE</a:t>
            </a:r>
          </a:p>
        </p:txBody>
      </p:sp>
      <p:sp>
        <p:nvSpPr>
          <p:cNvPr id="2" name="">
            <a:extLst xmlns:a="http://schemas.openxmlformats.org/drawingml/2006/main">
              <a:ext uri="{FF2B5EF4-FFF2-40B4-BE49-F238E27FC236}">
                <a16:creationId xmlns:a16="http://schemas.microsoft.com/office/drawing/2014/main" id="{B3F545C4-1D97-4A66-9D07-DCDB963E1F7F}"/>
              </a:ext>
            </a:extLst>
          </p:cNvPr>
          <p:cNvSpPr>
            <a:spLocks xmlns:a="http://schemas.openxmlformats.org/drawingml/2006/main" noGrp="1"/>
          </p:cNvSpPr>
          <p:nvPr/>
        </p:nvSpPr>
        <p:spPr>
          <a:xfrm xmlns:a="http://schemas.openxmlformats.org/drawingml/2006/main">
            <a:off x="533400" y="4095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325" b="1">
                <a:solidFill>
                  <a:srgbClr val="142735"/>
                </a:solidFill>
                <a:latin typeface="Arial"/>
                <a:ea typeface="Arial"/>
                <a:cs typeface="Arial"/>
              </a:defRPr>
            </a:pPr>
            <a:r>
              <a:rPr sz="2325" b="1">
                <a:solidFill>
                  <a:srgbClr val="142735"/>
                </a:solidFill>
                <a:latin typeface="Arial"/>
                <a:ea typeface="Arial"/>
                <a:cs typeface="Arial"/>
              </a:rPr>
              <a:t>Two LiDARs and SLAM Toolbox</a:t>
            </a:r>
          </a:p>
        </p:txBody>
      </p:sp>
      <p:sp>
        <p:nvSpPr>
          <p:cNvPr id="3" name="">
            <a:extLst xmlns:a="http://schemas.openxmlformats.org/drawingml/2006/main">
              <a:ext uri="{FF2B5EF4-FFF2-40B4-BE49-F238E27FC236}">
                <a16:creationId xmlns:a16="http://schemas.microsoft.com/office/drawing/2014/main" id="{7D7197A2-3AE6-4454-97E5-B4AF2A8D64A4}"/>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37668F95-2A7D-4343-981C-8E24F8DB8032}"/>
              </a:ext>
            </a:extLst>
          </p:cNvPr>
          <p:cNvSpPr>
            <a:spLocks xmlns:a="http://schemas.openxmlformats.org/drawingml/2006/main" noGrp="1"/>
          </p:cNvSpPr>
          <p:nvPr/>
        </p:nvSpPr>
        <p:spPr>
          <a:xfrm xmlns:a="http://schemas.openxmlformats.org/drawingml/2006/main">
            <a:off x="609600" y="1162050"/>
            <a:ext cx="10801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14300" tIns="76200" rIns="114300" bIns="76200" anchor="t">
            <a:normAutofit fontScale="88183"/>
          </a:bodyPr>
          <a:lstStyle xmlns:a="http://schemas.openxmlformats.org/drawingml/2006/main"/>
          <a:p xmlns:a="http://schemas.openxmlformats.org/drawingml/2006/main">
            <a:pPr algn="l">
              <a:lnSpc>
                <a:spcPct val="105000"/>
              </a:lnSpc>
              <a:buNone/>
              <a:defRPr sz="1350" b="0">
                <a:solidFill>
                  <a:srgbClr val="52606D"/>
                </a:solidFill>
                <a:latin typeface="Arial"/>
                <a:ea typeface="Arial"/>
                <a:cs typeface="Arial"/>
              </a:defRPr>
            </a:pPr>
            <a:r>
              <a:rPr sz="1350" b="0">
                <a:solidFill>
                  <a:srgbClr val="52606D"/>
                </a:solidFill>
                <a:latin typeface="Arial"/>
                <a:ea typeface="Arial"/>
                <a:cs typeface="Arial"/>
              </a:rPr>
              <a:t>The current design keeps LiDAR streams separate. SLAM Toolbox consumes the front LaserScan; both adapted point clouds feed Nav2 obstacle layers</a:t>
            </a:r>
          </a:p>
        </p:txBody>
      </p:sp>
      <p:sp>
        <p:nvSpPr>
          <p:cNvPr id="5" name="">
            <a:extLst xmlns:a="http://schemas.openxmlformats.org/drawingml/2006/main">
              <a:ext uri="{FF2B5EF4-FFF2-40B4-BE49-F238E27FC236}">
                <a16:creationId xmlns:a16="http://schemas.microsoft.com/office/drawing/2014/main" id="{7FC5D70C-7B1A-4119-AD2D-F3912824B7CF}"/>
              </a:ext>
            </a:extLst>
          </p:cNvPr>
          <p:cNvSpPr>
            <a:spLocks xmlns:a="http://schemas.openxmlformats.org/drawingml/2006/main" noGrp="1"/>
          </p:cNvSpPr>
          <p:nvPr/>
        </p:nvSpPr>
        <p:spPr>
          <a:xfrm xmlns:a="http://schemas.openxmlformats.org/drawingml/2006/main">
            <a:off x="609600" y="2238375"/>
            <a:ext cx="2190750" cy="1028700"/>
          </a:xfrm>
          <a:prstGeom xmlns:a="http://schemas.openxmlformats.org/drawingml/2006/main" prst="roundRect">
            <a:avLst>
              <a:gd name="adj" fmla="val 11111"/>
            </a:avLst>
          </a:prstGeom>
          <a:solidFill xmlns:a="http://schemas.openxmlformats.org/drawingml/2006/main">
            <a:srgbClr val="E6FFFA"/>
          </a:solidFill>
          <a:ln xmlns:a="http://schemas.openxmlformats.org/drawingml/2006/main" w="14288">
            <a:solidFill>
              <a:srgbClr val="0F766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Front LiDAR</a:t>
            </a:r>
          </a:p>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scan + points</a:t>
            </a:r>
          </a:p>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front_lidar_link</a:t>
            </a:r>
          </a:p>
        </p:txBody>
      </p:sp>
      <p:sp>
        <p:nvSpPr>
          <p:cNvPr id="6" name="">
            <a:extLst xmlns:a="http://schemas.openxmlformats.org/drawingml/2006/main">
              <a:ext uri="{FF2B5EF4-FFF2-40B4-BE49-F238E27FC236}">
                <a16:creationId xmlns:a16="http://schemas.microsoft.com/office/drawing/2014/main" id="{B7CC11AB-D8E4-4A12-ADBF-4B7079210D38}"/>
              </a:ext>
            </a:extLst>
          </p:cNvPr>
          <p:cNvSpPr>
            <a:spLocks xmlns:a="http://schemas.openxmlformats.org/drawingml/2006/main" noGrp="1"/>
          </p:cNvSpPr>
          <p:nvPr/>
        </p:nvSpPr>
        <p:spPr>
          <a:xfrm xmlns:a="http://schemas.openxmlformats.org/drawingml/2006/main">
            <a:off x="609600" y="3829050"/>
            <a:ext cx="2190750" cy="1028700"/>
          </a:xfrm>
          <a:prstGeom xmlns:a="http://schemas.openxmlformats.org/drawingml/2006/main" prst="roundRect">
            <a:avLst>
              <a:gd name="adj" fmla="val 11111"/>
            </a:avLst>
          </a:prstGeom>
          <a:solidFill xmlns:a="http://schemas.openxmlformats.org/drawingml/2006/main">
            <a:srgbClr val="E6FFFA"/>
          </a:solidFill>
          <a:ln xmlns:a="http://schemas.openxmlformats.org/drawingml/2006/main" w="14288">
            <a:solidFill>
              <a:srgbClr val="0F766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Rear LiDAR</a:t>
            </a:r>
          </a:p>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scan + points</a:t>
            </a:r>
          </a:p>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rear_lidar_link</a:t>
            </a:r>
          </a:p>
        </p:txBody>
      </p:sp>
      <p:sp>
        <p:nvSpPr>
          <p:cNvPr id="7" name="">
            <a:extLst xmlns:a="http://schemas.openxmlformats.org/drawingml/2006/main">
              <a:ext uri="{FF2B5EF4-FFF2-40B4-BE49-F238E27FC236}">
                <a16:creationId xmlns:a16="http://schemas.microsoft.com/office/drawing/2014/main" id="{C2C92B58-ADA5-4512-9C3F-678A1B72A013}"/>
              </a:ext>
            </a:extLst>
          </p:cNvPr>
          <p:cNvSpPr>
            <a:spLocks xmlns:a="http://schemas.openxmlformats.org/drawingml/2006/main" noGrp="1"/>
          </p:cNvSpPr>
          <p:nvPr/>
        </p:nvSpPr>
        <p:spPr>
          <a:xfrm xmlns:a="http://schemas.openxmlformats.org/drawingml/2006/main">
            <a:off x="3781425" y="2038350"/>
            <a:ext cx="2619375" cy="1009650"/>
          </a:xfrm>
          <a:prstGeom xmlns:a="http://schemas.openxmlformats.org/drawingml/2006/main" prst="roundRect">
            <a:avLst>
              <a:gd name="adj" fmla="val 11321"/>
            </a:avLst>
          </a:prstGeom>
          <a:solidFill xmlns:a="http://schemas.openxmlformats.org/drawingml/2006/main">
            <a:srgbClr val="EAF2FF"/>
          </a:solidFill>
          <a:ln xmlns:a="http://schemas.openxmlformats.org/drawingml/2006/main" w="14288">
            <a:solidFill>
              <a:srgbClr val="1D4ED8"/>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425" b="1">
                <a:solidFill>
                  <a:srgbClr val="142735"/>
                </a:solidFill>
                <a:latin typeface="Arial"/>
                <a:ea typeface="Arial"/>
                <a:cs typeface="Arial"/>
              </a:defRPr>
            </a:pPr>
            <a:r>
              <a:rPr sz="1425" b="1">
                <a:solidFill>
                  <a:srgbClr val="142735"/>
                </a:solidFill>
                <a:latin typeface="Arial"/>
                <a:ea typeface="Arial"/>
                <a:cs typeface="Arial"/>
              </a:rPr>
              <a:t>SLAM Toolbox</a:t>
            </a:r>
          </a:p>
          <a:p xmlns:a="http://schemas.openxmlformats.org/drawingml/2006/main">
            <a:pPr algn="ctr">
              <a:lnSpc>
                <a:spcPct val="105000"/>
              </a:lnSpc>
              <a:buNone/>
              <a:defRPr sz="1425" b="1">
                <a:solidFill>
                  <a:srgbClr val="142735"/>
                </a:solidFill>
                <a:latin typeface="Arial"/>
                <a:ea typeface="Arial"/>
                <a:cs typeface="Arial"/>
              </a:defRPr>
            </a:pPr>
            <a:r>
              <a:rPr sz="1425" b="1">
                <a:solidFill>
                  <a:srgbClr val="142735"/>
                </a:solidFill>
                <a:latin typeface="Arial"/>
                <a:ea typeface="Arial"/>
                <a:cs typeface="Arial"/>
              </a:rPr>
              <a:t>front LaserScan</a:t>
            </a:r>
          </a:p>
          <a:p xmlns:a="http://schemas.openxmlformats.org/drawingml/2006/main">
            <a:pPr algn="ctr">
              <a:lnSpc>
                <a:spcPct val="105000"/>
              </a:lnSpc>
              <a:buNone/>
              <a:defRPr sz="1425" b="1">
                <a:solidFill>
                  <a:srgbClr val="142735"/>
                </a:solidFill>
                <a:latin typeface="Arial"/>
                <a:ea typeface="Arial"/>
                <a:cs typeface="Arial"/>
              </a:defRPr>
            </a:pPr>
            <a:r>
              <a:rPr sz="1425" b="1">
                <a:solidFill>
                  <a:srgbClr val="142735"/>
                </a:solidFill>
                <a:latin typeface="Arial"/>
                <a:ea typeface="Arial"/>
                <a:cs typeface="Arial"/>
              </a:rPr>
              <a:t>map → odom</a:t>
            </a:r>
          </a:p>
        </p:txBody>
      </p:sp>
      <p:sp>
        <p:nvSpPr>
          <p:cNvPr id="8" name="">
            <a:extLst xmlns:a="http://schemas.openxmlformats.org/drawingml/2006/main">
              <a:ext uri="{FF2B5EF4-FFF2-40B4-BE49-F238E27FC236}">
                <a16:creationId xmlns:a16="http://schemas.microsoft.com/office/drawing/2014/main" id="{A04B70F4-E62A-4FE0-BAB2-0311E88463B0}"/>
              </a:ext>
            </a:extLst>
          </p:cNvPr>
          <p:cNvSpPr>
            <a:spLocks xmlns:a="http://schemas.openxmlformats.org/drawingml/2006/main" noGrp="1"/>
          </p:cNvSpPr>
          <p:nvPr/>
        </p:nvSpPr>
        <p:spPr>
          <a:xfrm xmlns:a="http://schemas.openxmlformats.org/drawingml/2006/main">
            <a:off x="3781425" y="3790950"/>
            <a:ext cx="2905125" cy="1104900"/>
          </a:xfrm>
          <a:prstGeom xmlns:a="http://schemas.openxmlformats.org/drawingml/2006/main" prst="roundRect">
            <a:avLst>
              <a:gd name="adj" fmla="val 10345"/>
            </a:avLst>
          </a:prstGeom>
          <a:solidFill xmlns:a="http://schemas.openxmlformats.org/drawingml/2006/main">
            <a:srgbClr val="F1EAFE"/>
          </a:solidFill>
          <a:ln xmlns:a="http://schemas.openxmlformats.org/drawingml/2006/main" w="14288">
            <a:solidFill>
              <a:srgbClr val="6D28D9"/>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75" b="1">
                <a:solidFill>
                  <a:srgbClr val="142735"/>
                </a:solidFill>
                <a:latin typeface="Arial"/>
                <a:ea typeface="Arial"/>
                <a:cs typeface="Arial"/>
              </a:defRPr>
            </a:pPr>
            <a:r>
              <a:rPr sz="1275" b="1">
                <a:solidFill>
                  <a:srgbClr val="142735"/>
                </a:solidFill>
                <a:latin typeface="Arial"/>
                <a:ea typeface="Arial"/>
                <a:cs typeface="Arial"/>
              </a:rPr>
              <a:t>Independent perception</a:t>
            </a:r>
          </a:p>
          <a:p xmlns:a="http://schemas.openxmlformats.org/drawingml/2006/main">
            <a:pPr algn="ctr">
              <a:lnSpc>
                <a:spcPct val="105000"/>
              </a:lnSpc>
              <a:buNone/>
              <a:defRPr sz="1275" b="1">
                <a:solidFill>
                  <a:srgbClr val="142735"/>
                </a:solidFill>
                <a:latin typeface="Arial"/>
                <a:ea typeface="Arial"/>
                <a:cs typeface="Arial"/>
              </a:defRPr>
            </a:pPr>
            <a:r>
              <a:rPr sz="1275" b="1">
                <a:solidFill>
                  <a:srgbClr val="142735"/>
                </a:solidFill>
                <a:latin typeface="Arial"/>
                <a:ea typeface="Arial"/>
                <a:cs typeface="Arial"/>
              </a:rPr>
              <a:t>front points + rear points</a:t>
            </a:r>
          </a:p>
          <a:p xmlns:a="http://schemas.openxmlformats.org/drawingml/2006/main">
            <a:pPr algn="ctr">
              <a:lnSpc>
                <a:spcPct val="105000"/>
              </a:lnSpc>
              <a:buNone/>
              <a:defRPr sz="1275" b="1">
                <a:solidFill>
                  <a:srgbClr val="142735"/>
                </a:solidFill>
                <a:latin typeface="Arial"/>
                <a:ea typeface="Arial"/>
                <a:cs typeface="Arial"/>
              </a:defRPr>
            </a:pPr>
            <a:r>
              <a:rPr sz="1275" b="1">
                <a:solidFill>
                  <a:srgbClr val="142735"/>
                </a:solidFill>
                <a:latin typeface="Arial"/>
                <a:ea typeface="Arial"/>
                <a:cs typeface="Arial"/>
              </a:rPr>
              <a:t>accepted clouds keep source frames</a:t>
            </a:r>
          </a:p>
        </p:txBody>
      </p:sp>
      <p:sp>
        <p:nvSpPr>
          <p:cNvPr id="9" name="">
            <a:extLst xmlns:a="http://schemas.openxmlformats.org/drawingml/2006/main">
              <a:ext uri="{FF2B5EF4-FFF2-40B4-BE49-F238E27FC236}">
                <a16:creationId xmlns:a16="http://schemas.microsoft.com/office/drawing/2014/main" id="{1491C3DB-96BA-4118-978F-6DE2A0EF6424}"/>
              </a:ext>
            </a:extLst>
          </p:cNvPr>
          <p:cNvSpPr>
            <a:spLocks xmlns:a="http://schemas.openxmlformats.org/drawingml/2006/main" noGrp="1"/>
          </p:cNvSpPr>
          <p:nvPr/>
        </p:nvSpPr>
        <p:spPr>
          <a:xfrm xmlns:a="http://schemas.openxmlformats.org/drawingml/2006/main">
            <a:off x="7639050" y="2895600"/>
            <a:ext cx="3143250" cy="1104900"/>
          </a:xfrm>
          <a:prstGeom xmlns:a="http://schemas.openxmlformats.org/drawingml/2006/main" prst="roundRect">
            <a:avLst>
              <a:gd name="adj" fmla="val 10345"/>
            </a:avLst>
          </a:prstGeom>
          <a:solidFill xmlns:a="http://schemas.openxmlformats.org/drawingml/2006/main">
            <a:srgbClr val="FFF1E8"/>
          </a:solidFill>
          <a:ln xmlns:a="http://schemas.openxmlformats.org/drawingml/2006/main" w="14288">
            <a:solidFill>
              <a:srgbClr val="C2410C"/>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Nav2 obstacle layers</a:t>
            </a:r>
          </a:p>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front_points + rear_points</a:t>
            </a:r>
          </a:p>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marking and clearing</a:t>
            </a:r>
          </a:p>
        </p:txBody>
      </p:sp>
      <p:cxnSp>
        <p:nvCxnSpPr>
          <p:cNvPr id="39" name=""/>
          <p:cNvCxnSpPr>
            <a:stCxn xmlns:a="http://schemas.openxmlformats.org/drawingml/2006/main" id="5" idx="3"/>
            <a:endCxn xmlns:a="http://schemas.openxmlformats.org/drawingml/2006/main" id="7" idx="1"/>
          </p:cNvCxnSpPr>
          <p:nvPr/>
        </p:nvCxnSpPr>
        <p:spPr>
          <a:xfrm xmlns:a="http://schemas.openxmlformats.org/drawingml/2006/main" flipV="1">
            <a:off x="2800350" y="2543175"/>
            <a:ext cx="981075" cy="209550"/>
          </a:xfrm>
          <a:prstGeom xmlns:a="http://schemas.openxmlformats.org/drawingml/2006/main" prst="straightConnector1">
            <a:avLst/>
          </a:prstGeom>
          <a:ln xmlns:a="http://schemas.openxmlformats.org/drawingml/2006/main" w="19050">
            <a:solidFill>
              <a:srgbClr val="1D4ED8"/>
            </a:solidFill>
            <a:prstDash val="solid"/>
            <a:headEnd type="none" w="med" len="med"/>
            <a:tailEnd type="arrow" w="sm" len="sm"/>
          </a:ln>
        </p:spPr>
      </p:cxnSp>
      <p:cxnSp>
        <p:nvCxnSpPr>
          <p:cNvPr id="40" name=""/>
          <p:cNvCxnSpPr>
            <a:stCxn xmlns:a="http://schemas.openxmlformats.org/drawingml/2006/main" id="5" idx="3"/>
            <a:endCxn xmlns:a="http://schemas.openxmlformats.org/drawingml/2006/main" id="8" idx="1"/>
          </p:cNvCxnSpPr>
          <p:nvPr/>
        </p:nvCxnSpPr>
        <p:spPr>
          <a:xfrm xmlns:a="http://schemas.openxmlformats.org/drawingml/2006/main">
            <a:off x="2800350" y="2752725"/>
            <a:ext cx="981075" cy="1590675"/>
          </a:xfrm>
          <a:prstGeom xmlns:a="http://schemas.openxmlformats.org/drawingml/2006/main" prst="straightConnector1">
            <a:avLst/>
          </a:prstGeom>
          <a:ln xmlns:a="http://schemas.openxmlformats.org/drawingml/2006/main" w="19050">
            <a:solidFill>
              <a:srgbClr val="0F766E"/>
            </a:solidFill>
            <a:prstDash val="solid"/>
            <a:headEnd type="none" w="med" len="med"/>
            <a:tailEnd type="arrow" w="sm" len="sm"/>
          </a:ln>
        </p:spPr>
      </p:cxnSp>
      <p:cxnSp>
        <p:nvCxnSpPr>
          <p:cNvPr id="41" name=""/>
          <p:cNvCxnSpPr>
            <a:stCxn xmlns:a="http://schemas.openxmlformats.org/drawingml/2006/main" id="6" idx="3"/>
            <a:endCxn xmlns:a="http://schemas.openxmlformats.org/drawingml/2006/main" id="8" idx="1"/>
          </p:cNvCxnSpPr>
          <p:nvPr/>
        </p:nvCxnSpPr>
        <p:spPr>
          <a:xfrm xmlns:a="http://schemas.openxmlformats.org/drawingml/2006/main">
            <a:off x="2800350" y="4343400"/>
            <a:ext cx="981075" cy="0"/>
          </a:xfrm>
          <a:prstGeom xmlns:a="http://schemas.openxmlformats.org/drawingml/2006/main" prst="straightConnector1">
            <a:avLst/>
          </a:prstGeom>
          <a:ln xmlns:a="http://schemas.openxmlformats.org/drawingml/2006/main" w="19050">
            <a:solidFill>
              <a:srgbClr val="0F766E"/>
            </a:solidFill>
            <a:prstDash val="solid"/>
            <a:headEnd type="none" w="med" len="med"/>
            <a:tailEnd type="arrow" w="sm" len="sm"/>
          </a:ln>
        </p:spPr>
      </p:cxnSp>
      <p:cxnSp>
        <p:nvCxnSpPr>
          <p:cNvPr id="42" name=""/>
          <p:cNvCxnSpPr>
            <a:stCxn xmlns:a="http://schemas.openxmlformats.org/drawingml/2006/main" id="8" idx="3"/>
            <a:endCxn xmlns:a="http://schemas.openxmlformats.org/drawingml/2006/main" id="9" idx="1"/>
          </p:cNvCxnSpPr>
          <p:nvPr/>
        </p:nvCxnSpPr>
        <p:spPr>
          <a:xfrm xmlns:a="http://schemas.openxmlformats.org/drawingml/2006/main" flipV="1">
            <a:off x="6686550" y="3448050"/>
            <a:ext cx="952500" cy="895350"/>
          </a:xfrm>
          <a:prstGeom xmlns:a="http://schemas.openxmlformats.org/drawingml/2006/main" prst="straightConnector1">
            <a:avLst/>
          </a:prstGeom>
          <a:ln xmlns:a="http://schemas.openxmlformats.org/drawingml/2006/main" w="19050">
            <a:solidFill>
              <a:srgbClr val="C2410C"/>
            </a:solidFill>
            <a:prstDash val="solid"/>
            <a:headEnd type="none" w="med" len="med"/>
            <a:tailEnd type="arrow" w="sm" len="sm"/>
          </a:ln>
        </p:spPr>
      </p:cxnSp>
      <p:sp>
        <p:nvSpPr>
          <p:cNvPr id="14" name="">
            <a:extLst xmlns:a="http://schemas.openxmlformats.org/drawingml/2006/main">
              <a:ext uri="{FF2B5EF4-FFF2-40B4-BE49-F238E27FC236}">
                <a16:creationId xmlns:a16="http://schemas.microsoft.com/office/drawing/2014/main" id="{CEBB14AD-4F38-41D0-9CA3-23A19F70CFFF}"/>
              </a:ext>
            </a:extLst>
          </p:cNvPr>
          <p:cNvSpPr>
            <a:spLocks xmlns:a="http://schemas.openxmlformats.org/drawingml/2006/main" noGrp="1"/>
          </p:cNvSpPr>
          <p:nvPr/>
        </p:nvSpPr>
        <p:spPr>
          <a:xfrm xmlns:a="http://schemas.openxmlformats.org/drawingml/2006/main">
            <a:off x="609600" y="5476875"/>
            <a:ext cx="11125200" cy="504825"/>
          </a:xfrm>
          <a:prstGeom xmlns:a="http://schemas.openxmlformats.org/drawingml/2006/main" prst="roundRect">
            <a:avLst>
              <a:gd name="adj" fmla="val 22642"/>
            </a:avLst>
          </a:prstGeom>
          <a:solidFill xmlns:a="http://schemas.openxmlformats.org/drawingml/2006/main">
            <a:srgbClr val="0F172A"/>
          </a:solidFill>
          <a:ln xmlns:a="http://schemas.openxmlformats.org/drawingml/2006/main" w="0">
            <a:solidFill>
              <a:srgbClr val="0F172A"/>
            </a:solidFill>
            <a:prstDash val="solid"/>
          </a:ln>
        </p:spPr>
        <p:txBody>
          <a:bodyPr xmlns:a="http://schemas.openxmlformats.org/drawingml/2006/main" lIns="114300" tIns="76200" rIns="114300" bIns="76200" anchor="ctr">
            <a:normAutofit fontScale="95585"/>
          </a:bodyPr>
          <a:lstStyle xmlns:a="http://schemas.openxmlformats.org/drawingml/2006/main"/>
          <a:p xmlns:a="http://schemas.openxmlformats.org/drawingml/2006/main">
            <a:pPr algn="ctr">
              <a:lnSpc>
                <a:spcPct val="105000"/>
              </a:lnSpc>
              <a:buNone/>
              <a:defRPr sz="1275" b="1">
                <a:solidFill>
                  <a:srgbClr val="FFFFFF"/>
                </a:solidFill>
                <a:latin typeface="Arial"/>
                <a:ea typeface="Arial"/>
                <a:cs typeface="Arial"/>
              </a:defRPr>
            </a:pPr>
            <a:r>
              <a:rPr sz="1275" b="1">
                <a:solidFill>
                  <a:srgbClr val="FFFFFF"/>
                </a:solidFill>
                <a:latin typeface="Arial"/>
                <a:ea typeface="Arial"/>
                <a:cs typeface="Arial"/>
              </a:rPr>
              <a:t>No direct front + rear scan concatenation is configured for SLAM Toolbox. Separation comes from distinct topics, frames, adapters and consumers.</a:t>
            </a:r>
          </a:p>
        </p:txBody>
      </p:sp>
      <p:sp>
        <p:nvSpPr>
          <p:cNvPr id="15" name="">
            <a:extLst xmlns:a="http://schemas.openxmlformats.org/drawingml/2006/main">
              <a:ext uri="{FF2B5EF4-FFF2-40B4-BE49-F238E27FC236}">
                <a16:creationId xmlns:a16="http://schemas.microsoft.com/office/drawing/2014/main" id="{B19AF848-EC30-48AF-B06B-4EF613B26748}"/>
              </a:ext>
            </a:extLst>
          </p:cNvPr>
          <p:cNvSpPr>
            <a:spLocks xmlns:a="http://schemas.openxmlformats.org/drawingml/2006/main" noGrp="1"/>
          </p:cNvSpPr>
          <p:nvPr/>
        </p:nvSpPr>
        <p:spPr>
          <a:xfrm xmlns:a="http://schemas.openxmlformats.org/drawingml/2006/main">
            <a:off x="533400" y="6543675"/>
            <a:ext cx="1009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94A3B8"/>
                </a:solidFill>
                <a:latin typeface="Arial"/>
                <a:ea typeface="Arial"/>
                <a:cs typeface="Arial"/>
              </a:defRPr>
            </a:pPr>
            <a:r>
              <a:rPr sz="750" b="0">
                <a:solidFill>
                  <a:srgbClr val="94A3B8"/>
                </a:solidFill>
                <a:latin typeface="Arial"/>
                <a:ea typeface="Arial"/>
                <a:cs typeface="Arial"/>
              </a:rPr>
              <a:t>Sources: src/amr_slam/config/mapper.yaml; src/amr_slam/launch/amr_slam.launch.py; src/amr_navigation/config/planner.yaml; src/amr_perception/src/lidar_pipeline_node.cpp</a:t>
            </a:r>
          </a:p>
        </p:txBody>
      </p:sp>
      <p:sp>
        <p:nvSpPr>
          <p:cNvPr id="16" name="">
            <a:extLst xmlns:a="http://schemas.openxmlformats.org/drawingml/2006/main">
              <a:ext uri="{FF2B5EF4-FFF2-40B4-BE49-F238E27FC236}">
                <a16:creationId xmlns:a16="http://schemas.microsoft.com/office/drawing/2014/main" id="{72B54376-328B-4479-9725-55E8CB24CDC4}"/>
              </a:ext>
            </a:extLst>
          </p:cNvPr>
          <p:cNvSpPr>
            <a:spLocks xmlns:a="http://schemas.openxmlformats.org/drawingml/2006/main" noGrp="1"/>
          </p:cNvSpPr>
          <p:nvPr/>
        </p:nvSpPr>
        <p:spPr>
          <a:xfrm xmlns:a="http://schemas.openxmlformats.org/drawingml/2006/main">
            <a:off x="11191875" y="65151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09</a:t>
            </a:r>
          </a:p>
        </p:txBody>
      </p:sp>
    </p:spTree>
    <p:extLst>
      <p:ext uri="{BB962C8B-B14F-4D97-AF65-F5344CB8AC3E}">
        <p14:creationId xmlns:p14="http://schemas.microsoft.com/office/powerpoint/2010/main" val="1102051277"/>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3968F73-DF94-4971-94D6-00D6BF279EF5}"/>
              </a:ext>
            </a:extLst>
          </p:cNvPr>
          <p:cNvSpPr>
            <a:spLocks xmlns:a="http://schemas.openxmlformats.org/drawingml/2006/main" noGrp="1"/>
          </p:cNvSpPr>
          <p:nvPr/>
        </p:nvSpPr>
        <p:spPr>
          <a:xfrm xmlns:a="http://schemas.openxmlformats.org/drawingml/2006/main">
            <a:off x="552450" y="2286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AMR ROS 2 SOFTWARE ARCHITECTURE</a:t>
            </a:r>
          </a:p>
        </p:txBody>
      </p:sp>
      <p:sp>
        <p:nvSpPr>
          <p:cNvPr id="2" name="">
            <a:extLst xmlns:a="http://schemas.openxmlformats.org/drawingml/2006/main">
              <a:ext uri="{FF2B5EF4-FFF2-40B4-BE49-F238E27FC236}">
                <a16:creationId xmlns:a16="http://schemas.microsoft.com/office/drawing/2014/main" id="{E072B001-66BB-48B2-9B33-587813E7CB80}"/>
              </a:ext>
            </a:extLst>
          </p:cNvPr>
          <p:cNvSpPr>
            <a:spLocks xmlns:a="http://schemas.openxmlformats.org/drawingml/2006/main" noGrp="1"/>
          </p:cNvSpPr>
          <p:nvPr/>
        </p:nvSpPr>
        <p:spPr>
          <a:xfrm xmlns:a="http://schemas.openxmlformats.org/drawingml/2006/main">
            <a:off x="533400" y="4095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325" b="1">
                <a:solidFill>
                  <a:srgbClr val="142735"/>
                </a:solidFill>
                <a:latin typeface="Arial"/>
                <a:ea typeface="Arial"/>
                <a:cs typeface="Arial"/>
              </a:defRPr>
            </a:pPr>
            <a:r>
              <a:rPr sz="2325" b="1">
                <a:solidFill>
                  <a:srgbClr val="142735"/>
                </a:solidFill>
                <a:latin typeface="Arial"/>
                <a:ea typeface="Arial"/>
                <a:cs typeface="Arial"/>
              </a:rPr>
              <a:t>Nav2: planning and path following</a:t>
            </a:r>
          </a:p>
        </p:txBody>
      </p:sp>
      <p:sp>
        <p:nvSpPr>
          <p:cNvPr id="3" name="">
            <a:extLst xmlns:a="http://schemas.openxmlformats.org/drawingml/2006/main">
              <a:ext uri="{FF2B5EF4-FFF2-40B4-BE49-F238E27FC236}">
                <a16:creationId xmlns:a16="http://schemas.microsoft.com/office/drawing/2014/main" id="{FABBAD56-857B-4773-922C-1C678D5854CC}"/>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53FD059B-8EF8-4A0A-838D-08CD414C75CB}"/>
              </a:ext>
            </a:extLst>
          </p:cNvPr>
          <p:cNvSpPr>
            <a:spLocks xmlns:a="http://schemas.openxmlformats.org/drawingml/2006/main" noGrp="1"/>
          </p:cNvSpPr>
          <p:nvPr/>
        </p:nvSpPr>
        <p:spPr>
          <a:xfrm xmlns:a="http://schemas.openxmlformats.org/drawingml/2006/main">
            <a:off x="609600" y="11620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14300" tIns="76200" rIns="114300" bIns="76200" anchor="t">
            <a:normAutofit fontScale="79365"/>
          </a:bodyPr>
          <a:lstStyle xmlns:a="http://schemas.openxmlformats.org/drawingml/2006/main"/>
          <a:p xmlns:a="http://schemas.openxmlformats.org/drawingml/2006/main">
            <a:pPr algn="l">
              <a:lnSpc>
                <a:spcPct val="105000"/>
              </a:lnSpc>
              <a:buNone/>
              <a:defRPr sz="1350" b="0">
                <a:solidFill>
                  <a:srgbClr val="52606D"/>
                </a:solidFill>
                <a:latin typeface="Arial"/>
                <a:ea typeface="Arial"/>
                <a:cs typeface="Arial"/>
              </a:defRPr>
            </a:pPr>
            <a:r>
              <a:rPr sz="1350" b="0">
                <a:solidFill>
                  <a:srgbClr val="52606D"/>
                </a:solidFill>
                <a:latin typeface="Arial"/>
                <a:ea typeface="Arial"/>
                <a:cs typeface="Arial"/>
              </a:rPr>
              <a:t>Nav2 converts a navigation goal and the current costmaps into a path, a smoothed path and a velocity request</a:t>
            </a:r>
          </a:p>
        </p:txBody>
      </p:sp>
      <p:sp>
        <p:nvSpPr>
          <p:cNvPr id="5" name="">
            <a:extLst xmlns:a="http://schemas.openxmlformats.org/drawingml/2006/main">
              <a:ext uri="{FF2B5EF4-FFF2-40B4-BE49-F238E27FC236}">
                <a16:creationId xmlns:a16="http://schemas.microsoft.com/office/drawing/2014/main" id="{4A817704-E5C9-44C4-BF20-125577E4D035}"/>
              </a:ext>
            </a:extLst>
          </p:cNvPr>
          <p:cNvSpPr>
            <a:spLocks xmlns:a="http://schemas.openxmlformats.org/drawingml/2006/main" noGrp="1"/>
          </p:cNvSpPr>
          <p:nvPr/>
        </p:nvSpPr>
        <p:spPr>
          <a:xfrm xmlns:a="http://schemas.openxmlformats.org/drawingml/2006/main">
            <a:off x="533400" y="2209800"/>
            <a:ext cx="2019300" cy="9525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4288">
            <a:solidFill>
              <a:srgbClr val="1D4ED8"/>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75" b="1">
                <a:solidFill>
                  <a:srgbClr val="142735"/>
                </a:solidFill>
                <a:latin typeface="Arial"/>
                <a:ea typeface="Arial"/>
                <a:cs typeface="Arial"/>
              </a:defRPr>
            </a:pPr>
            <a:r>
              <a:rPr sz="1275" b="1">
                <a:solidFill>
                  <a:srgbClr val="142735"/>
                </a:solidFill>
                <a:latin typeface="Arial"/>
                <a:ea typeface="Arial"/>
                <a:cs typeface="Arial"/>
              </a:rPr>
              <a:t>Mission / factory</a:t>
            </a:r>
          </a:p>
          <a:p xmlns:a="http://schemas.openxmlformats.org/drawingml/2006/main">
            <a:pPr algn="ctr">
              <a:lnSpc>
                <a:spcPct val="105000"/>
              </a:lnSpc>
              <a:buNone/>
              <a:defRPr sz="1275" b="1">
                <a:solidFill>
                  <a:srgbClr val="142735"/>
                </a:solidFill>
                <a:latin typeface="Arial"/>
                <a:ea typeface="Arial"/>
                <a:cs typeface="Arial"/>
              </a:defRPr>
            </a:pPr>
            <a:r>
              <a:rPr sz="1275" b="1">
                <a:solidFill>
                  <a:srgbClr val="142735"/>
                </a:solidFill>
                <a:latin typeface="Arial"/>
                <a:ea typeface="Arial"/>
                <a:cs typeface="Arial"/>
              </a:rPr>
              <a:t>NavigateToPose</a:t>
            </a:r>
          </a:p>
        </p:txBody>
      </p:sp>
      <p:sp>
        <p:nvSpPr>
          <p:cNvPr id="6" name="">
            <a:extLst xmlns:a="http://schemas.openxmlformats.org/drawingml/2006/main">
              <a:ext uri="{FF2B5EF4-FFF2-40B4-BE49-F238E27FC236}">
                <a16:creationId xmlns:a16="http://schemas.microsoft.com/office/drawing/2014/main" id="{E5C73BB5-F89B-4A44-BE89-C6F863E30B18}"/>
              </a:ext>
            </a:extLst>
          </p:cNvPr>
          <p:cNvSpPr>
            <a:spLocks xmlns:a="http://schemas.openxmlformats.org/drawingml/2006/main" noGrp="1"/>
          </p:cNvSpPr>
          <p:nvPr/>
        </p:nvSpPr>
        <p:spPr>
          <a:xfrm xmlns:a="http://schemas.openxmlformats.org/drawingml/2006/main">
            <a:off x="2828925" y="2209800"/>
            <a:ext cx="2019300" cy="952500"/>
          </a:xfrm>
          <a:prstGeom xmlns:a="http://schemas.openxmlformats.org/drawingml/2006/main" prst="roundRect">
            <a:avLst>
              <a:gd name="adj" fmla="val 12000"/>
            </a:avLst>
          </a:prstGeom>
          <a:solidFill xmlns:a="http://schemas.openxmlformats.org/drawingml/2006/main">
            <a:srgbClr val="EAF2FF"/>
          </a:solidFill>
          <a:ln xmlns:a="http://schemas.openxmlformats.org/drawingml/2006/main" w="14288">
            <a:solidFill>
              <a:srgbClr val="1D4ED8"/>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75" b="1">
                <a:solidFill>
                  <a:srgbClr val="142735"/>
                </a:solidFill>
                <a:latin typeface="Arial"/>
                <a:ea typeface="Arial"/>
                <a:cs typeface="Arial"/>
              </a:defRPr>
            </a:pPr>
            <a:r>
              <a:rPr sz="1275" b="1">
                <a:solidFill>
                  <a:srgbClr val="142735"/>
                </a:solidFill>
                <a:latin typeface="Arial"/>
                <a:ea typeface="Arial"/>
                <a:cs typeface="Arial"/>
              </a:rPr>
              <a:t>Planner server</a:t>
            </a:r>
          </a:p>
          <a:p xmlns:a="http://schemas.openxmlformats.org/drawingml/2006/main">
            <a:pPr algn="ctr">
              <a:lnSpc>
                <a:spcPct val="105000"/>
              </a:lnSpc>
              <a:buNone/>
              <a:defRPr sz="1275" b="1">
                <a:solidFill>
                  <a:srgbClr val="142735"/>
                </a:solidFill>
                <a:latin typeface="Arial"/>
                <a:ea typeface="Arial"/>
                <a:cs typeface="Arial"/>
              </a:defRPr>
            </a:pPr>
            <a:r>
              <a:rPr sz="1275" b="1">
                <a:solidFill>
                  <a:srgbClr val="142735"/>
                </a:solidFill>
                <a:latin typeface="Arial"/>
                <a:ea typeface="Arial"/>
                <a:cs typeface="Arial"/>
              </a:rPr>
              <a:t>Smac lattice + precision plugins</a:t>
            </a:r>
          </a:p>
        </p:txBody>
      </p:sp>
      <p:cxnSp>
        <p:nvCxnSpPr>
          <p:cNvPr id="39" name=""/>
          <p:cNvCxnSpPr>
            <a:stCxn xmlns:a="http://schemas.openxmlformats.org/drawingml/2006/main" id="5" idx="3"/>
            <a:endCxn xmlns:a="http://schemas.openxmlformats.org/drawingml/2006/main" id="6" idx="1"/>
          </p:cNvCxnSpPr>
          <p:nvPr/>
        </p:nvCxnSpPr>
        <p:spPr>
          <a:xfrm xmlns:a="http://schemas.openxmlformats.org/drawingml/2006/main">
            <a:off x="2552700" y="2686050"/>
            <a:ext cx="276225"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8" name="">
            <a:extLst xmlns:a="http://schemas.openxmlformats.org/drawingml/2006/main">
              <a:ext uri="{FF2B5EF4-FFF2-40B4-BE49-F238E27FC236}">
                <a16:creationId xmlns:a16="http://schemas.microsoft.com/office/drawing/2014/main" id="{1CCF2DBD-AA07-4F44-8D14-A7474F54B0DA}"/>
              </a:ext>
            </a:extLst>
          </p:cNvPr>
          <p:cNvSpPr>
            <a:spLocks xmlns:a="http://schemas.openxmlformats.org/drawingml/2006/main" noGrp="1"/>
          </p:cNvSpPr>
          <p:nvPr/>
        </p:nvSpPr>
        <p:spPr>
          <a:xfrm xmlns:a="http://schemas.openxmlformats.org/drawingml/2006/main">
            <a:off x="5124450" y="2209800"/>
            <a:ext cx="2019300" cy="952500"/>
          </a:xfrm>
          <a:prstGeom xmlns:a="http://schemas.openxmlformats.org/drawingml/2006/main" prst="roundRect">
            <a:avLst>
              <a:gd name="adj" fmla="val 12000"/>
            </a:avLst>
          </a:prstGeom>
          <a:solidFill xmlns:a="http://schemas.openxmlformats.org/drawingml/2006/main">
            <a:srgbClr val="F1EAFE"/>
          </a:solidFill>
          <a:ln xmlns:a="http://schemas.openxmlformats.org/drawingml/2006/main" w="14288">
            <a:solidFill>
              <a:srgbClr val="6D28D9"/>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75" b="1">
                <a:solidFill>
                  <a:srgbClr val="142735"/>
                </a:solidFill>
                <a:latin typeface="Arial"/>
                <a:ea typeface="Arial"/>
                <a:cs typeface="Arial"/>
              </a:defRPr>
            </a:pPr>
            <a:r>
              <a:rPr sz="1275" b="1">
                <a:solidFill>
                  <a:srgbClr val="142735"/>
                </a:solidFill>
                <a:latin typeface="Arial"/>
                <a:ea typeface="Arial"/>
                <a:cs typeface="Arial"/>
              </a:rPr>
              <a:t>Smoother server</a:t>
            </a:r>
          </a:p>
          <a:p xmlns:a="http://schemas.openxmlformats.org/drawingml/2006/main">
            <a:pPr algn="ctr">
              <a:lnSpc>
                <a:spcPct val="105000"/>
              </a:lnSpc>
              <a:buNone/>
              <a:defRPr sz="1275" b="1">
                <a:solidFill>
                  <a:srgbClr val="142735"/>
                </a:solidFill>
                <a:latin typeface="Arial"/>
                <a:ea typeface="Arial"/>
                <a:cs typeface="Arial"/>
              </a:defRPr>
            </a:pPr>
            <a:r>
              <a:rPr sz="1275" b="1">
                <a:solidFill>
                  <a:srgbClr val="142735"/>
                </a:solidFill>
                <a:latin typeface="Arial"/>
                <a:ea typeface="Arial"/>
                <a:cs typeface="Arial"/>
              </a:rPr>
              <a:t>SimpleSmoother</a:t>
            </a:r>
          </a:p>
        </p:txBody>
      </p:sp>
      <p:cxnSp>
        <p:nvCxnSpPr>
          <p:cNvPr id="41" name=""/>
          <p:cNvCxnSpPr>
            <a:stCxn xmlns:a="http://schemas.openxmlformats.org/drawingml/2006/main" id="6" idx="3"/>
            <a:endCxn xmlns:a="http://schemas.openxmlformats.org/drawingml/2006/main" id="8" idx="1"/>
          </p:cNvCxnSpPr>
          <p:nvPr/>
        </p:nvCxnSpPr>
        <p:spPr>
          <a:xfrm xmlns:a="http://schemas.openxmlformats.org/drawingml/2006/main">
            <a:off x="4848225" y="2686050"/>
            <a:ext cx="276225"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10" name="">
            <a:extLst xmlns:a="http://schemas.openxmlformats.org/drawingml/2006/main">
              <a:ext uri="{FF2B5EF4-FFF2-40B4-BE49-F238E27FC236}">
                <a16:creationId xmlns:a16="http://schemas.microsoft.com/office/drawing/2014/main" id="{DB966D8D-BAC6-499F-8CEE-C2FB0282E718}"/>
              </a:ext>
            </a:extLst>
          </p:cNvPr>
          <p:cNvSpPr>
            <a:spLocks xmlns:a="http://schemas.openxmlformats.org/drawingml/2006/main" noGrp="1"/>
          </p:cNvSpPr>
          <p:nvPr/>
        </p:nvSpPr>
        <p:spPr>
          <a:xfrm xmlns:a="http://schemas.openxmlformats.org/drawingml/2006/main">
            <a:off x="7419975" y="2209800"/>
            <a:ext cx="2019300" cy="952500"/>
          </a:xfrm>
          <a:prstGeom xmlns:a="http://schemas.openxmlformats.org/drawingml/2006/main" prst="roundRect">
            <a:avLst>
              <a:gd name="adj" fmla="val 12000"/>
            </a:avLst>
          </a:prstGeom>
          <a:solidFill xmlns:a="http://schemas.openxmlformats.org/drawingml/2006/main">
            <a:srgbClr val="E6FFFA"/>
          </a:solidFill>
          <a:ln xmlns:a="http://schemas.openxmlformats.org/drawingml/2006/main" w="14288">
            <a:solidFill>
              <a:srgbClr val="0F766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75" b="1">
                <a:solidFill>
                  <a:srgbClr val="142735"/>
                </a:solidFill>
                <a:latin typeface="Arial"/>
                <a:ea typeface="Arial"/>
                <a:cs typeface="Arial"/>
              </a:defRPr>
            </a:pPr>
            <a:r>
              <a:rPr sz="1275" b="1">
                <a:solidFill>
                  <a:srgbClr val="142735"/>
                </a:solidFill>
                <a:latin typeface="Arial"/>
                <a:ea typeface="Arial"/>
                <a:cs typeface="Arial"/>
              </a:rPr>
              <a:t>Controller server</a:t>
            </a:r>
          </a:p>
          <a:p xmlns:a="http://schemas.openxmlformats.org/drawingml/2006/main">
            <a:pPr algn="ctr">
              <a:lnSpc>
                <a:spcPct val="105000"/>
              </a:lnSpc>
              <a:buNone/>
              <a:defRPr sz="1275" b="1">
                <a:solidFill>
                  <a:srgbClr val="142735"/>
                </a:solidFill>
                <a:latin typeface="Arial"/>
                <a:ea typeface="Arial"/>
                <a:cs typeface="Arial"/>
              </a:defRPr>
            </a:pPr>
            <a:r>
              <a:rPr sz="1275" b="1">
                <a:solidFill>
                  <a:srgbClr val="142735"/>
                </a:solidFill>
                <a:latin typeface="Arial"/>
                <a:ea typeface="Arial"/>
                <a:cs typeface="Arial"/>
              </a:rPr>
              <a:t>FollowPath / placement</a:t>
            </a:r>
          </a:p>
        </p:txBody>
      </p:sp>
      <p:cxnSp>
        <p:nvCxnSpPr>
          <p:cNvPr id="43" name=""/>
          <p:cNvCxnSpPr>
            <a:stCxn xmlns:a="http://schemas.openxmlformats.org/drawingml/2006/main" id="8" idx="3"/>
            <a:endCxn xmlns:a="http://schemas.openxmlformats.org/drawingml/2006/main" id="10" idx="1"/>
          </p:cNvCxnSpPr>
          <p:nvPr/>
        </p:nvCxnSpPr>
        <p:spPr>
          <a:xfrm xmlns:a="http://schemas.openxmlformats.org/drawingml/2006/main">
            <a:off x="7143750" y="2686050"/>
            <a:ext cx="276225"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12" name="">
            <a:extLst xmlns:a="http://schemas.openxmlformats.org/drawingml/2006/main">
              <a:ext uri="{FF2B5EF4-FFF2-40B4-BE49-F238E27FC236}">
                <a16:creationId xmlns:a16="http://schemas.microsoft.com/office/drawing/2014/main" id="{BAD28C11-8CC8-4AA3-88C4-F698A40577B5}"/>
              </a:ext>
            </a:extLst>
          </p:cNvPr>
          <p:cNvSpPr>
            <a:spLocks xmlns:a="http://schemas.openxmlformats.org/drawingml/2006/main" noGrp="1"/>
          </p:cNvSpPr>
          <p:nvPr/>
        </p:nvSpPr>
        <p:spPr>
          <a:xfrm xmlns:a="http://schemas.openxmlformats.org/drawingml/2006/main">
            <a:off x="9715500" y="2209800"/>
            <a:ext cx="2019300" cy="952500"/>
          </a:xfrm>
          <a:prstGeom xmlns:a="http://schemas.openxmlformats.org/drawingml/2006/main" prst="roundRect">
            <a:avLst>
              <a:gd name="adj" fmla="val 12000"/>
            </a:avLst>
          </a:prstGeom>
          <a:solidFill xmlns:a="http://schemas.openxmlformats.org/drawingml/2006/main">
            <a:srgbClr val="FFF1E8"/>
          </a:solidFill>
          <a:ln xmlns:a="http://schemas.openxmlformats.org/drawingml/2006/main" w="14288">
            <a:solidFill>
              <a:srgbClr val="C2410C"/>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75" b="1">
                <a:solidFill>
                  <a:srgbClr val="142735"/>
                </a:solidFill>
                <a:latin typeface="Arial"/>
                <a:ea typeface="Arial"/>
                <a:cs typeface="Arial"/>
              </a:defRPr>
            </a:pPr>
            <a:r>
              <a:rPr sz="1275" b="1">
                <a:solidFill>
                  <a:srgbClr val="142735"/>
                </a:solidFill>
                <a:latin typeface="Arial"/>
                <a:ea typeface="Arial"/>
                <a:cs typeface="Arial"/>
              </a:rPr>
              <a:t>/amr/mpc/cmd_vel</a:t>
            </a:r>
          </a:p>
          <a:p xmlns:a="http://schemas.openxmlformats.org/drawingml/2006/main">
            <a:pPr algn="ctr">
              <a:lnSpc>
                <a:spcPct val="105000"/>
              </a:lnSpc>
              <a:buNone/>
              <a:defRPr sz="1275" b="1">
                <a:solidFill>
                  <a:srgbClr val="142735"/>
                </a:solidFill>
                <a:latin typeface="Arial"/>
                <a:ea typeface="Arial"/>
                <a:cs typeface="Arial"/>
              </a:defRPr>
            </a:pPr>
            <a:r>
              <a:rPr sz="1275" b="1">
                <a:solidFill>
                  <a:srgbClr val="142735"/>
                </a:solidFill>
                <a:latin typeface="Arial"/>
                <a:ea typeface="Arial"/>
                <a:cs typeface="Arial"/>
              </a:rPr>
              <a:t>Twist request</a:t>
            </a:r>
          </a:p>
        </p:txBody>
      </p:sp>
      <p:cxnSp>
        <p:nvCxnSpPr>
          <p:cNvPr id="45" name=""/>
          <p:cNvCxnSpPr>
            <a:stCxn xmlns:a="http://schemas.openxmlformats.org/drawingml/2006/main" id="10" idx="3"/>
            <a:endCxn xmlns:a="http://schemas.openxmlformats.org/drawingml/2006/main" id="12" idx="1"/>
          </p:cNvCxnSpPr>
          <p:nvPr/>
        </p:nvCxnSpPr>
        <p:spPr>
          <a:xfrm xmlns:a="http://schemas.openxmlformats.org/drawingml/2006/main">
            <a:off x="9439275" y="2686050"/>
            <a:ext cx="276225"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14" name="">
            <a:extLst xmlns:a="http://schemas.openxmlformats.org/drawingml/2006/main">
              <a:ext uri="{FF2B5EF4-FFF2-40B4-BE49-F238E27FC236}">
                <a16:creationId xmlns:a16="http://schemas.microsoft.com/office/drawing/2014/main" id="{8352FCB8-C1B5-4ADA-995E-DCB45AFA29E9}"/>
              </a:ext>
            </a:extLst>
          </p:cNvPr>
          <p:cNvSpPr>
            <a:spLocks xmlns:a="http://schemas.openxmlformats.org/drawingml/2006/main" noGrp="1"/>
          </p:cNvSpPr>
          <p:nvPr/>
        </p:nvSpPr>
        <p:spPr>
          <a:xfrm xmlns:a="http://schemas.openxmlformats.org/drawingml/2006/main">
            <a:off x="714375" y="3981450"/>
            <a:ext cx="2381250" cy="304800"/>
          </a:xfrm>
          <a:prstGeom xmlns:a="http://schemas.openxmlformats.org/drawingml/2006/main" prst="roundRect">
            <a:avLst>
              <a:gd name="adj" fmla="val 37500"/>
            </a:avLst>
          </a:prstGeom>
          <a:solidFill xmlns:a="http://schemas.openxmlformats.org/drawingml/2006/main">
            <a:srgbClr val="EAF2FF"/>
          </a:solidFill>
          <a:ln xmlns:a="http://schemas.openxmlformats.org/drawingml/2006/main" w="9525">
            <a:solidFill>
              <a:srgbClr val="1D4ED8"/>
            </a:solidFill>
            <a:prstDash val="solid"/>
          </a:ln>
        </p:spPr>
        <p:txBody>
          <a:bodyPr xmlns:a="http://schemas.openxmlformats.org/drawingml/2006/main" lIns="76200" tIns="38100" rIns="76200" bIns="38100" anchor="ctr">
            <a:normAutofit fontScale="96205"/>
          </a:bodyPr>
          <a:lstStyle xmlns:a="http://schemas.openxmlformats.org/drawingml/2006/main"/>
          <a:p xmlns:a="http://schemas.openxmlformats.org/drawingml/2006/main">
            <a:pPr algn="ctr">
              <a:lnSpc>
                <a:spcPct val="105000"/>
              </a:lnSpc>
              <a:buNone/>
              <a:defRPr sz="1050" b="1">
                <a:solidFill>
                  <a:srgbClr val="1D4ED8"/>
                </a:solidFill>
                <a:latin typeface="Arial"/>
                <a:ea typeface="Arial"/>
                <a:cs typeface="Arial"/>
              </a:defRPr>
            </a:pPr>
            <a:r>
              <a:rPr sz="1050" b="1">
                <a:solidFill>
                  <a:srgbClr val="1D4ED8"/>
                </a:solidFill>
                <a:latin typeface="Arial"/>
                <a:ea typeface="Arial"/>
                <a:cs typeface="Arial"/>
              </a:rPr>
              <a:t>CURRENT PLANNER SET</a:t>
            </a:r>
          </a:p>
        </p:txBody>
      </p:sp>
      <p:sp>
        <p:nvSpPr>
          <p:cNvPr id="15" name="">
            <a:extLst xmlns:a="http://schemas.openxmlformats.org/drawingml/2006/main">
              <a:ext uri="{FF2B5EF4-FFF2-40B4-BE49-F238E27FC236}">
                <a16:creationId xmlns:a16="http://schemas.microsoft.com/office/drawing/2014/main" id="{13013EF1-E103-4C1D-86BE-E78CFDCAF5D4}"/>
              </a:ext>
            </a:extLst>
          </p:cNvPr>
          <p:cNvSpPr>
            <a:spLocks xmlns:a="http://schemas.openxmlformats.org/drawingml/2006/main" noGrp="1"/>
          </p:cNvSpPr>
          <p:nvPr/>
        </p:nvSpPr>
        <p:spPr>
          <a:xfrm xmlns:a="http://schemas.openxmlformats.org/drawingml/2006/main">
            <a:off x="800100" y="4391025"/>
            <a:ext cx="4857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GridBased: nav2_smac_planner/SmacPlannerLattice</a:t>
            </a:r>
          </a:p>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ExactGoalLattice: project plugin for exact endpoints</a:t>
            </a:r>
          </a:p>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PrecisionGridBased: project PrecisionNavfnPlanner for docking</a:t>
            </a:r>
          </a:p>
        </p:txBody>
      </p:sp>
      <p:sp>
        <p:nvSpPr>
          <p:cNvPr id="16" name="">
            <a:extLst xmlns:a="http://schemas.openxmlformats.org/drawingml/2006/main">
              <a:ext uri="{FF2B5EF4-FFF2-40B4-BE49-F238E27FC236}">
                <a16:creationId xmlns:a16="http://schemas.microsoft.com/office/drawing/2014/main" id="{C3E5FD74-B14B-40AC-95E9-BFD5767C5AF9}"/>
              </a:ext>
            </a:extLst>
          </p:cNvPr>
          <p:cNvSpPr>
            <a:spLocks xmlns:a="http://schemas.openxmlformats.org/drawingml/2006/main" noGrp="1"/>
          </p:cNvSpPr>
          <p:nvPr/>
        </p:nvSpPr>
        <p:spPr>
          <a:xfrm xmlns:a="http://schemas.openxmlformats.org/drawingml/2006/main">
            <a:off x="6429375" y="3981450"/>
            <a:ext cx="1714500" cy="304800"/>
          </a:xfrm>
          <a:prstGeom xmlns:a="http://schemas.openxmlformats.org/drawingml/2006/main" prst="roundRect">
            <a:avLst>
              <a:gd name="adj" fmla="val 37500"/>
            </a:avLst>
          </a:prstGeom>
          <a:solidFill xmlns:a="http://schemas.openxmlformats.org/drawingml/2006/main">
            <a:srgbClr val="FFF1E8"/>
          </a:solidFill>
          <a:ln xmlns:a="http://schemas.openxmlformats.org/drawingml/2006/main" w="9525">
            <a:solidFill>
              <a:srgbClr val="C2410C"/>
            </a:solidFill>
            <a:prstDash val="solid"/>
          </a:ln>
        </p:spPr>
        <p:txBody>
          <a:bodyPr xmlns:a="http://schemas.openxmlformats.org/drawingml/2006/main" lIns="76200" tIns="38100" rIns="76200" bIns="38100" anchor="ctr">
            <a:normAutofit fontScale="96205"/>
          </a:bodyPr>
          <a:lstStyle xmlns:a="http://schemas.openxmlformats.org/drawingml/2006/main"/>
          <a:p xmlns:a="http://schemas.openxmlformats.org/drawingml/2006/main">
            <a:pPr algn="ctr">
              <a:lnSpc>
                <a:spcPct val="105000"/>
              </a:lnSpc>
              <a:buNone/>
              <a:defRPr sz="1050" b="1">
                <a:solidFill>
                  <a:srgbClr val="C2410C"/>
                </a:solidFill>
                <a:latin typeface="Arial"/>
                <a:ea typeface="Arial"/>
                <a:cs typeface="Arial"/>
              </a:defRPr>
            </a:pPr>
            <a:r>
              <a:rPr sz="1050" b="1">
                <a:solidFill>
                  <a:srgbClr val="C2410C"/>
                </a:solidFill>
                <a:latin typeface="Arial"/>
                <a:ea typeface="Arial"/>
                <a:cs typeface="Arial"/>
              </a:rPr>
              <a:t>BOUNDARY</a:t>
            </a:r>
          </a:p>
        </p:txBody>
      </p:sp>
      <p:sp>
        <p:nvSpPr>
          <p:cNvPr id="17" name="">
            <a:extLst xmlns:a="http://schemas.openxmlformats.org/drawingml/2006/main">
              <a:ext uri="{FF2B5EF4-FFF2-40B4-BE49-F238E27FC236}">
                <a16:creationId xmlns:a16="http://schemas.microsoft.com/office/drawing/2014/main" id="{892CFBBB-6C57-4799-883E-48A56D9C880D}"/>
              </a:ext>
            </a:extLst>
          </p:cNvPr>
          <p:cNvSpPr>
            <a:spLocks xmlns:a="http://schemas.openxmlformats.org/drawingml/2006/main" noGrp="1"/>
          </p:cNvSpPr>
          <p:nvPr/>
        </p:nvSpPr>
        <p:spPr>
          <a:xfrm xmlns:a="http://schemas.openxmlformats.org/drawingml/2006/main">
            <a:off x="6515100" y="4391025"/>
            <a:ext cx="4667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Nav2 requests motion through the controller output topic</a:t>
            </a:r>
          </a:p>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Command arbitration owns the accepted base command</a:t>
            </a:r>
          </a:p>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Stale or unsafe requests are rejected or stopped</a:t>
            </a:r>
          </a:p>
        </p:txBody>
      </p:sp>
      <p:sp>
        <p:nvSpPr>
          <p:cNvPr id="18" name="">
            <a:extLst xmlns:a="http://schemas.openxmlformats.org/drawingml/2006/main">
              <a:ext uri="{FF2B5EF4-FFF2-40B4-BE49-F238E27FC236}">
                <a16:creationId xmlns:a16="http://schemas.microsoft.com/office/drawing/2014/main" id="{9E722CA1-A03E-4ABC-853D-BD1F7B08613E}"/>
              </a:ext>
            </a:extLst>
          </p:cNvPr>
          <p:cNvSpPr>
            <a:spLocks xmlns:a="http://schemas.openxmlformats.org/drawingml/2006/main" noGrp="1"/>
          </p:cNvSpPr>
          <p:nvPr/>
        </p:nvSpPr>
        <p:spPr>
          <a:xfrm xmlns:a="http://schemas.openxmlformats.org/drawingml/2006/main">
            <a:off x="533400" y="6543675"/>
            <a:ext cx="1009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94A3B8"/>
                </a:solidFill>
                <a:latin typeface="Arial"/>
                <a:ea typeface="Arial"/>
                <a:cs typeface="Arial"/>
              </a:defRPr>
            </a:pPr>
            <a:r>
              <a:rPr sz="750" b="0">
                <a:solidFill>
                  <a:srgbClr val="94A3B8"/>
                </a:solidFill>
                <a:latin typeface="Arial"/>
                <a:ea typeface="Arial"/>
                <a:cs typeface="Arial"/>
              </a:rPr>
              <a:t>Sources: src/amr_navigation/config/planner.yaml; src/amr_mpc_controller/config/controller.yaml; src/amr_mission/src/mission_supervisor_node.cpp</a:t>
            </a:r>
          </a:p>
        </p:txBody>
      </p:sp>
      <p:sp>
        <p:nvSpPr>
          <p:cNvPr id="19" name="">
            <a:extLst xmlns:a="http://schemas.openxmlformats.org/drawingml/2006/main">
              <a:ext uri="{FF2B5EF4-FFF2-40B4-BE49-F238E27FC236}">
                <a16:creationId xmlns:a16="http://schemas.microsoft.com/office/drawing/2014/main" id="{9C295CA8-A6C2-4C7A-8C63-CA8982E3D46A}"/>
              </a:ext>
            </a:extLst>
          </p:cNvPr>
          <p:cNvSpPr>
            <a:spLocks xmlns:a="http://schemas.openxmlformats.org/drawingml/2006/main" noGrp="1"/>
          </p:cNvSpPr>
          <p:nvPr/>
        </p:nvSpPr>
        <p:spPr>
          <a:xfrm xmlns:a="http://schemas.openxmlformats.org/drawingml/2006/main">
            <a:off x="11191875" y="65151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10</a:t>
            </a:r>
          </a:p>
        </p:txBody>
      </p:sp>
    </p:spTree>
    <p:extLst>
      <p:ext uri="{BB962C8B-B14F-4D97-AF65-F5344CB8AC3E}">
        <p14:creationId xmlns:p14="http://schemas.microsoft.com/office/powerpoint/2010/main" val="141552065"/>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12E69D3-4379-439E-AB8B-8500F30EBC1C}"/>
              </a:ext>
            </a:extLst>
          </p:cNvPr>
          <p:cNvSpPr>
            <a:spLocks xmlns:a="http://schemas.openxmlformats.org/drawingml/2006/main" noGrp="1"/>
          </p:cNvSpPr>
          <p:nvPr/>
        </p:nvSpPr>
        <p:spPr>
          <a:xfrm xmlns:a="http://schemas.openxmlformats.org/drawingml/2006/main">
            <a:off x="552450" y="2286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AMR ROS 2 SOFTWARE ARCHITECTURE</a:t>
            </a:r>
          </a:p>
        </p:txBody>
      </p:sp>
      <p:sp>
        <p:nvSpPr>
          <p:cNvPr id="2" name="">
            <a:extLst xmlns:a="http://schemas.openxmlformats.org/drawingml/2006/main">
              <a:ext uri="{FF2B5EF4-FFF2-40B4-BE49-F238E27FC236}">
                <a16:creationId xmlns:a16="http://schemas.microsoft.com/office/drawing/2014/main" id="{D453ACBB-2588-4448-A0ED-85AE3A087A8C}"/>
              </a:ext>
            </a:extLst>
          </p:cNvPr>
          <p:cNvSpPr>
            <a:spLocks xmlns:a="http://schemas.openxmlformats.org/drawingml/2006/main" noGrp="1"/>
          </p:cNvSpPr>
          <p:nvPr/>
        </p:nvSpPr>
        <p:spPr>
          <a:xfrm xmlns:a="http://schemas.openxmlformats.org/drawingml/2006/main">
            <a:off x="533400" y="4095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325" b="1">
                <a:solidFill>
                  <a:srgbClr val="142735"/>
                </a:solidFill>
                <a:latin typeface="Arial"/>
                <a:ea typeface="Arial"/>
                <a:cs typeface="Arial"/>
              </a:defRPr>
            </a:pPr>
            <a:r>
              <a:rPr sz="2325" b="1">
                <a:solidFill>
                  <a:srgbClr val="142735"/>
                </a:solidFill>
                <a:latin typeface="Arial"/>
                <a:ea typeface="Arial"/>
                <a:cs typeface="Arial"/>
              </a:rPr>
              <a:t>RPP: regulated local control</a:t>
            </a:r>
          </a:p>
        </p:txBody>
      </p:sp>
      <p:sp>
        <p:nvSpPr>
          <p:cNvPr id="3" name="">
            <a:extLst xmlns:a="http://schemas.openxmlformats.org/drawingml/2006/main">
              <a:ext uri="{FF2B5EF4-FFF2-40B4-BE49-F238E27FC236}">
                <a16:creationId xmlns:a16="http://schemas.microsoft.com/office/drawing/2014/main" id="{67C83C8D-7A83-4FC1-BB3A-2440DD9E3AD3}"/>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122B8AB8-7238-4C84-825E-B1F5AFEBE7D2}"/>
              </a:ext>
            </a:extLst>
          </p:cNvPr>
          <p:cNvSpPr>
            <a:spLocks xmlns:a="http://schemas.openxmlformats.org/drawingml/2006/main" noGrp="1"/>
          </p:cNvSpPr>
          <p:nvPr/>
        </p:nvSpPr>
        <p:spPr>
          <a:xfrm xmlns:a="http://schemas.openxmlformats.org/drawingml/2006/main">
            <a:off x="609600" y="11620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14300" tIns="76200" rIns="114300" bIns="76200" anchor="t">
            <a:normAutofit fontScale="79365"/>
          </a:bodyPr>
          <a:lstStyle xmlns:a="http://schemas.openxmlformats.org/drawingml/2006/main"/>
          <a:p xmlns:a="http://schemas.openxmlformats.org/drawingml/2006/main">
            <a:pPr algn="l">
              <a:lnSpc>
                <a:spcPct val="105000"/>
              </a:lnSpc>
              <a:buNone/>
              <a:defRPr sz="1350" b="0">
                <a:solidFill>
                  <a:srgbClr val="52606D"/>
                </a:solidFill>
                <a:latin typeface="Arial"/>
                <a:ea typeface="Arial"/>
                <a:cs typeface="Arial"/>
              </a:defRPr>
            </a:pPr>
            <a:r>
              <a:rPr sz="1350" b="0">
                <a:solidFill>
                  <a:srgbClr val="52606D"/>
                </a:solidFill>
                <a:latin typeface="Arial"/>
                <a:ea typeface="Arial"/>
                <a:cs typeface="Arial"/>
              </a:rPr>
              <a:t>Regulated Pure Pursuit turns a planned path, the robot pose and local obstacle information into a bounded velocity request</a:t>
            </a:r>
          </a:p>
        </p:txBody>
      </p:sp>
      <p:sp>
        <p:nvSpPr>
          <p:cNvPr id="5" name="">
            <a:extLst xmlns:a="http://schemas.openxmlformats.org/drawingml/2006/main">
              <a:ext uri="{FF2B5EF4-FFF2-40B4-BE49-F238E27FC236}">
                <a16:creationId xmlns:a16="http://schemas.microsoft.com/office/drawing/2014/main" id="{B3EC46CC-B5BA-4C84-91C1-F6F9E4F1ACC3}"/>
              </a:ext>
            </a:extLst>
          </p:cNvPr>
          <p:cNvSpPr>
            <a:spLocks xmlns:a="http://schemas.openxmlformats.org/drawingml/2006/main" noGrp="1"/>
          </p:cNvSpPr>
          <p:nvPr/>
        </p:nvSpPr>
        <p:spPr>
          <a:xfrm xmlns:a="http://schemas.openxmlformats.org/drawingml/2006/main">
            <a:off x="609600" y="2381250"/>
            <a:ext cx="1428750" cy="590550"/>
          </a:xfrm>
          <a:prstGeom xmlns:a="http://schemas.openxmlformats.org/drawingml/2006/main" prst="roundRect">
            <a:avLst>
              <a:gd name="adj" fmla="val 19355"/>
            </a:avLst>
          </a:prstGeom>
          <a:solidFill xmlns:a="http://schemas.openxmlformats.org/drawingml/2006/main">
            <a:srgbClr val="EAF2FF"/>
          </a:solidFill>
          <a:ln xmlns:a="http://schemas.openxmlformats.org/drawingml/2006/main" w="9525">
            <a:solidFill>
              <a:srgbClr val="1D4ED8"/>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500" b="1">
                <a:solidFill>
                  <a:srgbClr val="1D4ED8"/>
                </a:solidFill>
                <a:latin typeface="Arial"/>
                <a:ea typeface="Arial"/>
                <a:cs typeface="Arial"/>
              </a:defRPr>
            </a:pPr>
            <a:r>
              <a:rPr sz="1500" b="1">
                <a:solidFill>
                  <a:srgbClr val="1D4ED8"/>
                </a:solidFill>
                <a:latin typeface="Arial"/>
                <a:ea typeface="Arial"/>
                <a:cs typeface="Arial"/>
              </a:rPr>
              <a:t>Path</a:t>
            </a:r>
          </a:p>
        </p:txBody>
      </p:sp>
      <p:sp>
        <p:nvSpPr>
          <p:cNvPr id="6" name="">
            <a:extLst xmlns:a="http://schemas.openxmlformats.org/drawingml/2006/main">
              <a:ext uri="{FF2B5EF4-FFF2-40B4-BE49-F238E27FC236}">
                <a16:creationId xmlns:a16="http://schemas.microsoft.com/office/drawing/2014/main" id="{CACAFE04-ED28-4C00-AAF2-E6876FFF6387}"/>
              </a:ext>
            </a:extLst>
          </p:cNvPr>
          <p:cNvSpPr>
            <a:spLocks xmlns:a="http://schemas.openxmlformats.org/drawingml/2006/main" noGrp="1"/>
          </p:cNvSpPr>
          <p:nvPr/>
        </p:nvSpPr>
        <p:spPr>
          <a:xfrm xmlns:a="http://schemas.openxmlformats.org/drawingml/2006/main">
            <a:off x="609600" y="3276600"/>
            <a:ext cx="1428750" cy="590550"/>
          </a:xfrm>
          <a:prstGeom xmlns:a="http://schemas.openxmlformats.org/drawingml/2006/main" prst="roundRect">
            <a:avLst>
              <a:gd name="adj" fmla="val 19355"/>
            </a:avLst>
          </a:prstGeom>
          <a:solidFill xmlns:a="http://schemas.openxmlformats.org/drawingml/2006/main">
            <a:srgbClr val="F1EAFE"/>
          </a:solidFill>
          <a:ln xmlns:a="http://schemas.openxmlformats.org/drawingml/2006/main" w="9525">
            <a:solidFill>
              <a:srgbClr val="6D28D9"/>
            </a:solidFill>
            <a:prstDash val="solid"/>
          </a:ln>
        </p:spPr>
        <p:txBody>
          <a:bodyPr xmlns:a="http://schemas.openxmlformats.org/drawingml/2006/main" lIns="114300" tIns="76200" rIns="114300" bIns="76200" anchor="ctr">
            <a:normAutofit fontScale="90969"/>
          </a:bodyPr>
          <a:lstStyle xmlns:a="http://schemas.openxmlformats.org/drawingml/2006/main"/>
          <a:p xmlns:a="http://schemas.openxmlformats.org/drawingml/2006/main">
            <a:pPr algn="ctr">
              <a:lnSpc>
                <a:spcPct val="105000"/>
              </a:lnSpc>
              <a:buNone/>
              <a:defRPr sz="1350" b="1">
                <a:solidFill>
                  <a:srgbClr val="6D28D9"/>
                </a:solidFill>
                <a:latin typeface="Arial"/>
                <a:ea typeface="Arial"/>
                <a:cs typeface="Arial"/>
              </a:defRPr>
            </a:pPr>
            <a:r>
              <a:rPr sz="1350" b="1">
                <a:solidFill>
                  <a:srgbClr val="6D28D9"/>
                </a:solidFill>
                <a:latin typeface="Arial"/>
                <a:ea typeface="Arial"/>
                <a:cs typeface="Arial"/>
              </a:rPr>
              <a:t>Pose + velocity</a:t>
            </a:r>
          </a:p>
        </p:txBody>
      </p:sp>
      <p:sp>
        <p:nvSpPr>
          <p:cNvPr id="7" name="">
            <a:extLst xmlns:a="http://schemas.openxmlformats.org/drawingml/2006/main">
              <a:ext uri="{FF2B5EF4-FFF2-40B4-BE49-F238E27FC236}">
                <a16:creationId xmlns:a16="http://schemas.microsoft.com/office/drawing/2014/main" id="{47F841D4-CB94-4A5D-9EFD-9B8B24E4336F}"/>
              </a:ext>
            </a:extLst>
          </p:cNvPr>
          <p:cNvSpPr>
            <a:spLocks xmlns:a="http://schemas.openxmlformats.org/drawingml/2006/main" noGrp="1"/>
          </p:cNvSpPr>
          <p:nvPr/>
        </p:nvSpPr>
        <p:spPr>
          <a:xfrm xmlns:a="http://schemas.openxmlformats.org/drawingml/2006/main">
            <a:off x="609600" y="4171950"/>
            <a:ext cx="1428750" cy="590550"/>
          </a:xfrm>
          <a:prstGeom xmlns:a="http://schemas.openxmlformats.org/drawingml/2006/main" prst="roundRect">
            <a:avLst>
              <a:gd name="adj" fmla="val 19355"/>
            </a:avLst>
          </a:prstGeom>
          <a:solidFill xmlns:a="http://schemas.openxmlformats.org/drawingml/2006/main">
            <a:srgbClr val="FFF1E8"/>
          </a:solidFill>
          <a:ln xmlns:a="http://schemas.openxmlformats.org/drawingml/2006/main" w="9525">
            <a:solidFill>
              <a:srgbClr val="C2410C"/>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350" b="1">
                <a:solidFill>
                  <a:srgbClr val="C2410C"/>
                </a:solidFill>
                <a:latin typeface="Arial"/>
                <a:ea typeface="Arial"/>
                <a:cs typeface="Arial"/>
              </a:defRPr>
            </a:pPr>
            <a:r>
              <a:rPr sz="1350" b="1">
                <a:solidFill>
                  <a:srgbClr val="C2410C"/>
                </a:solidFill>
                <a:latin typeface="Arial"/>
                <a:ea typeface="Arial"/>
                <a:cs typeface="Arial"/>
              </a:rPr>
              <a:t>Local cost</a:t>
            </a:r>
          </a:p>
        </p:txBody>
      </p:sp>
      <p:sp>
        <p:nvSpPr>
          <p:cNvPr id="8" name="">
            <a:extLst xmlns:a="http://schemas.openxmlformats.org/drawingml/2006/main">
              <a:ext uri="{FF2B5EF4-FFF2-40B4-BE49-F238E27FC236}">
                <a16:creationId xmlns:a16="http://schemas.microsoft.com/office/drawing/2014/main" id="{6212D44C-32C0-49E5-8CCF-10662ABDB6E2}"/>
              </a:ext>
            </a:extLst>
          </p:cNvPr>
          <p:cNvSpPr>
            <a:spLocks xmlns:a="http://schemas.openxmlformats.org/drawingml/2006/main" noGrp="1"/>
          </p:cNvSpPr>
          <p:nvPr/>
        </p:nvSpPr>
        <p:spPr>
          <a:xfrm xmlns:a="http://schemas.openxmlformats.org/drawingml/2006/main">
            <a:off x="3181350" y="2857500"/>
            <a:ext cx="3048000" cy="1409700"/>
          </a:xfrm>
          <a:prstGeom xmlns:a="http://schemas.openxmlformats.org/drawingml/2006/main" prst="roundRect">
            <a:avLst>
              <a:gd name="adj" fmla="val 8108"/>
            </a:avLst>
          </a:prstGeom>
          <a:solidFill xmlns:a="http://schemas.openxmlformats.org/drawingml/2006/main">
            <a:srgbClr val="123B5D"/>
          </a:solidFill>
          <a:ln xmlns:a="http://schemas.openxmlformats.org/drawingml/2006/main" w="9525">
            <a:solidFill>
              <a:srgbClr val="123B5D"/>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RPP</a:t>
            </a:r>
          </a:p>
          <a:p xmlns:a="http://schemas.openxmlformats.org/drawingml/2006/main">
            <a:pPr algn="ctr">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lookahead + curvature</a:t>
            </a:r>
          </a:p>
          <a:p xmlns:a="http://schemas.openxmlformats.org/drawingml/2006/main">
            <a:pPr algn="ctr">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collision and speed regulation</a:t>
            </a:r>
          </a:p>
        </p:txBody>
      </p:sp>
      <p:sp>
        <p:nvSpPr>
          <p:cNvPr id="9" name="">
            <a:extLst xmlns:a="http://schemas.openxmlformats.org/drawingml/2006/main">
              <a:ext uri="{FF2B5EF4-FFF2-40B4-BE49-F238E27FC236}">
                <a16:creationId xmlns:a16="http://schemas.microsoft.com/office/drawing/2014/main" id="{E9ECDB8D-38EE-48C5-9871-04ADDFDF7F2B}"/>
              </a:ext>
            </a:extLst>
          </p:cNvPr>
          <p:cNvSpPr>
            <a:spLocks xmlns:a="http://schemas.openxmlformats.org/drawingml/2006/main" noGrp="1"/>
          </p:cNvSpPr>
          <p:nvPr/>
        </p:nvSpPr>
        <p:spPr>
          <a:xfrm xmlns:a="http://schemas.openxmlformats.org/drawingml/2006/main">
            <a:off x="7429500" y="3171825"/>
            <a:ext cx="2762250" cy="781050"/>
          </a:xfrm>
          <a:prstGeom xmlns:a="http://schemas.openxmlformats.org/drawingml/2006/main" prst="roundRect">
            <a:avLst>
              <a:gd name="adj" fmla="val 14634"/>
            </a:avLst>
          </a:prstGeom>
          <a:solidFill xmlns:a="http://schemas.openxmlformats.org/drawingml/2006/main">
            <a:srgbClr val="E6FFFA"/>
          </a:solidFill>
          <a:ln xmlns:a="http://schemas.openxmlformats.org/drawingml/2006/main" w="14288">
            <a:solidFill>
              <a:srgbClr val="0F766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500" b="1">
                <a:solidFill>
                  <a:srgbClr val="0F766E"/>
                </a:solidFill>
                <a:latin typeface="Arial"/>
                <a:ea typeface="Arial"/>
                <a:cs typeface="Arial"/>
              </a:defRPr>
            </a:pPr>
            <a:r>
              <a:rPr sz="1500" b="1">
                <a:solidFill>
                  <a:srgbClr val="0F766E"/>
                </a:solidFill>
                <a:latin typeface="Arial"/>
                <a:ea typeface="Arial"/>
                <a:cs typeface="Arial"/>
              </a:rPr>
              <a:t>/amr/mpc/cmd_vel</a:t>
            </a:r>
          </a:p>
          <a:p xmlns:a="http://schemas.openxmlformats.org/drawingml/2006/main">
            <a:pPr algn="ctr">
              <a:lnSpc>
                <a:spcPct val="105000"/>
              </a:lnSpc>
              <a:buNone/>
              <a:defRPr sz="1500" b="1">
                <a:solidFill>
                  <a:srgbClr val="0F766E"/>
                </a:solidFill>
                <a:latin typeface="Arial"/>
                <a:ea typeface="Arial"/>
                <a:cs typeface="Arial"/>
              </a:defRPr>
            </a:pPr>
            <a:r>
              <a:rPr sz="1500" b="1">
                <a:solidFill>
                  <a:srgbClr val="0F766E"/>
                </a:solidFill>
                <a:latin typeface="Arial"/>
                <a:ea typeface="Arial"/>
                <a:cs typeface="Arial"/>
              </a:rPr>
              <a:t>Twist request</a:t>
            </a:r>
          </a:p>
        </p:txBody>
      </p:sp>
      <p:cxnSp>
        <p:nvCxnSpPr>
          <p:cNvPr id="42" name=""/>
          <p:cNvCxnSpPr>
            <a:stCxn xmlns:a="http://schemas.openxmlformats.org/drawingml/2006/main" id="5" idx="3"/>
            <a:endCxn xmlns:a="http://schemas.openxmlformats.org/drawingml/2006/main" id="8" idx="1"/>
          </p:cNvCxnSpPr>
          <p:nvPr/>
        </p:nvCxnSpPr>
        <p:spPr>
          <a:xfrm xmlns:a="http://schemas.openxmlformats.org/drawingml/2006/main">
            <a:off x="2038350" y="2676525"/>
            <a:ext cx="1143000" cy="885825"/>
          </a:xfrm>
          <a:prstGeom xmlns:a="http://schemas.openxmlformats.org/drawingml/2006/main" prst="straightConnector1">
            <a:avLst/>
          </a:prstGeom>
          <a:ln xmlns:a="http://schemas.openxmlformats.org/drawingml/2006/main" w="19050">
            <a:solidFill>
              <a:srgbClr val="1D4ED8"/>
            </a:solidFill>
            <a:prstDash val="solid"/>
            <a:headEnd type="none" w="med" len="med"/>
            <a:tailEnd type="arrow" w="sm" len="sm"/>
          </a:ln>
        </p:spPr>
      </p:cxn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flipV="1">
            <a:off x="2038350" y="3562350"/>
            <a:ext cx="1143000" cy="9525"/>
          </a:xfrm>
          <a:prstGeom xmlns:a="http://schemas.openxmlformats.org/drawingml/2006/main" prst="straightConnector1">
            <a:avLst/>
          </a:prstGeom>
          <a:ln xmlns:a="http://schemas.openxmlformats.org/drawingml/2006/main" w="19050">
            <a:solidFill>
              <a:srgbClr val="6D28D9"/>
            </a:solidFill>
            <a:prstDash val="solid"/>
            <a:headEnd type="none" w="med" len="med"/>
            <a:tailEnd type="arrow" w="sm" len="sm"/>
          </a:ln>
        </p:spPr>
      </p:cxnSp>
      <p:cxnSp>
        <p:nvCxnSpPr>
          <p:cNvPr id="44" name=""/>
          <p:cNvCxnSpPr>
            <a:stCxn xmlns:a="http://schemas.openxmlformats.org/drawingml/2006/main" id="7" idx="3"/>
            <a:endCxn xmlns:a="http://schemas.openxmlformats.org/drawingml/2006/main" id="8" idx="1"/>
          </p:cNvCxnSpPr>
          <p:nvPr/>
        </p:nvCxnSpPr>
        <p:spPr>
          <a:xfrm xmlns:a="http://schemas.openxmlformats.org/drawingml/2006/main" flipV="1">
            <a:off x="2038350" y="3562350"/>
            <a:ext cx="1143000" cy="904875"/>
          </a:xfrm>
          <a:prstGeom xmlns:a="http://schemas.openxmlformats.org/drawingml/2006/main" prst="straightConnector1">
            <a:avLst/>
          </a:prstGeom>
          <a:ln xmlns:a="http://schemas.openxmlformats.org/drawingml/2006/main" w="19050">
            <a:solidFill>
              <a:srgbClr val="C2410C"/>
            </a:solidFill>
            <a:prstDash val="solid"/>
            <a:headEnd type="none" w="med" len="med"/>
            <a:tailEnd type="arrow" w="sm" len="sm"/>
          </a:ln>
        </p:spPr>
      </p:cxnSp>
      <p:cxnSp>
        <p:nvCxnSpPr>
          <p:cNvPr id="45" name=""/>
          <p:cNvCxnSpPr>
            <a:stCxn xmlns:a="http://schemas.openxmlformats.org/drawingml/2006/main" id="8" idx="3"/>
            <a:endCxn xmlns:a="http://schemas.openxmlformats.org/drawingml/2006/main" id="9" idx="1"/>
          </p:cNvCxnSpPr>
          <p:nvPr/>
        </p:nvCxnSpPr>
        <p:spPr>
          <a:xfrm xmlns:a="http://schemas.openxmlformats.org/drawingml/2006/main">
            <a:off x="6229350" y="3562350"/>
            <a:ext cx="1200150" cy="0"/>
          </a:xfrm>
          <a:prstGeom xmlns:a="http://schemas.openxmlformats.org/drawingml/2006/main" prst="straightConnector1">
            <a:avLst/>
          </a:prstGeom>
          <a:ln xmlns:a="http://schemas.openxmlformats.org/drawingml/2006/main" w="19050">
            <a:solidFill>
              <a:srgbClr val="0F766E"/>
            </a:solidFill>
            <a:prstDash val="solid"/>
            <a:headEnd type="none" w="med" len="med"/>
            <a:tailEnd type="arrow" w="sm" len="sm"/>
          </a:ln>
        </p:spPr>
      </p:cxnSp>
      <p:sp>
        <p:nvSpPr>
          <p:cNvPr id="14" name="">
            <a:extLst xmlns:a="http://schemas.openxmlformats.org/drawingml/2006/main">
              <a:ext uri="{FF2B5EF4-FFF2-40B4-BE49-F238E27FC236}">
                <a16:creationId xmlns:a16="http://schemas.microsoft.com/office/drawing/2014/main" id="{3207AB7D-BCCE-4B26-936A-2D8A8A032818}"/>
              </a:ext>
            </a:extLst>
          </p:cNvPr>
          <p:cNvSpPr>
            <a:spLocks xmlns:a="http://schemas.openxmlformats.org/drawingml/2006/main" noGrp="1"/>
          </p:cNvSpPr>
          <p:nvPr/>
        </p:nvSpPr>
        <p:spPr>
          <a:xfrm xmlns:a="http://schemas.openxmlformats.org/drawingml/2006/main">
            <a:off x="609600" y="5381625"/>
            <a:ext cx="2286000" cy="304800"/>
          </a:xfrm>
          <a:prstGeom xmlns:a="http://schemas.openxmlformats.org/drawingml/2006/main" prst="roundRect">
            <a:avLst>
              <a:gd name="adj" fmla="val 37500"/>
            </a:avLst>
          </a:prstGeom>
          <a:solidFill xmlns:a="http://schemas.openxmlformats.org/drawingml/2006/main">
            <a:srgbClr val="E6FFFA"/>
          </a:solidFill>
          <a:ln xmlns:a="http://schemas.openxmlformats.org/drawingml/2006/main" w="9525">
            <a:solidFill>
              <a:srgbClr val="0F766E"/>
            </a:solidFill>
            <a:prstDash val="solid"/>
          </a:ln>
        </p:spPr>
        <p:txBody>
          <a:bodyPr xmlns:a="http://schemas.openxmlformats.org/drawingml/2006/main" lIns="76200" tIns="38100" rIns="76200" bIns="38100" anchor="ctr">
            <a:normAutofit fontScale="96205"/>
          </a:bodyPr>
          <a:lstStyle xmlns:a="http://schemas.openxmlformats.org/drawingml/2006/main"/>
          <a:p xmlns:a="http://schemas.openxmlformats.org/drawingml/2006/main">
            <a:pPr algn="ctr">
              <a:lnSpc>
                <a:spcPct val="105000"/>
              </a:lnSpc>
              <a:buNone/>
              <a:defRPr sz="1050" b="1">
                <a:solidFill>
                  <a:srgbClr val="0F766E"/>
                </a:solidFill>
                <a:latin typeface="Arial"/>
                <a:ea typeface="Arial"/>
                <a:cs typeface="Arial"/>
              </a:defRPr>
            </a:pPr>
            <a:r>
              <a:rPr sz="1050" b="1">
                <a:solidFill>
                  <a:srgbClr val="0F766E"/>
                </a:solidFill>
                <a:latin typeface="Arial"/>
                <a:ea typeface="Arial"/>
                <a:cs typeface="Arial"/>
              </a:rPr>
              <a:t>NORMAL FOLLOWPATH</a:t>
            </a:r>
          </a:p>
        </p:txBody>
      </p:sp>
      <p:sp>
        <p:nvSpPr>
          <p:cNvPr id="15" name="">
            <a:extLst xmlns:a="http://schemas.openxmlformats.org/drawingml/2006/main">
              <a:ext uri="{FF2B5EF4-FFF2-40B4-BE49-F238E27FC236}">
                <a16:creationId xmlns:a16="http://schemas.microsoft.com/office/drawing/2014/main" id="{2F38A9DA-BB1F-4512-9FB5-BA142541FA2C}"/>
              </a:ext>
            </a:extLst>
          </p:cNvPr>
          <p:cNvSpPr>
            <a:spLocks xmlns:a="http://schemas.openxmlformats.org/drawingml/2006/main" noGrp="1"/>
          </p:cNvSpPr>
          <p:nvPr/>
        </p:nvSpPr>
        <p:spPr>
          <a:xfrm xmlns:a="http://schemas.openxmlformats.org/drawingml/2006/main">
            <a:off x="3048000" y="5305425"/>
            <a:ext cx="8143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0">
                <a:solidFill>
                  <a:srgbClr val="142735"/>
                </a:solidFill>
                <a:latin typeface="Arial"/>
                <a:ea typeface="Arial"/>
                <a:cs typeface="Arial"/>
              </a:defRPr>
            </a:pPr>
            <a:r>
              <a:rPr sz="1125" b="0">
                <a:solidFill>
                  <a:srgbClr val="142735"/>
                </a:solidFill>
                <a:latin typeface="Arial"/>
                <a:ea typeface="Arial"/>
                <a:cs typeface="Arial"/>
              </a:rPr>
              <a:t>amr_mpc_controller::HeadingLatchedRPP</a:t>
            </a:r>
          </a:p>
          <a:p xmlns:a="http://schemas.openxmlformats.org/drawingml/2006/main">
            <a:pPr algn="l">
              <a:lnSpc>
                <a:spcPct val="105000"/>
              </a:lnSpc>
              <a:buNone/>
              <a:defRPr sz="1125" b="0">
                <a:solidFill>
                  <a:srgbClr val="142735"/>
                </a:solidFill>
                <a:latin typeface="Arial"/>
                <a:ea typeface="Arial"/>
                <a:cs typeface="Arial"/>
              </a:defRPr>
            </a:pPr>
            <a:r>
              <a:rPr sz="1125" b="0">
                <a:solidFill>
                  <a:srgbClr val="142735"/>
                </a:solidFill>
                <a:latin typeface="Arial"/>
                <a:ea typeface="Arial"/>
                <a:cs typeface="Arial"/>
              </a:rPr>
              <a:t>0.50 m/s • lookahead 0.30–0.90 m • 1.50 s</a:t>
            </a:r>
          </a:p>
        </p:txBody>
      </p:sp>
      <p:sp>
        <p:nvSpPr>
          <p:cNvPr id="16" name="">
            <a:extLst xmlns:a="http://schemas.openxmlformats.org/drawingml/2006/main">
              <a:ext uri="{FF2B5EF4-FFF2-40B4-BE49-F238E27FC236}">
                <a16:creationId xmlns:a16="http://schemas.microsoft.com/office/drawing/2014/main" id="{6DEEB3BA-D07C-415A-ACEE-BDC7748AD262}"/>
              </a:ext>
            </a:extLst>
          </p:cNvPr>
          <p:cNvSpPr>
            <a:spLocks xmlns:a="http://schemas.openxmlformats.org/drawingml/2006/main" noGrp="1"/>
          </p:cNvSpPr>
          <p:nvPr/>
        </p:nvSpPr>
        <p:spPr>
          <a:xfrm xmlns:a="http://schemas.openxmlformats.org/drawingml/2006/main">
            <a:off x="609600" y="5905500"/>
            <a:ext cx="2286000" cy="304800"/>
          </a:xfrm>
          <a:prstGeom xmlns:a="http://schemas.openxmlformats.org/drawingml/2006/main" prst="roundRect">
            <a:avLst>
              <a:gd name="adj" fmla="val 37500"/>
            </a:avLst>
          </a:prstGeom>
          <a:solidFill xmlns:a="http://schemas.openxmlformats.org/drawingml/2006/main">
            <a:srgbClr val="FFF1E8"/>
          </a:solidFill>
          <a:ln xmlns:a="http://schemas.openxmlformats.org/drawingml/2006/main" w="9525">
            <a:solidFill>
              <a:srgbClr val="C2410C"/>
            </a:solidFill>
            <a:prstDash val="solid"/>
          </a:ln>
        </p:spPr>
        <p:txBody>
          <a:bodyPr xmlns:a="http://schemas.openxmlformats.org/drawingml/2006/main" lIns="76200" tIns="38100" rIns="76200" bIns="38100" anchor="ctr">
            <a:normAutofit fontScale="96205"/>
          </a:bodyPr>
          <a:lstStyle xmlns:a="http://schemas.openxmlformats.org/drawingml/2006/main"/>
          <a:p xmlns:a="http://schemas.openxmlformats.org/drawingml/2006/main">
            <a:pPr algn="ctr">
              <a:lnSpc>
                <a:spcPct val="105000"/>
              </a:lnSpc>
              <a:buNone/>
              <a:defRPr sz="1050" b="1">
                <a:solidFill>
                  <a:srgbClr val="C2410C"/>
                </a:solidFill>
                <a:latin typeface="Arial"/>
                <a:ea typeface="Arial"/>
                <a:cs typeface="Arial"/>
              </a:defRPr>
            </a:pPr>
            <a:r>
              <a:rPr sz="1050" b="1">
                <a:solidFill>
                  <a:srgbClr val="C2410C"/>
                </a:solidFill>
                <a:latin typeface="Arial"/>
                <a:ea typeface="Arial"/>
                <a:cs typeface="Arial"/>
              </a:rPr>
              <a:t>PLACEMENT</a:t>
            </a:r>
          </a:p>
        </p:txBody>
      </p:sp>
      <p:sp>
        <p:nvSpPr>
          <p:cNvPr id="17" name="">
            <a:extLst xmlns:a="http://schemas.openxmlformats.org/drawingml/2006/main">
              <a:ext uri="{FF2B5EF4-FFF2-40B4-BE49-F238E27FC236}">
                <a16:creationId xmlns:a16="http://schemas.microsoft.com/office/drawing/2014/main" id="{7DE0F181-985F-41EB-9822-ABDCAF1CF5D7}"/>
              </a:ext>
            </a:extLst>
          </p:cNvPr>
          <p:cNvSpPr>
            <a:spLocks xmlns:a="http://schemas.openxmlformats.org/drawingml/2006/main" noGrp="1"/>
          </p:cNvSpPr>
          <p:nvPr/>
        </p:nvSpPr>
        <p:spPr>
          <a:xfrm xmlns:a="http://schemas.openxmlformats.org/drawingml/2006/main">
            <a:off x="3048000" y="5829300"/>
            <a:ext cx="8143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0">
                <a:solidFill>
                  <a:srgbClr val="142735"/>
                </a:solidFill>
                <a:latin typeface="Arial"/>
                <a:ea typeface="Arial"/>
                <a:cs typeface="Arial"/>
              </a:defRPr>
            </a:pPr>
            <a:r>
              <a:rPr sz="1125" b="0">
                <a:solidFill>
                  <a:srgbClr val="142735"/>
                </a:solidFill>
                <a:latin typeface="Arial"/>
                <a:ea typeface="Arial"/>
                <a:cs typeface="Arial"/>
              </a:rPr>
              <a:t>nav2_regulated_pure_pursuit_controller::RegulatedPurePursuitController</a:t>
            </a:r>
          </a:p>
          <a:p xmlns:a="http://schemas.openxmlformats.org/drawingml/2006/main">
            <a:pPr algn="l">
              <a:lnSpc>
                <a:spcPct val="105000"/>
              </a:lnSpc>
              <a:buNone/>
              <a:defRPr sz="1125" b="0">
                <a:solidFill>
                  <a:srgbClr val="142735"/>
                </a:solidFill>
                <a:latin typeface="Arial"/>
                <a:ea typeface="Arial"/>
                <a:cs typeface="Arial"/>
              </a:defRPr>
            </a:pPr>
            <a:r>
              <a:rPr sz="1125" b="0">
                <a:solidFill>
                  <a:srgbClr val="142735"/>
                </a:solidFill>
                <a:latin typeface="Arial"/>
                <a:ea typeface="Arial"/>
                <a:cs typeface="Arial"/>
              </a:rPr>
              <a:t>0.10 m/s • reversing allowed for precision placement</a:t>
            </a:r>
          </a:p>
        </p:txBody>
      </p:sp>
      <p:sp>
        <p:nvSpPr>
          <p:cNvPr id="18" name="">
            <a:extLst xmlns:a="http://schemas.openxmlformats.org/drawingml/2006/main">
              <a:ext uri="{FF2B5EF4-FFF2-40B4-BE49-F238E27FC236}">
                <a16:creationId xmlns:a16="http://schemas.microsoft.com/office/drawing/2014/main" id="{A6A3CFD6-54CB-4EAD-9668-E6E63AC261BC}"/>
              </a:ext>
            </a:extLst>
          </p:cNvPr>
          <p:cNvSpPr>
            <a:spLocks xmlns:a="http://schemas.openxmlformats.org/drawingml/2006/main" noGrp="1"/>
          </p:cNvSpPr>
          <p:nvPr/>
        </p:nvSpPr>
        <p:spPr>
          <a:xfrm xmlns:a="http://schemas.openxmlformats.org/drawingml/2006/main">
            <a:off x="533400" y="6543675"/>
            <a:ext cx="1009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94A3B8"/>
                </a:solidFill>
                <a:latin typeface="Arial"/>
                <a:ea typeface="Arial"/>
                <a:cs typeface="Arial"/>
              </a:defRPr>
            </a:pPr>
            <a:r>
              <a:rPr sz="750" b="0">
                <a:solidFill>
                  <a:srgbClr val="94A3B8"/>
                </a:solidFill>
                <a:latin typeface="Arial"/>
                <a:ea typeface="Arial"/>
                <a:cs typeface="Arial"/>
              </a:rPr>
              <a:t>Source: src/amr_mpc_controller/config/controller.yaml; src/amr_mpc_controller/include; src/amr_mpc_controller/src</a:t>
            </a:r>
          </a:p>
        </p:txBody>
      </p:sp>
      <p:sp>
        <p:nvSpPr>
          <p:cNvPr id="19" name="">
            <a:extLst xmlns:a="http://schemas.openxmlformats.org/drawingml/2006/main">
              <a:ext uri="{FF2B5EF4-FFF2-40B4-BE49-F238E27FC236}">
                <a16:creationId xmlns:a16="http://schemas.microsoft.com/office/drawing/2014/main" id="{0E088C2F-382E-48B5-A521-2C43265B8F48}"/>
              </a:ext>
            </a:extLst>
          </p:cNvPr>
          <p:cNvSpPr>
            <a:spLocks xmlns:a="http://schemas.openxmlformats.org/drawingml/2006/main" noGrp="1"/>
          </p:cNvSpPr>
          <p:nvPr/>
        </p:nvSpPr>
        <p:spPr>
          <a:xfrm xmlns:a="http://schemas.openxmlformats.org/drawingml/2006/main">
            <a:off x="11191875" y="65151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11</a:t>
            </a:r>
          </a:p>
        </p:txBody>
      </p:sp>
    </p:spTree>
    <p:extLst>
      <p:ext uri="{BB962C8B-B14F-4D97-AF65-F5344CB8AC3E}">
        <p14:creationId xmlns:p14="http://schemas.microsoft.com/office/powerpoint/2010/main" val="1950226043"/>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7830AB5-E84C-4955-8BF6-CFA71157DBE2}"/>
              </a:ext>
            </a:extLst>
          </p:cNvPr>
          <p:cNvSpPr>
            <a:spLocks xmlns:a="http://schemas.openxmlformats.org/drawingml/2006/main" noGrp="1"/>
          </p:cNvSpPr>
          <p:nvPr/>
        </p:nvSpPr>
        <p:spPr>
          <a:xfrm xmlns:a="http://schemas.openxmlformats.org/drawingml/2006/main">
            <a:off x="552450" y="2286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AMR ROS 2 SOFTWARE ARCHITECTURE</a:t>
            </a:r>
          </a:p>
        </p:txBody>
      </p:sp>
      <p:sp>
        <p:nvSpPr>
          <p:cNvPr id="2" name="">
            <a:extLst xmlns:a="http://schemas.openxmlformats.org/drawingml/2006/main">
              <a:ext uri="{FF2B5EF4-FFF2-40B4-BE49-F238E27FC236}">
                <a16:creationId xmlns:a16="http://schemas.microsoft.com/office/drawing/2014/main" id="{F00C10EE-72EA-4315-8BD5-DEC681B3D265}"/>
              </a:ext>
            </a:extLst>
          </p:cNvPr>
          <p:cNvSpPr>
            <a:spLocks xmlns:a="http://schemas.openxmlformats.org/drawingml/2006/main" noGrp="1"/>
          </p:cNvSpPr>
          <p:nvPr/>
        </p:nvSpPr>
        <p:spPr>
          <a:xfrm xmlns:a="http://schemas.openxmlformats.org/drawingml/2006/main">
            <a:off x="533400" y="4095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325" b="1">
                <a:solidFill>
                  <a:srgbClr val="142735"/>
                </a:solidFill>
                <a:latin typeface="Arial"/>
                <a:ea typeface="Arial"/>
                <a:cs typeface="Arial"/>
              </a:defRPr>
            </a:pPr>
            <a:r>
              <a:rPr sz="2325" b="1">
                <a:solidFill>
                  <a:srgbClr val="142735"/>
                </a:solidFill>
                <a:latin typeface="Arial"/>
                <a:ea typeface="Arial"/>
                <a:cs typeface="Arial"/>
              </a:rPr>
              <a:t>Global and local costmaps</a:t>
            </a:r>
          </a:p>
        </p:txBody>
      </p:sp>
      <p:sp>
        <p:nvSpPr>
          <p:cNvPr id="3" name="">
            <a:extLst xmlns:a="http://schemas.openxmlformats.org/drawingml/2006/main">
              <a:ext uri="{FF2B5EF4-FFF2-40B4-BE49-F238E27FC236}">
                <a16:creationId xmlns:a16="http://schemas.microsoft.com/office/drawing/2014/main" id="{05E8E1B8-5887-4BFE-811D-0EB98CE09209}"/>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928FA36F-2DBE-4B6B-A37C-EF222275A0F9}"/>
              </a:ext>
            </a:extLst>
          </p:cNvPr>
          <p:cNvSpPr>
            <a:spLocks xmlns:a="http://schemas.openxmlformats.org/drawingml/2006/main" noGrp="1"/>
          </p:cNvSpPr>
          <p:nvPr/>
        </p:nvSpPr>
        <p:spPr>
          <a:xfrm xmlns:a="http://schemas.openxmlformats.org/drawingml/2006/main">
            <a:off x="609600" y="11620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14300" tIns="76200" rIns="114300" bIns="76200" anchor="t">
            <a:normAutofit fontScale="79365"/>
          </a:bodyPr>
          <a:lstStyle xmlns:a="http://schemas.openxmlformats.org/drawingml/2006/main"/>
          <a:p xmlns:a="http://schemas.openxmlformats.org/drawingml/2006/main">
            <a:pPr algn="l">
              <a:lnSpc>
                <a:spcPct val="105000"/>
              </a:lnSpc>
              <a:buNone/>
              <a:defRPr sz="1350" b="0">
                <a:solidFill>
                  <a:srgbClr val="52606D"/>
                </a:solidFill>
                <a:latin typeface="Arial"/>
                <a:ea typeface="Arial"/>
                <a:cs typeface="Arial"/>
              </a:defRPr>
            </a:pPr>
            <a:r>
              <a:rPr sz="1350" b="0">
                <a:solidFill>
                  <a:srgbClr val="52606D"/>
                </a:solidFill>
                <a:latin typeface="Arial"/>
                <a:ea typeface="Arial"/>
                <a:cs typeface="Arial"/>
              </a:rPr>
              <a:t>Both costmaps model the same padded rectangular robot footprint. Their frames and update behavior match their job</a:t>
            </a:r>
          </a:p>
        </p:txBody>
      </p:sp>
      <p:graphicFrame>
        <p:nvGraphicFramePr>
          <p:cNvPr id="35" name=""/>
          <p:cNvGraphicFramePr/>
          <p:nvPr/>
        </p:nvGraphicFramePr>
        <p:xfrm>
          <a:off xmlns:a="http://schemas.openxmlformats.org/drawingml/2006/main" x="609600" y="1762125"/>
          <a:ext xmlns:a="http://schemas.openxmlformats.org/drawingml/2006/main" cx="6000750" cy="3333750"/>
        </p:xfrm>
        <a:graphic xmlns:a="http://schemas.openxmlformats.org/drawingml/2006/main">
          <a:graphicData uri="http://schemas.openxmlformats.org/drawingml/2006/table">
            <a:tbl>
              <a:tblPr/>
              <a:tblGrid>
                <a:gridCol w="1714500"/>
                <a:gridCol w="2143125"/>
                <a:gridCol w="2143125"/>
              </a:tblGrid>
              <a:tr h="555625">
                <a:tc>
                  <a:txBody>
                    <a:bodyPr>
                      <a:normAutofit/>
                    </a:bodyPr>
                    <a:lstStyle/>
                    <a:p>
                      <a:r>
                        <a:rPr sz="1125" b="1">
                          <a:solidFill>
                            <a:srgbClr val="FFFFFF"/>
                          </a:solidFill>
                          <a:latin typeface="Arial"/>
                          <a:ea typeface="Arial"/>
                          <a:cs typeface="Arial"/>
                        </a:rPr>
                        <a:t>Property</a:t>
                      </a:r>
                    </a:p>
                  </a:txBody>
                  <a:tcPr marL="91440" marR="91440" marT="45720" marB="45720" anchor="ctr">
                    <a:solidFill>
                      <a:srgbClr val="123B5D"/>
                    </a:solidFill>
                  </a:tcPr>
                </a:tc>
                <a:tc>
                  <a:txBody>
                    <a:bodyPr>
                      <a:normAutofit/>
                    </a:bodyPr>
                    <a:lstStyle/>
                    <a:p>
                      <a:r>
                        <a:rPr sz="1125" b="1">
                          <a:solidFill>
                            <a:srgbClr val="FFFFFF"/>
                          </a:solidFill>
                          <a:latin typeface="Arial"/>
                          <a:ea typeface="Arial"/>
                          <a:cs typeface="Arial"/>
                        </a:rPr>
                        <a:t>Global costmap</a:t>
                      </a:r>
                    </a:p>
                  </a:txBody>
                  <a:tcPr marL="91440" marR="91440" marT="45720" marB="45720" anchor="ctr">
                    <a:solidFill>
                      <a:srgbClr val="123B5D"/>
                    </a:solidFill>
                  </a:tcPr>
                </a:tc>
                <a:tc>
                  <a:txBody>
                    <a:bodyPr>
                      <a:normAutofit/>
                    </a:bodyPr>
                    <a:lstStyle/>
                    <a:p>
                      <a:r>
                        <a:rPr sz="1125" b="1">
                          <a:solidFill>
                            <a:srgbClr val="FFFFFF"/>
                          </a:solidFill>
                          <a:latin typeface="Arial"/>
                          <a:ea typeface="Arial"/>
                          <a:cs typeface="Arial"/>
                        </a:rPr>
                        <a:t>Local costmap</a:t>
                      </a:r>
                    </a:p>
                  </a:txBody>
                  <a:tcPr marL="91440" marR="91440" marT="45720" marB="45720" anchor="ctr">
                    <a:solidFill>
                      <a:srgbClr val="123B5D"/>
                    </a:solidFill>
                  </a:tcPr>
                </a:tc>
              </a:tr>
              <a:tr h="555625">
                <a:tc>
                  <a:txBody>
                    <a:bodyPr>
                      <a:normAutofit/>
                    </a:bodyPr>
                    <a:lstStyle/>
                    <a:p>
                      <a:r>
                        <a:rPr sz="1050" b="0">
                          <a:solidFill>
                            <a:srgbClr val="142735"/>
                          </a:solidFill>
                          <a:latin typeface="Arial"/>
                          <a:ea typeface="Arial"/>
                          <a:cs typeface="Arial"/>
                        </a:rPr>
                        <a:t>Frame</a:t>
                      </a:r>
                    </a:p>
                  </a:txBody>
                  <a:tcPr marL="91440" marR="91440" marT="45720" marB="45720" anchor="ctr">
                    <a:solidFill>
                      <a:srgbClr val="FFFFFF"/>
                    </a:solidFill>
                  </a:tcPr>
                </a:tc>
                <a:tc>
                  <a:txBody>
                    <a:bodyPr>
                      <a:normAutofit/>
                    </a:bodyPr>
                    <a:lstStyle/>
                    <a:p>
                      <a:r>
                        <a:rPr sz="1050" b="0">
                          <a:solidFill>
                            <a:srgbClr val="142735"/>
                          </a:solidFill>
                          <a:latin typeface="Arial"/>
                          <a:ea typeface="Arial"/>
                          <a:cs typeface="Arial"/>
                        </a:rPr>
                        <a:t>map</a:t>
                      </a:r>
                    </a:p>
                  </a:txBody>
                  <a:tcPr marL="91440" marR="91440" marT="45720" marB="45720" anchor="ctr">
                    <a:solidFill>
                      <a:srgbClr val="FFFFFF"/>
                    </a:solidFill>
                  </a:tcPr>
                </a:tc>
                <a:tc>
                  <a:txBody>
                    <a:bodyPr>
                      <a:normAutofit/>
                    </a:bodyPr>
                    <a:lstStyle/>
                    <a:p>
                      <a:r>
                        <a:rPr sz="1050" b="0">
                          <a:solidFill>
                            <a:srgbClr val="142735"/>
                          </a:solidFill>
                          <a:latin typeface="Arial"/>
                          <a:ea typeface="Arial"/>
                          <a:cs typeface="Arial"/>
                        </a:rPr>
                        <a:t>odom</a:t>
                      </a:r>
                    </a:p>
                  </a:txBody>
                  <a:tcPr marL="91440" marR="91440" marT="45720" marB="45720" anchor="ctr">
                    <a:solidFill>
                      <a:srgbClr val="FFFFFF"/>
                    </a:solidFill>
                  </a:tcPr>
                </a:tc>
              </a:tr>
              <a:tr h="555625">
                <a:tc>
                  <a:txBody>
                    <a:bodyPr>
                      <a:normAutofit/>
                    </a:bodyPr>
                    <a:lstStyle/>
                    <a:p>
                      <a:r>
                        <a:rPr sz="1050" b="0">
                          <a:solidFill>
                            <a:srgbClr val="142735"/>
                          </a:solidFill>
                          <a:latin typeface="Arial"/>
                          <a:ea typeface="Arial"/>
                          <a:cs typeface="Arial"/>
                        </a:rPr>
                        <a:t>Window</a:t>
                      </a:r>
                    </a:p>
                  </a:txBody>
                  <a:tcPr marL="91440" marR="91440" marT="45720" marB="45720" anchor="ctr">
                    <a:solidFill>
                      <a:srgbClr val="F1F5F9"/>
                    </a:solidFill>
                  </a:tcPr>
                </a:tc>
                <a:tc>
                  <a:txBody>
                    <a:bodyPr>
                      <a:normAutofit/>
                    </a:bodyPr>
                    <a:lstStyle/>
                    <a:p>
                      <a:r>
                        <a:rPr sz="1050" b="0">
                          <a:solidFill>
                            <a:srgbClr val="142735"/>
                          </a:solidFill>
                          <a:latin typeface="Arial"/>
                          <a:ea typeface="Arial"/>
                          <a:cs typeface="Arial"/>
                        </a:rPr>
                        <a:t>Global map</a:t>
                      </a:r>
                    </a:p>
                  </a:txBody>
                  <a:tcPr marL="91440" marR="91440" marT="45720" marB="45720" anchor="ctr">
                    <a:solidFill>
                      <a:srgbClr val="F1F5F9"/>
                    </a:solidFill>
                  </a:tcPr>
                </a:tc>
                <a:tc>
                  <a:txBody>
                    <a:bodyPr>
                      <a:normAutofit/>
                    </a:bodyPr>
                    <a:lstStyle/>
                    <a:p>
                      <a:r>
                        <a:rPr sz="1050" b="0">
                          <a:solidFill>
                            <a:srgbClr val="142735"/>
                          </a:solidFill>
                          <a:latin typeface="Arial"/>
                          <a:ea typeface="Arial"/>
                          <a:cs typeface="Arial"/>
                        </a:rPr>
                        <a:t>5 m × 5 m rolling window</a:t>
                      </a:r>
                    </a:p>
                  </a:txBody>
                  <a:tcPr marL="91440" marR="91440" marT="45720" marB="45720" anchor="ctr">
                    <a:solidFill>
                      <a:srgbClr val="F1F5F9"/>
                    </a:solidFill>
                  </a:tcPr>
                </a:tc>
              </a:tr>
              <a:tr h="555625">
                <a:tc>
                  <a:txBody>
                    <a:bodyPr>
                      <a:normAutofit/>
                    </a:bodyPr>
                    <a:lstStyle/>
                    <a:p>
                      <a:r>
                        <a:rPr sz="1050" b="0">
                          <a:solidFill>
                            <a:srgbClr val="142735"/>
                          </a:solidFill>
                          <a:latin typeface="Arial"/>
                          <a:ea typeface="Arial"/>
                          <a:cs typeface="Arial"/>
                        </a:rPr>
                        <a:t>Layers</a:t>
                      </a:r>
                    </a:p>
                  </a:txBody>
                  <a:tcPr marL="91440" marR="91440" marT="45720" marB="45720" anchor="ctr">
                    <a:solidFill>
                      <a:srgbClr val="FFFFFF"/>
                    </a:solidFill>
                  </a:tcPr>
                </a:tc>
                <a:tc>
                  <a:txBody>
                    <a:bodyPr>
                      <a:normAutofit/>
                    </a:bodyPr>
                    <a:lstStyle/>
                    <a:p>
                      <a:r>
                        <a:rPr sz="1050" b="0">
                          <a:solidFill>
                            <a:srgbClr val="142735"/>
                          </a:solidFill>
                          <a:latin typeface="Arial"/>
                          <a:ea typeface="Arial"/>
                          <a:cs typeface="Arial"/>
                        </a:rPr>
                        <a:t>Static map + obstacles + inflation</a:t>
                      </a:r>
                    </a:p>
                  </a:txBody>
                  <a:tcPr marL="91440" marR="91440" marT="45720" marB="45720" anchor="ctr">
                    <a:solidFill>
                      <a:srgbClr val="FFFFFF"/>
                    </a:solidFill>
                  </a:tcPr>
                </a:tc>
                <a:tc>
                  <a:txBody>
                    <a:bodyPr>
                      <a:normAutofit/>
                    </a:bodyPr>
                    <a:lstStyle/>
                    <a:p>
                      <a:r>
                        <a:rPr sz="1050" b="0">
                          <a:solidFill>
                            <a:srgbClr val="142735"/>
                          </a:solidFill>
                          <a:latin typeface="Arial"/>
                          <a:ea typeface="Arial"/>
                          <a:cs typeface="Arial"/>
                        </a:rPr>
                        <a:t>Obstacles + inflation</a:t>
                      </a:r>
                    </a:p>
                  </a:txBody>
                  <a:tcPr marL="91440" marR="91440" marT="45720" marB="45720" anchor="ctr">
                    <a:solidFill>
                      <a:srgbClr val="FFFFFF"/>
                    </a:solidFill>
                  </a:tcPr>
                </a:tc>
              </a:tr>
              <a:tr h="555625">
                <a:tc>
                  <a:txBody>
                    <a:bodyPr>
                      <a:normAutofit/>
                    </a:bodyPr>
                    <a:lstStyle/>
                    <a:p>
                      <a:r>
                        <a:rPr sz="1050" b="0">
                          <a:solidFill>
                            <a:srgbClr val="142735"/>
                          </a:solidFill>
                          <a:latin typeface="Arial"/>
                          <a:ea typeface="Arial"/>
                          <a:cs typeface="Arial"/>
                        </a:rPr>
                        <a:t>Update / publish</a:t>
                      </a:r>
                    </a:p>
                  </a:txBody>
                  <a:tcPr marL="91440" marR="91440" marT="45720" marB="45720" anchor="ctr">
                    <a:solidFill>
                      <a:srgbClr val="F1F5F9"/>
                    </a:solidFill>
                  </a:tcPr>
                </a:tc>
                <a:tc>
                  <a:txBody>
                    <a:bodyPr>
                      <a:normAutofit/>
                    </a:bodyPr>
                    <a:lstStyle/>
                    <a:p>
                      <a:r>
                        <a:rPr sz="1050" b="0">
                          <a:solidFill>
                            <a:srgbClr val="142735"/>
                          </a:solidFill>
                          <a:latin typeface="Arial"/>
                          <a:ea typeface="Arial"/>
                          <a:cs typeface="Arial"/>
                        </a:rPr>
                        <a:t>2 Hz / 1 Hz</a:t>
                      </a:r>
                    </a:p>
                  </a:txBody>
                  <a:tcPr marL="91440" marR="91440" marT="45720" marB="45720" anchor="ctr">
                    <a:solidFill>
                      <a:srgbClr val="F1F5F9"/>
                    </a:solidFill>
                  </a:tcPr>
                </a:tc>
                <a:tc>
                  <a:txBody>
                    <a:bodyPr>
                      <a:normAutofit/>
                    </a:bodyPr>
                    <a:lstStyle/>
                    <a:p>
                      <a:r>
                        <a:rPr sz="1050" b="0">
                          <a:solidFill>
                            <a:srgbClr val="142735"/>
                          </a:solidFill>
                          <a:latin typeface="Arial"/>
                          <a:ea typeface="Arial"/>
                          <a:cs typeface="Arial"/>
                        </a:rPr>
                        <a:t>5 Hz / 2 Hz</a:t>
                      </a:r>
                    </a:p>
                  </a:txBody>
                  <a:tcPr marL="91440" marR="91440" marT="45720" marB="45720" anchor="ctr">
                    <a:solidFill>
                      <a:srgbClr val="F1F5F9"/>
                    </a:solidFill>
                  </a:tcPr>
                </a:tc>
              </a:tr>
              <a:tr h="555625">
                <a:tc>
                  <a:txBody>
                    <a:bodyPr>
                      <a:normAutofit/>
                    </a:bodyPr>
                    <a:lstStyle/>
                    <a:p>
                      <a:r>
                        <a:rPr sz="1050" b="0">
                          <a:solidFill>
                            <a:srgbClr val="142735"/>
                          </a:solidFill>
                          <a:latin typeface="Arial"/>
                          <a:ea typeface="Arial"/>
                          <a:cs typeface="Arial"/>
                        </a:rPr>
                        <a:t>Sensors</a:t>
                      </a:r>
                    </a:p>
                  </a:txBody>
                  <a:tcPr marL="91440" marR="91440" marT="45720" marB="45720" anchor="ctr">
                    <a:solidFill>
                      <a:srgbClr val="FFFFFF"/>
                    </a:solidFill>
                  </a:tcPr>
                </a:tc>
                <a:tc>
                  <a:txBody>
                    <a:bodyPr>
                      <a:normAutofit/>
                    </a:bodyPr>
                    <a:lstStyle/>
                    <a:p>
                      <a:r>
                        <a:rPr sz="1050" b="0">
                          <a:solidFill>
                            <a:srgbClr val="142735"/>
                          </a:solidFill>
                          <a:latin typeface="Arial"/>
                          <a:ea typeface="Arial"/>
                          <a:cs typeface="Arial"/>
                        </a:rPr>
                        <a:t>Front + rear PointCloud2</a:t>
                      </a:r>
                    </a:p>
                  </a:txBody>
                  <a:tcPr marL="91440" marR="91440" marT="45720" marB="45720" anchor="ctr">
                    <a:solidFill>
                      <a:srgbClr val="FFFFFF"/>
                    </a:solidFill>
                  </a:tcPr>
                </a:tc>
                <a:tc>
                  <a:txBody>
                    <a:bodyPr>
                      <a:normAutofit/>
                    </a:bodyPr>
                    <a:lstStyle/>
                    <a:p>
                      <a:r>
                        <a:rPr sz="1050" b="0">
                          <a:solidFill>
                            <a:srgbClr val="142735"/>
                          </a:solidFill>
                          <a:latin typeface="Arial"/>
                          <a:ea typeface="Arial"/>
                          <a:cs typeface="Arial"/>
                        </a:rPr>
                        <a:t>Front + rear PointCloud2</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0FEDD79-672D-4C43-BA84-B30742207AB1}"/>
              </a:ext>
            </a:extLst>
          </p:cNvPr>
          <p:cNvSpPr>
            <a:spLocks xmlns:a="http://schemas.openxmlformats.org/drawingml/2006/main" noGrp="1"/>
          </p:cNvSpPr>
          <p:nvPr/>
        </p:nvSpPr>
        <p:spPr>
          <a:xfrm xmlns:a="http://schemas.openxmlformats.org/drawingml/2006/main">
            <a:off x="7239000" y="1762125"/>
            <a:ext cx="2333625" cy="304800"/>
          </a:xfrm>
          <a:prstGeom xmlns:a="http://schemas.openxmlformats.org/drawingml/2006/main" prst="roundRect">
            <a:avLst>
              <a:gd name="adj" fmla="val 37500"/>
            </a:avLst>
          </a:prstGeom>
          <a:solidFill xmlns:a="http://schemas.openxmlformats.org/drawingml/2006/main">
            <a:srgbClr val="FFF1E8"/>
          </a:solidFill>
          <a:ln xmlns:a="http://schemas.openxmlformats.org/drawingml/2006/main" w="9525">
            <a:solidFill>
              <a:srgbClr val="C2410C"/>
            </a:solidFill>
            <a:prstDash val="solid"/>
          </a:ln>
        </p:spPr>
        <p:txBody>
          <a:bodyPr xmlns:a="http://schemas.openxmlformats.org/drawingml/2006/main" lIns="76200" tIns="38100" rIns="76200" bIns="38100" anchor="ctr">
            <a:normAutofit fontScale="96205"/>
          </a:bodyPr>
          <a:lstStyle xmlns:a="http://schemas.openxmlformats.org/drawingml/2006/main"/>
          <a:p xmlns:a="http://schemas.openxmlformats.org/drawingml/2006/main">
            <a:pPr algn="ctr">
              <a:lnSpc>
                <a:spcPct val="105000"/>
              </a:lnSpc>
              <a:buNone/>
              <a:defRPr sz="1050" b="1">
                <a:solidFill>
                  <a:srgbClr val="C2410C"/>
                </a:solidFill>
                <a:latin typeface="Arial"/>
                <a:ea typeface="Arial"/>
                <a:cs typeface="Arial"/>
              </a:defRPr>
            </a:pPr>
            <a:r>
              <a:rPr sz="1050" b="1">
                <a:solidFill>
                  <a:srgbClr val="C2410C"/>
                </a:solidFill>
                <a:latin typeface="Arial"/>
                <a:ea typeface="Arial"/>
                <a:cs typeface="Arial"/>
              </a:rPr>
              <a:t>COST BUILD-UP</a:t>
            </a:r>
          </a:p>
        </p:txBody>
      </p:sp>
      <p:sp>
        <p:nvSpPr>
          <p:cNvPr id="7" name="">
            <a:extLst xmlns:a="http://schemas.openxmlformats.org/drawingml/2006/main">
              <a:ext uri="{FF2B5EF4-FFF2-40B4-BE49-F238E27FC236}">
                <a16:creationId xmlns:a16="http://schemas.microsoft.com/office/drawing/2014/main" id="{B4004EA4-F74A-41B0-BCF4-E65D6840DF34}"/>
              </a:ext>
            </a:extLst>
          </p:cNvPr>
          <p:cNvSpPr>
            <a:spLocks xmlns:a="http://schemas.openxmlformats.org/drawingml/2006/main" noGrp="1"/>
          </p:cNvSpPr>
          <p:nvPr/>
        </p:nvSpPr>
        <p:spPr>
          <a:xfrm xmlns:a="http://schemas.openxmlformats.org/drawingml/2006/main">
            <a:off x="7239000" y="2381250"/>
            <a:ext cx="1714500" cy="590550"/>
          </a:xfrm>
          <a:prstGeom xmlns:a="http://schemas.openxmlformats.org/drawingml/2006/main" prst="roundRect">
            <a:avLst>
              <a:gd name="adj" fmla="val 19355"/>
            </a:avLst>
          </a:prstGeom>
          <a:solidFill xmlns:a="http://schemas.openxmlformats.org/drawingml/2006/main">
            <a:srgbClr val="EAF2FF"/>
          </a:solidFill>
          <a:ln xmlns:a="http://schemas.openxmlformats.org/drawingml/2006/main" w="9525">
            <a:solidFill>
              <a:srgbClr val="1D4ED8"/>
            </a:solidFill>
            <a:prstDash val="solid"/>
          </a:ln>
        </p:spPr>
        <p:txBody>
          <a:bodyPr xmlns:a="http://schemas.openxmlformats.org/drawingml/2006/main" lIns="114300" tIns="76200" rIns="114300" bIns="76200" anchor="ctr">
            <a:normAutofit fontScale="96653"/>
          </a:bodyPr>
          <a:lstStyle xmlns:a="http://schemas.openxmlformats.org/drawingml/2006/main"/>
          <a:p xmlns:a="http://schemas.openxmlformats.org/drawingml/2006/main">
            <a:pPr algn="ctr">
              <a:lnSpc>
                <a:spcPct val="105000"/>
              </a:lnSpc>
              <a:buNone/>
              <a:defRPr sz="1200" b="1">
                <a:solidFill>
                  <a:srgbClr val="1D4ED8"/>
                </a:solidFill>
                <a:latin typeface="Arial"/>
                <a:ea typeface="Arial"/>
                <a:cs typeface="Arial"/>
              </a:defRPr>
            </a:pPr>
            <a:r>
              <a:rPr sz="1200" b="1">
                <a:solidFill>
                  <a:srgbClr val="1D4ED8"/>
                </a:solidFill>
                <a:latin typeface="Arial"/>
                <a:ea typeface="Arial"/>
                <a:cs typeface="Arial"/>
              </a:rPr>
              <a:t>Static map</a:t>
            </a:r>
          </a:p>
          <a:p xmlns:a="http://schemas.openxmlformats.org/drawingml/2006/main">
            <a:pPr algn="ctr">
              <a:lnSpc>
                <a:spcPct val="105000"/>
              </a:lnSpc>
              <a:buNone/>
              <a:defRPr sz="1200" b="1">
                <a:solidFill>
                  <a:srgbClr val="1D4ED8"/>
                </a:solidFill>
                <a:latin typeface="Arial"/>
                <a:ea typeface="Arial"/>
                <a:cs typeface="Arial"/>
              </a:defRPr>
            </a:pPr>
            <a:r>
              <a:rPr sz="1200" b="1">
                <a:solidFill>
                  <a:srgbClr val="1D4ED8"/>
                </a:solidFill>
                <a:latin typeface="Arial"/>
                <a:ea typeface="Arial"/>
                <a:cs typeface="Arial"/>
              </a:rPr>
              <a:t>(global only)</a:t>
            </a:r>
          </a:p>
        </p:txBody>
      </p:sp>
      <p:sp>
        <p:nvSpPr>
          <p:cNvPr id="8" name="">
            <a:extLst xmlns:a="http://schemas.openxmlformats.org/drawingml/2006/main">
              <a:ext uri="{FF2B5EF4-FFF2-40B4-BE49-F238E27FC236}">
                <a16:creationId xmlns:a16="http://schemas.microsoft.com/office/drawing/2014/main" id="{D3B1A39F-EE59-4DF1-88D6-08A3E3A20796}"/>
              </a:ext>
            </a:extLst>
          </p:cNvPr>
          <p:cNvSpPr>
            <a:spLocks xmlns:a="http://schemas.openxmlformats.org/drawingml/2006/main" noGrp="1"/>
          </p:cNvSpPr>
          <p:nvPr/>
        </p:nvSpPr>
        <p:spPr>
          <a:xfrm xmlns:a="http://schemas.openxmlformats.org/drawingml/2006/main">
            <a:off x="9286875" y="2381250"/>
            <a:ext cx="2095500" cy="590550"/>
          </a:xfrm>
          <a:prstGeom xmlns:a="http://schemas.openxmlformats.org/drawingml/2006/main" prst="roundRect">
            <a:avLst>
              <a:gd name="adj" fmla="val 19355"/>
            </a:avLst>
          </a:prstGeom>
          <a:solidFill xmlns:a="http://schemas.openxmlformats.org/drawingml/2006/main">
            <a:srgbClr val="E6FFFA"/>
          </a:solidFill>
          <a:ln xmlns:a="http://schemas.openxmlformats.org/drawingml/2006/main" w="9525">
            <a:solidFill>
              <a:srgbClr val="0F766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125" b="1">
                <a:solidFill>
                  <a:srgbClr val="0F766E"/>
                </a:solidFill>
                <a:latin typeface="Arial"/>
                <a:ea typeface="Arial"/>
                <a:cs typeface="Arial"/>
              </a:defRPr>
            </a:pPr>
            <a:r>
              <a:rPr sz="1125" b="1">
                <a:solidFill>
                  <a:srgbClr val="0F766E"/>
                </a:solidFill>
                <a:latin typeface="Arial"/>
                <a:ea typeface="Arial"/>
                <a:cs typeface="Arial"/>
              </a:rPr>
              <a:t>Obstacle layer</a:t>
            </a:r>
          </a:p>
          <a:p xmlns:a="http://schemas.openxmlformats.org/drawingml/2006/main">
            <a:pPr algn="ctr">
              <a:lnSpc>
                <a:spcPct val="105000"/>
              </a:lnSpc>
              <a:buNone/>
              <a:defRPr sz="1125" b="1">
                <a:solidFill>
                  <a:srgbClr val="0F766E"/>
                </a:solidFill>
                <a:latin typeface="Arial"/>
                <a:ea typeface="Arial"/>
                <a:cs typeface="Arial"/>
              </a:defRPr>
            </a:pPr>
            <a:r>
              <a:rPr sz="1125" b="1">
                <a:solidFill>
                  <a:srgbClr val="0F766E"/>
                </a:solidFill>
                <a:latin typeface="Arial"/>
                <a:ea typeface="Arial"/>
                <a:cs typeface="Arial"/>
              </a:rPr>
              <a:t>front_points + rear_points</a:t>
            </a:r>
          </a:p>
        </p:txBody>
      </p:sp>
      <p:sp>
        <p:nvSpPr>
          <p:cNvPr id="9" name="">
            <a:extLst xmlns:a="http://schemas.openxmlformats.org/drawingml/2006/main">
              <a:ext uri="{FF2B5EF4-FFF2-40B4-BE49-F238E27FC236}">
                <a16:creationId xmlns:a16="http://schemas.microsoft.com/office/drawing/2014/main" id="{49EA8E7D-588F-45B2-A457-3CF407E49B2B}"/>
              </a:ext>
            </a:extLst>
          </p:cNvPr>
          <p:cNvSpPr>
            <a:spLocks xmlns:a="http://schemas.openxmlformats.org/drawingml/2006/main" noGrp="1"/>
          </p:cNvSpPr>
          <p:nvPr/>
        </p:nvSpPr>
        <p:spPr>
          <a:xfrm xmlns:a="http://schemas.openxmlformats.org/drawingml/2006/main">
            <a:off x="8096250" y="3524250"/>
            <a:ext cx="2095500" cy="590550"/>
          </a:xfrm>
          <a:prstGeom xmlns:a="http://schemas.openxmlformats.org/drawingml/2006/main" prst="roundRect">
            <a:avLst>
              <a:gd name="adj" fmla="val 19355"/>
            </a:avLst>
          </a:prstGeom>
          <a:solidFill xmlns:a="http://schemas.openxmlformats.org/drawingml/2006/main">
            <a:srgbClr val="FFF1E8"/>
          </a:solidFill>
          <a:ln xmlns:a="http://schemas.openxmlformats.org/drawingml/2006/main" w="9525">
            <a:solidFill>
              <a:srgbClr val="C2410C"/>
            </a:solidFill>
            <a:prstDash val="solid"/>
          </a:ln>
        </p:spPr>
        <p:txBody>
          <a:bodyPr xmlns:a="http://schemas.openxmlformats.org/drawingml/2006/main" lIns="114300" tIns="76200" rIns="114300" bIns="76200" anchor="ctr">
            <a:normAutofit fontScale="90968"/>
          </a:bodyPr>
          <a:lstStyle xmlns:a="http://schemas.openxmlformats.org/drawingml/2006/main"/>
          <a:p xmlns:a="http://schemas.openxmlformats.org/drawingml/2006/main">
            <a:pPr algn="ctr">
              <a:lnSpc>
                <a:spcPct val="105000"/>
              </a:lnSpc>
              <a:buNone/>
              <a:defRPr sz="1275" b="1">
                <a:solidFill>
                  <a:srgbClr val="C2410C"/>
                </a:solidFill>
                <a:latin typeface="Arial"/>
                <a:ea typeface="Arial"/>
                <a:cs typeface="Arial"/>
              </a:defRPr>
            </a:pPr>
            <a:r>
              <a:rPr sz="1275" b="1">
                <a:solidFill>
                  <a:srgbClr val="C2410C"/>
                </a:solidFill>
                <a:latin typeface="Arial"/>
                <a:ea typeface="Arial"/>
                <a:cs typeface="Arial"/>
              </a:rPr>
              <a:t>Inflation</a:t>
            </a:r>
          </a:p>
          <a:p xmlns:a="http://schemas.openxmlformats.org/drawingml/2006/main">
            <a:pPr algn="ctr">
              <a:lnSpc>
                <a:spcPct val="105000"/>
              </a:lnSpc>
              <a:buNone/>
              <a:defRPr sz="1275" b="1">
                <a:solidFill>
                  <a:srgbClr val="C2410C"/>
                </a:solidFill>
                <a:latin typeface="Arial"/>
                <a:ea typeface="Arial"/>
                <a:cs typeface="Arial"/>
              </a:defRPr>
            </a:pPr>
            <a:r>
              <a:rPr sz="1275" b="1">
                <a:solidFill>
                  <a:srgbClr val="C2410C"/>
                </a:solidFill>
                <a:latin typeface="Arial"/>
                <a:ea typeface="Arial"/>
                <a:cs typeface="Arial"/>
              </a:rPr>
              <a:t>0.75 m, scale 3.0</a:t>
            </a:r>
          </a:p>
        </p:txBody>
      </p:sp>
      <p:sp>
        <p:nvSpPr>
          <p:cNvPr id="10" name="">
            <a:extLst xmlns:a="http://schemas.openxmlformats.org/drawingml/2006/main">
              <a:ext uri="{FF2B5EF4-FFF2-40B4-BE49-F238E27FC236}">
                <a16:creationId xmlns:a16="http://schemas.microsoft.com/office/drawing/2014/main" id="{59B218C2-E598-4CEC-933F-1EAE6A86A8E6}"/>
              </a:ext>
            </a:extLst>
          </p:cNvPr>
          <p:cNvSpPr>
            <a:spLocks xmlns:a="http://schemas.openxmlformats.org/drawingml/2006/main" noGrp="1"/>
          </p:cNvSpPr>
          <p:nvPr/>
        </p:nvSpPr>
        <p:spPr>
          <a:xfrm xmlns:a="http://schemas.openxmlformats.org/drawingml/2006/main">
            <a:off x="8096250" y="4667250"/>
            <a:ext cx="2095500" cy="590550"/>
          </a:xfrm>
          <a:prstGeom xmlns:a="http://schemas.openxmlformats.org/drawingml/2006/main" prst="roundRect">
            <a:avLst>
              <a:gd name="adj" fmla="val 19355"/>
            </a:avLst>
          </a:prstGeom>
          <a:solidFill xmlns:a="http://schemas.openxmlformats.org/drawingml/2006/main">
            <a:srgbClr val="0F172A"/>
          </a:solidFill>
          <a:ln xmlns:a="http://schemas.openxmlformats.org/drawingml/2006/main" w="0">
            <a:solidFill>
              <a:srgbClr val="0F172A"/>
            </a:solidFill>
            <a:prstDash val="solid"/>
          </a:ln>
        </p:spPr>
        <p:txBody>
          <a:bodyPr xmlns:a="http://schemas.openxmlformats.org/drawingml/2006/main" lIns="114300" tIns="76200" rIns="114300" bIns="76200" anchor="ctr">
            <a:normAutofit fontScale="90968"/>
          </a:bodyPr>
          <a:lstStyle xmlns:a="http://schemas.openxmlformats.org/drawingml/2006/main"/>
          <a:p xmlns:a="http://schemas.openxmlformats.org/drawingml/2006/main">
            <a:pPr algn="ctr">
              <a:lnSpc>
                <a:spcPct val="105000"/>
              </a:lnSpc>
              <a:buNone/>
              <a:defRPr sz="1275" b="1">
                <a:solidFill>
                  <a:srgbClr val="FFFFFF"/>
                </a:solidFill>
                <a:latin typeface="Arial"/>
                <a:ea typeface="Arial"/>
                <a:cs typeface="Arial"/>
              </a:defRPr>
            </a:pPr>
            <a:r>
              <a:rPr sz="1275" b="1">
                <a:solidFill>
                  <a:srgbClr val="FFFFFF"/>
                </a:solidFill>
                <a:latin typeface="Arial"/>
                <a:ea typeface="Arial"/>
                <a:cs typeface="Arial"/>
              </a:rPr>
              <a:t>Planner + controller</a:t>
            </a:r>
          </a:p>
          <a:p xmlns:a="http://schemas.openxmlformats.org/drawingml/2006/main">
            <a:pPr algn="ctr">
              <a:lnSpc>
                <a:spcPct val="105000"/>
              </a:lnSpc>
              <a:buNone/>
              <a:defRPr sz="1275" b="1">
                <a:solidFill>
                  <a:srgbClr val="FFFFFF"/>
                </a:solidFill>
                <a:latin typeface="Arial"/>
                <a:ea typeface="Arial"/>
                <a:cs typeface="Arial"/>
              </a:defRPr>
            </a:pPr>
            <a:r>
              <a:rPr sz="1275" b="1">
                <a:solidFill>
                  <a:srgbClr val="FFFFFF"/>
                </a:solidFill>
                <a:latin typeface="Arial"/>
                <a:ea typeface="Arial"/>
                <a:cs typeface="Arial"/>
              </a:rPr>
              <a:t>query cost and clearance</a:t>
            </a:r>
          </a:p>
        </p:txBody>
      </p:sp>
      <p:cxnSp>
        <p:nvCxnSpPr>
          <p:cNvPr id="41" name=""/>
          <p:cNvCxnSpPr>
            <a:stCxn xmlns:a="http://schemas.openxmlformats.org/drawingml/2006/main" id="7" idx="2"/>
            <a:endCxn xmlns:a="http://schemas.openxmlformats.org/drawingml/2006/main" id="9" idx="0"/>
          </p:cNvCxnSpPr>
          <p:nvPr/>
        </p:nvCxnSpPr>
        <p:spPr>
          <a:xfrm xmlns:a="http://schemas.openxmlformats.org/drawingml/2006/main">
            <a:off x="8096250" y="2971800"/>
            <a:ext cx="1047750" cy="552450"/>
          </a:xfrm>
          <a:prstGeom xmlns:a="http://schemas.openxmlformats.org/drawingml/2006/main" prst="straightConnector1">
            <a:avLst/>
          </a:prstGeom>
          <a:ln xmlns:a="http://schemas.openxmlformats.org/drawingml/2006/main" w="19050">
            <a:solidFill>
              <a:srgbClr val="1D4ED8"/>
            </a:solidFill>
            <a:prstDash val="solid"/>
            <a:headEnd type="none" w="med" len="med"/>
            <a:tailEnd type="arrow" w="sm" len="sm"/>
          </a:ln>
        </p:spPr>
      </p:cxnSp>
      <p:cxnSp>
        <p:nvCxnSpPr>
          <p:cNvPr id="42" name=""/>
          <p:cNvCxnSpPr>
            <a:stCxn xmlns:a="http://schemas.openxmlformats.org/drawingml/2006/main" id="8" idx="2"/>
            <a:endCxn xmlns:a="http://schemas.openxmlformats.org/drawingml/2006/main" id="9" idx="0"/>
          </p:cNvCxnSpPr>
          <p:nvPr/>
        </p:nvCxnSpPr>
        <p:spPr>
          <a:xfrm xmlns:a="http://schemas.openxmlformats.org/drawingml/2006/main" flipH="1">
            <a:off x="9144000" y="2971800"/>
            <a:ext cx="1190625" cy="552450"/>
          </a:xfrm>
          <a:prstGeom xmlns:a="http://schemas.openxmlformats.org/drawingml/2006/main" prst="straightConnector1">
            <a:avLst/>
          </a:prstGeom>
          <a:ln xmlns:a="http://schemas.openxmlformats.org/drawingml/2006/main" w="19050">
            <a:solidFill>
              <a:srgbClr val="0F766E"/>
            </a:solidFill>
            <a:prstDash val="solid"/>
            <a:headEnd type="none" w="med" len="med"/>
            <a:tailEnd type="arrow" w="sm" len="sm"/>
          </a:ln>
        </p:spPr>
      </p:cxnSp>
      <p:cxnSp>
        <p:nvCxnSpPr>
          <p:cNvPr id="43" name=""/>
          <p:cNvCxnSpPr>
            <a:stCxn xmlns:a="http://schemas.openxmlformats.org/drawingml/2006/main" id="9" idx="2"/>
            <a:endCxn xmlns:a="http://schemas.openxmlformats.org/drawingml/2006/main" id="10" idx="0"/>
          </p:cNvCxnSpPr>
          <p:nvPr/>
        </p:nvCxnSpPr>
        <p:spPr>
          <a:xfrm xmlns:a="http://schemas.openxmlformats.org/drawingml/2006/main">
            <a:off x="9144000" y="4114800"/>
            <a:ext cx="0" cy="552450"/>
          </a:xfrm>
          <a:prstGeom xmlns:a="http://schemas.openxmlformats.org/drawingml/2006/main" prst="straightConnector1">
            <a:avLst/>
          </a:prstGeom>
          <a:ln xmlns:a="http://schemas.openxmlformats.org/drawingml/2006/main" w="19050">
            <a:solidFill>
              <a:srgbClr val="C2410C"/>
            </a:solidFill>
            <a:prstDash val="solid"/>
            <a:headEnd type="none" w="med" len="med"/>
            <a:tailEnd type="arrow" w="sm" len="sm"/>
          </a:ln>
        </p:spPr>
      </p:cxnSp>
      <p:sp>
        <p:nvSpPr>
          <p:cNvPr id="14" name="">
            <a:extLst xmlns:a="http://schemas.openxmlformats.org/drawingml/2006/main">
              <a:ext uri="{FF2B5EF4-FFF2-40B4-BE49-F238E27FC236}">
                <a16:creationId xmlns:a16="http://schemas.microsoft.com/office/drawing/2014/main" id="{F5CDBA2B-652B-42D8-97F8-906AB0EF5453}"/>
              </a:ext>
            </a:extLst>
          </p:cNvPr>
          <p:cNvSpPr>
            <a:spLocks xmlns:a="http://schemas.openxmlformats.org/drawingml/2006/main" noGrp="1"/>
          </p:cNvSpPr>
          <p:nvPr/>
        </p:nvSpPr>
        <p:spPr>
          <a:xfrm xmlns:a="http://schemas.openxmlformats.org/drawingml/2006/main">
            <a:off x="6858000" y="5572125"/>
            <a:ext cx="4429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114300" tIns="76200" rIns="114300" bIns="76200" anchor="ctr">
            <a:normAutofit fontScale="81933"/>
          </a:bodyPr>
          <a:lstStyle xmlns:a="http://schemas.openxmlformats.org/drawingml/2006/main"/>
          <a:p xmlns:a="http://schemas.openxmlformats.org/drawingml/2006/main">
            <a:pPr algn="ctr">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Footprint: x ±0.60 m, y ±0.40 m, padding 0.01 m</a:t>
            </a:r>
          </a:p>
          <a:p xmlns:a="http://schemas.openxmlformats.org/drawingml/2006/main">
            <a:pPr algn="ctr">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Resolution: 0.05 m</a:t>
            </a:r>
          </a:p>
        </p:txBody>
      </p:sp>
      <p:sp>
        <p:nvSpPr>
          <p:cNvPr id="15" name="">
            <a:extLst xmlns:a="http://schemas.openxmlformats.org/drawingml/2006/main">
              <a:ext uri="{FF2B5EF4-FFF2-40B4-BE49-F238E27FC236}">
                <a16:creationId xmlns:a16="http://schemas.microsoft.com/office/drawing/2014/main" id="{C74FC00C-15A3-47B9-BAD7-7BCDEF9D819C}"/>
              </a:ext>
            </a:extLst>
          </p:cNvPr>
          <p:cNvSpPr>
            <a:spLocks xmlns:a="http://schemas.openxmlformats.org/drawingml/2006/main" noGrp="1"/>
          </p:cNvSpPr>
          <p:nvPr/>
        </p:nvSpPr>
        <p:spPr>
          <a:xfrm xmlns:a="http://schemas.openxmlformats.org/drawingml/2006/main">
            <a:off x="533400" y="6543675"/>
            <a:ext cx="1009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94A3B8"/>
                </a:solidFill>
                <a:latin typeface="Arial"/>
                <a:ea typeface="Arial"/>
                <a:cs typeface="Arial"/>
              </a:defRPr>
            </a:pPr>
            <a:r>
              <a:rPr sz="750" b="0">
                <a:solidFill>
                  <a:srgbClr val="94A3B8"/>
                </a:solidFill>
                <a:latin typeface="Arial"/>
                <a:ea typeface="Arial"/>
                <a:cs typeface="Arial"/>
              </a:rPr>
              <a:t>Source: src/amr_navigation/config/planner.yaml; src/amr_mpc_controller/config/controller.yaml</a:t>
            </a:r>
          </a:p>
        </p:txBody>
      </p:sp>
      <p:sp>
        <p:nvSpPr>
          <p:cNvPr id="16" name="">
            <a:extLst xmlns:a="http://schemas.openxmlformats.org/drawingml/2006/main">
              <a:ext uri="{FF2B5EF4-FFF2-40B4-BE49-F238E27FC236}">
                <a16:creationId xmlns:a16="http://schemas.microsoft.com/office/drawing/2014/main" id="{6730F93E-FE44-4834-BC2E-2053A4BC453E}"/>
              </a:ext>
            </a:extLst>
          </p:cNvPr>
          <p:cNvSpPr>
            <a:spLocks xmlns:a="http://schemas.openxmlformats.org/drawingml/2006/main" noGrp="1"/>
          </p:cNvSpPr>
          <p:nvPr/>
        </p:nvSpPr>
        <p:spPr>
          <a:xfrm xmlns:a="http://schemas.openxmlformats.org/drawingml/2006/main">
            <a:off x="11191875" y="65151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12</a:t>
            </a:r>
          </a:p>
        </p:txBody>
      </p:sp>
    </p:spTree>
    <p:extLst>
      <p:ext uri="{BB962C8B-B14F-4D97-AF65-F5344CB8AC3E}">
        <p14:creationId xmlns:p14="http://schemas.microsoft.com/office/powerpoint/2010/main" val="25576955"/>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FC2EAE7-669A-430D-947C-1CF56DF6F68C}"/>
              </a:ext>
            </a:extLst>
          </p:cNvPr>
          <p:cNvSpPr>
            <a:spLocks xmlns:a="http://schemas.openxmlformats.org/drawingml/2006/main" noGrp="1"/>
          </p:cNvSpPr>
          <p:nvPr/>
        </p:nvSpPr>
        <p:spPr>
          <a:xfrm xmlns:a="http://schemas.openxmlformats.org/drawingml/2006/main">
            <a:off x="552450" y="2286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AMR ROS 2 SOFTWARE ARCHITECTURE</a:t>
            </a:r>
          </a:p>
        </p:txBody>
      </p:sp>
      <p:sp>
        <p:nvSpPr>
          <p:cNvPr id="2" name="">
            <a:extLst xmlns:a="http://schemas.openxmlformats.org/drawingml/2006/main">
              <a:ext uri="{FF2B5EF4-FFF2-40B4-BE49-F238E27FC236}">
                <a16:creationId xmlns:a16="http://schemas.microsoft.com/office/drawing/2014/main" id="{8308C21C-7FEA-43B6-8FAE-21BC474AD58B}"/>
              </a:ext>
            </a:extLst>
          </p:cNvPr>
          <p:cNvSpPr>
            <a:spLocks xmlns:a="http://schemas.openxmlformats.org/drawingml/2006/main" noGrp="1"/>
          </p:cNvSpPr>
          <p:nvPr/>
        </p:nvSpPr>
        <p:spPr>
          <a:xfrm xmlns:a="http://schemas.openxmlformats.org/drawingml/2006/main">
            <a:off x="533400" y="4095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325" b="1">
                <a:solidFill>
                  <a:srgbClr val="142735"/>
                </a:solidFill>
                <a:latin typeface="Arial"/>
                <a:ea typeface="Arial"/>
                <a:cs typeface="Arial"/>
              </a:defRPr>
            </a:pPr>
            <a:r>
              <a:rPr sz="2325" b="1">
                <a:solidFill>
                  <a:srgbClr val="142735"/>
                </a:solidFill>
                <a:latin typeface="Arial"/>
                <a:ea typeface="Arial"/>
                <a:cs typeface="Arial"/>
              </a:rPr>
              <a:t>Command path and safety gates</a:t>
            </a:r>
          </a:p>
        </p:txBody>
      </p:sp>
      <p:sp>
        <p:nvSpPr>
          <p:cNvPr id="3" name="">
            <a:extLst xmlns:a="http://schemas.openxmlformats.org/drawingml/2006/main">
              <a:ext uri="{FF2B5EF4-FFF2-40B4-BE49-F238E27FC236}">
                <a16:creationId xmlns:a16="http://schemas.microsoft.com/office/drawing/2014/main" id="{19259E2D-E25D-4AEA-98B2-38713677FFE8}"/>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A62915C9-0D8A-4435-B1B3-A59312C69A11}"/>
              </a:ext>
            </a:extLst>
          </p:cNvPr>
          <p:cNvSpPr>
            <a:spLocks xmlns:a="http://schemas.openxmlformats.org/drawingml/2006/main" noGrp="1"/>
          </p:cNvSpPr>
          <p:nvPr/>
        </p:nvSpPr>
        <p:spPr>
          <a:xfrm xmlns:a="http://schemas.openxmlformats.org/drawingml/2006/main">
            <a:off x="609600" y="11620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14300" tIns="76200" rIns="114300" bIns="76200" anchor="t">
            <a:normAutofit fontScale="79365"/>
          </a:bodyPr>
          <a:lstStyle xmlns:a="http://schemas.openxmlformats.org/drawingml/2006/main"/>
          <a:p xmlns:a="http://schemas.openxmlformats.org/drawingml/2006/main">
            <a:pPr algn="l">
              <a:lnSpc>
                <a:spcPct val="105000"/>
              </a:lnSpc>
              <a:buNone/>
              <a:defRPr sz="1350" b="0">
                <a:solidFill>
                  <a:srgbClr val="52606D"/>
                </a:solidFill>
                <a:latin typeface="Arial"/>
                <a:ea typeface="Arial"/>
                <a:cs typeface="Arial"/>
              </a:defRPr>
            </a:pPr>
            <a:r>
              <a:rPr sz="1350" b="0">
                <a:solidFill>
                  <a:srgbClr val="52606D"/>
                </a:solidFill>
                <a:latin typeface="Arial"/>
                <a:ea typeface="Arial"/>
                <a:cs typeface="Arial"/>
              </a:rPr>
              <a:t>The base accepts motion only after the request passes the project-owned arbitration and adapter boundaries</a:t>
            </a:r>
          </a:p>
        </p:txBody>
      </p:sp>
      <p:sp>
        <p:nvSpPr>
          <p:cNvPr id="5" name="">
            <a:extLst xmlns:a="http://schemas.openxmlformats.org/drawingml/2006/main">
              <a:ext uri="{FF2B5EF4-FFF2-40B4-BE49-F238E27FC236}">
                <a16:creationId xmlns:a16="http://schemas.microsoft.com/office/drawing/2014/main" id="{10850947-A75E-484F-BF4B-05B32309CC5F}"/>
              </a:ext>
            </a:extLst>
          </p:cNvPr>
          <p:cNvSpPr>
            <a:spLocks xmlns:a="http://schemas.openxmlformats.org/drawingml/2006/main" noGrp="1"/>
          </p:cNvSpPr>
          <p:nvPr/>
        </p:nvSpPr>
        <p:spPr>
          <a:xfrm xmlns:a="http://schemas.openxmlformats.org/drawingml/2006/main">
            <a:off x="647700" y="2305050"/>
            <a:ext cx="2286000" cy="1028700"/>
          </a:xfrm>
          <a:prstGeom xmlns:a="http://schemas.openxmlformats.org/drawingml/2006/main" prst="roundRect">
            <a:avLst>
              <a:gd name="adj" fmla="val 11111"/>
            </a:avLst>
          </a:prstGeom>
          <a:solidFill xmlns:a="http://schemas.openxmlformats.org/drawingml/2006/main">
            <a:srgbClr val="E6FFFA"/>
          </a:solidFill>
          <a:ln xmlns:a="http://schemas.openxmlformats.org/drawingml/2006/main" w="14288">
            <a:solidFill>
              <a:srgbClr val="0F766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RPP</a:t>
            </a:r>
          </a:p>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Twist</a:t>
            </a:r>
          </a:p>
        </p:txBody>
      </p:sp>
      <p:sp>
        <p:nvSpPr>
          <p:cNvPr id="6" name="">
            <a:extLst xmlns:a="http://schemas.openxmlformats.org/drawingml/2006/main">
              <a:ext uri="{FF2B5EF4-FFF2-40B4-BE49-F238E27FC236}">
                <a16:creationId xmlns:a16="http://schemas.microsoft.com/office/drawing/2014/main" id="{996E6880-F341-411A-851E-5910F004A4F0}"/>
              </a:ext>
            </a:extLst>
          </p:cNvPr>
          <p:cNvSpPr>
            <a:spLocks xmlns:a="http://schemas.openxmlformats.org/drawingml/2006/main" noGrp="1"/>
          </p:cNvSpPr>
          <p:nvPr/>
        </p:nvSpPr>
        <p:spPr>
          <a:xfrm xmlns:a="http://schemas.openxmlformats.org/drawingml/2006/main">
            <a:off x="3333750" y="2305050"/>
            <a:ext cx="2286000" cy="1028700"/>
          </a:xfrm>
          <a:prstGeom xmlns:a="http://schemas.openxmlformats.org/drawingml/2006/main" prst="roundRect">
            <a:avLst>
              <a:gd name="adj" fmla="val 11111"/>
            </a:avLst>
          </a:prstGeom>
          <a:solidFill xmlns:a="http://schemas.openxmlformats.org/drawingml/2006/main">
            <a:srgbClr val="EAF2FF"/>
          </a:solidFill>
          <a:ln xmlns:a="http://schemas.openxmlformats.org/drawingml/2006/main" w="14288">
            <a:solidFill>
              <a:srgbClr val="1D4ED8"/>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Arbitration</a:t>
            </a:r>
          </a:p>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TwistStamped</a:t>
            </a:r>
          </a:p>
        </p:txBody>
      </p:sp>
      <p:cxnSp>
        <p:nvCxnSpPr>
          <p:cNvPr id="43" name=""/>
          <p:cNvCxnSpPr>
            <a:stCxn xmlns:a="http://schemas.openxmlformats.org/drawingml/2006/main" id="5" idx="3"/>
            <a:endCxn xmlns:a="http://schemas.openxmlformats.org/drawingml/2006/main" id="6" idx="1"/>
          </p:cNvCxnSpPr>
          <p:nvPr/>
        </p:nvCxnSpPr>
        <p:spPr>
          <a:xfrm xmlns:a="http://schemas.openxmlformats.org/drawingml/2006/main">
            <a:off x="2933700" y="2819400"/>
            <a:ext cx="400050"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8" name="">
            <a:extLst xmlns:a="http://schemas.openxmlformats.org/drawingml/2006/main">
              <a:ext uri="{FF2B5EF4-FFF2-40B4-BE49-F238E27FC236}">
                <a16:creationId xmlns:a16="http://schemas.microsoft.com/office/drawing/2014/main" id="{5BFEAB9F-66DA-4442-97BC-5919499DA1A6}"/>
              </a:ext>
            </a:extLst>
          </p:cNvPr>
          <p:cNvSpPr>
            <a:spLocks xmlns:a="http://schemas.openxmlformats.org/drawingml/2006/main" noGrp="1"/>
          </p:cNvSpPr>
          <p:nvPr/>
        </p:nvSpPr>
        <p:spPr>
          <a:xfrm xmlns:a="http://schemas.openxmlformats.org/drawingml/2006/main">
            <a:off x="6019800" y="2305050"/>
            <a:ext cx="2286000" cy="1028700"/>
          </a:xfrm>
          <a:prstGeom xmlns:a="http://schemas.openxmlformats.org/drawingml/2006/main" prst="roundRect">
            <a:avLst>
              <a:gd name="adj" fmla="val 11111"/>
            </a:avLst>
          </a:prstGeom>
          <a:solidFill xmlns:a="http://schemas.openxmlformats.org/drawingml/2006/main">
            <a:srgbClr val="F1EAFE"/>
          </a:solidFill>
          <a:ln xmlns:a="http://schemas.openxmlformats.org/drawingml/2006/main" w="14288">
            <a:solidFill>
              <a:srgbClr val="6D28D9"/>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050" b="1">
                <a:solidFill>
                  <a:srgbClr val="142735"/>
                </a:solidFill>
                <a:latin typeface="Arial"/>
                <a:ea typeface="Arial"/>
                <a:cs typeface="Arial"/>
              </a:defRPr>
            </a:pPr>
            <a:r>
              <a:rPr sz="1050" b="1">
                <a:solidFill>
                  <a:srgbClr val="142735"/>
                </a:solidFill>
                <a:latin typeface="Arial"/>
                <a:ea typeface="Arial"/>
                <a:cs typeface="Arial"/>
              </a:rPr>
              <a:t>Base adapter</a:t>
            </a:r>
          </a:p>
          <a:p xmlns:a="http://schemas.openxmlformats.org/drawingml/2006/main">
            <a:pPr algn="ctr">
              <a:lnSpc>
                <a:spcPct val="105000"/>
              </a:lnSpc>
              <a:buNone/>
              <a:defRPr sz="1050" b="1">
                <a:solidFill>
                  <a:srgbClr val="142735"/>
                </a:solidFill>
                <a:latin typeface="Arial"/>
                <a:ea typeface="Arial"/>
                <a:cs typeface="Arial"/>
              </a:defRPr>
            </a:pPr>
            <a:r>
              <a:rPr sz="1050" b="1">
                <a:solidFill>
                  <a:srgbClr val="142735"/>
                </a:solidFill>
                <a:latin typeface="Arial"/>
                <a:ea typeface="Arial"/>
                <a:cs typeface="Arial"/>
              </a:rPr>
              <a:t>/amr/simulation/base/cmd_vel</a:t>
            </a:r>
          </a:p>
        </p:txBody>
      </p:sp>
      <p:cxnSp>
        <p:nvCxnSpPr>
          <p:cNvPr id="45" name=""/>
          <p:cNvCxnSpPr>
            <a:stCxn xmlns:a="http://schemas.openxmlformats.org/drawingml/2006/main" id="6" idx="3"/>
            <a:endCxn xmlns:a="http://schemas.openxmlformats.org/drawingml/2006/main" id="8" idx="1"/>
          </p:cNvCxnSpPr>
          <p:nvPr/>
        </p:nvCxnSpPr>
        <p:spPr>
          <a:xfrm xmlns:a="http://schemas.openxmlformats.org/drawingml/2006/main">
            <a:off x="5619750" y="2819400"/>
            <a:ext cx="400050"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10" name="">
            <a:extLst xmlns:a="http://schemas.openxmlformats.org/drawingml/2006/main">
              <a:ext uri="{FF2B5EF4-FFF2-40B4-BE49-F238E27FC236}">
                <a16:creationId xmlns:a16="http://schemas.microsoft.com/office/drawing/2014/main" id="{3E08388C-E2A5-455E-940C-FB6FADB7B30D}"/>
              </a:ext>
            </a:extLst>
          </p:cNvPr>
          <p:cNvSpPr>
            <a:spLocks xmlns:a="http://schemas.openxmlformats.org/drawingml/2006/main" noGrp="1"/>
          </p:cNvSpPr>
          <p:nvPr/>
        </p:nvSpPr>
        <p:spPr>
          <a:xfrm xmlns:a="http://schemas.openxmlformats.org/drawingml/2006/main">
            <a:off x="8705850" y="2305050"/>
            <a:ext cx="2286000" cy="1028700"/>
          </a:xfrm>
          <a:prstGeom xmlns:a="http://schemas.openxmlformats.org/drawingml/2006/main" prst="roundRect">
            <a:avLst>
              <a:gd name="adj" fmla="val 11111"/>
            </a:avLst>
          </a:prstGeom>
          <a:solidFill xmlns:a="http://schemas.openxmlformats.org/drawingml/2006/main">
            <a:srgbClr val="FFF1E8"/>
          </a:solidFill>
          <a:ln xmlns:a="http://schemas.openxmlformats.org/drawingml/2006/main" w="14288">
            <a:solidFill>
              <a:srgbClr val="C2410C"/>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Gazebo watchdog</a:t>
            </a:r>
          </a:p>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native plant input</a:t>
            </a:r>
          </a:p>
        </p:txBody>
      </p:sp>
      <p:cxnSp>
        <p:nvCxnSpPr>
          <p:cNvPr id="47" name=""/>
          <p:cNvCxnSpPr>
            <a:stCxn xmlns:a="http://schemas.openxmlformats.org/drawingml/2006/main" id="8" idx="3"/>
            <a:endCxn xmlns:a="http://schemas.openxmlformats.org/drawingml/2006/main" id="10" idx="1"/>
          </p:cNvCxnSpPr>
          <p:nvPr/>
        </p:nvCxnSpPr>
        <p:spPr>
          <a:xfrm xmlns:a="http://schemas.openxmlformats.org/drawingml/2006/main">
            <a:off x="8305800" y="2819400"/>
            <a:ext cx="400050"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12" name="">
            <a:extLst xmlns:a="http://schemas.openxmlformats.org/drawingml/2006/main">
              <a:ext uri="{FF2B5EF4-FFF2-40B4-BE49-F238E27FC236}">
                <a16:creationId xmlns:a16="http://schemas.microsoft.com/office/drawing/2014/main" id="{2F3C5670-0BA5-4191-B52F-F54A6168117D}"/>
              </a:ext>
            </a:extLst>
          </p:cNvPr>
          <p:cNvSpPr>
            <a:spLocks xmlns:a="http://schemas.openxmlformats.org/drawingml/2006/main" noGrp="1"/>
          </p:cNvSpPr>
          <p:nvPr/>
        </p:nvSpPr>
        <p:spPr>
          <a:xfrm xmlns:a="http://schemas.openxmlformats.org/drawingml/2006/main">
            <a:off x="647700" y="4038600"/>
            <a:ext cx="2762250" cy="304800"/>
          </a:xfrm>
          <a:prstGeom xmlns:a="http://schemas.openxmlformats.org/drawingml/2006/main" prst="roundRect">
            <a:avLst>
              <a:gd name="adj" fmla="val 37500"/>
            </a:avLst>
          </a:prstGeom>
          <a:solidFill xmlns:a="http://schemas.openxmlformats.org/drawingml/2006/main">
            <a:srgbClr val="FFF1E8"/>
          </a:solidFill>
          <a:ln xmlns:a="http://schemas.openxmlformats.org/drawingml/2006/main" w="9525">
            <a:solidFill>
              <a:srgbClr val="C2410C"/>
            </a:solidFill>
            <a:prstDash val="solid"/>
          </a:ln>
        </p:spPr>
        <p:txBody>
          <a:bodyPr xmlns:a="http://schemas.openxmlformats.org/drawingml/2006/main" lIns="76200" tIns="38100" rIns="76200" bIns="38100" anchor="ctr">
            <a:normAutofit fontScale="96205"/>
          </a:bodyPr>
          <a:lstStyle xmlns:a="http://schemas.openxmlformats.org/drawingml/2006/main"/>
          <a:p xmlns:a="http://schemas.openxmlformats.org/drawingml/2006/main">
            <a:pPr algn="ctr">
              <a:lnSpc>
                <a:spcPct val="105000"/>
              </a:lnSpc>
              <a:buNone/>
              <a:defRPr sz="1050" b="1">
                <a:solidFill>
                  <a:srgbClr val="C2410C"/>
                </a:solidFill>
                <a:latin typeface="Arial"/>
                <a:ea typeface="Arial"/>
                <a:cs typeface="Arial"/>
              </a:defRPr>
            </a:pPr>
            <a:r>
              <a:rPr sz="1050" b="1">
                <a:solidFill>
                  <a:srgbClr val="C2410C"/>
                </a:solidFill>
                <a:latin typeface="Arial"/>
                <a:ea typeface="Arial"/>
                <a:cs typeface="Arial"/>
              </a:rPr>
              <a:t>FAIL-CLOSED PARAMETERS</a:t>
            </a:r>
          </a:p>
        </p:txBody>
      </p:sp>
      <p:sp>
        <p:nvSpPr>
          <p:cNvPr id="13" name="">
            <a:extLst xmlns:a="http://schemas.openxmlformats.org/drawingml/2006/main">
              <a:ext uri="{FF2B5EF4-FFF2-40B4-BE49-F238E27FC236}">
                <a16:creationId xmlns:a16="http://schemas.microsoft.com/office/drawing/2014/main" id="{1B4EB568-7BEA-4856-9A95-493638043BD6}"/>
              </a:ext>
            </a:extLst>
          </p:cNvPr>
          <p:cNvSpPr>
            <a:spLocks xmlns:a="http://schemas.openxmlformats.org/drawingml/2006/main" noGrp="1"/>
          </p:cNvSpPr>
          <p:nvPr/>
        </p:nvSpPr>
        <p:spPr>
          <a:xfrm xmlns:a="http://schemas.openxmlformats.org/drawingml/2006/main">
            <a:off x="800100" y="45148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52606D"/>
                </a:solidFill>
                <a:latin typeface="Arial"/>
                <a:ea typeface="Arial"/>
                <a:cs typeface="Arial"/>
              </a:defRPr>
            </a:pPr>
            <a:r>
              <a:rPr sz="1200" b="0">
                <a:solidFill>
                  <a:srgbClr val="52606D"/>
                </a:solidFill>
                <a:latin typeface="Arial"/>
                <a:ea typeface="Arial"/>
                <a:cs typeface="Arial"/>
              </a:rPr>
              <a:t>Source timeout</a:t>
            </a:r>
          </a:p>
        </p:txBody>
      </p:sp>
      <p:sp>
        <p:nvSpPr>
          <p:cNvPr id="14" name="">
            <a:extLst xmlns:a="http://schemas.openxmlformats.org/drawingml/2006/main">
              <a:ext uri="{FF2B5EF4-FFF2-40B4-BE49-F238E27FC236}">
                <a16:creationId xmlns:a16="http://schemas.microsoft.com/office/drawing/2014/main" id="{1292EFFF-26D9-42D5-88E1-48C92A6B984B}"/>
              </a:ext>
            </a:extLst>
          </p:cNvPr>
          <p:cNvSpPr>
            <a:spLocks xmlns:a="http://schemas.openxmlformats.org/drawingml/2006/main" noGrp="1"/>
          </p:cNvSpPr>
          <p:nvPr/>
        </p:nvSpPr>
        <p:spPr>
          <a:xfrm xmlns:a="http://schemas.openxmlformats.org/drawingml/2006/main">
            <a:off x="3429000" y="4514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200 ms</a:t>
            </a:r>
          </a:p>
        </p:txBody>
      </p:sp>
      <p:sp>
        <p:nvSpPr>
          <p:cNvPr id="15" name="">
            <a:extLst xmlns:a="http://schemas.openxmlformats.org/drawingml/2006/main">
              <a:ext uri="{FF2B5EF4-FFF2-40B4-BE49-F238E27FC236}">
                <a16:creationId xmlns:a16="http://schemas.microsoft.com/office/drawing/2014/main" id="{A8AB4946-25C7-4787-92A8-BA30C0674B82}"/>
              </a:ext>
            </a:extLst>
          </p:cNvPr>
          <p:cNvSpPr>
            <a:spLocks xmlns:a="http://schemas.openxmlformats.org/drawingml/2006/main" noGrp="1"/>
          </p:cNvSpPr>
          <p:nvPr/>
        </p:nvSpPr>
        <p:spPr>
          <a:xfrm xmlns:a="http://schemas.openxmlformats.org/drawingml/2006/main">
            <a:off x="800100" y="48101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52606D"/>
                </a:solidFill>
                <a:latin typeface="Arial"/>
                <a:ea typeface="Arial"/>
                <a:cs typeface="Arial"/>
              </a:defRPr>
            </a:pPr>
            <a:r>
              <a:rPr sz="1200" b="0">
                <a:solidFill>
                  <a:srgbClr val="52606D"/>
                </a:solidFill>
                <a:latin typeface="Arial"/>
                <a:ea typeface="Arial"/>
                <a:cs typeface="Arial"/>
              </a:rPr>
              <a:t>Maximum linear speed</a:t>
            </a:r>
          </a:p>
        </p:txBody>
      </p:sp>
      <p:sp>
        <p:nvSpPr>
          <p:cNvPr id="16" name="">
            <a:extLst xmlns:a="http://schemas.openxmlformats.org/drawingml/2006/main">
              <a:ext uri="{FF2B5EF4-FFF2-40B4-BE49-F238E27FC236}">
                <a16:creationId xmlns:a16="http://schemas.microsoft.com/office/drawing/2014/main" id="{5B06E51C-33D5-473D-97F6-1595787BD300}"/>
              </a:ext>
            </a:extLst>
          </p:cNvPr>
          <p:cNvSpPr>
            <a:spLocks xmlns:a="http://schemas.openxmlformats.org/drawingml/2006/main" noGrp="1"/>
          </p:cNvSpPr>
          <p:nvPr/>
        </p:nvSpPr>
        <p:spPr>
          <a:xfrm xmlns:a="http://schemas.openxmlformats.org/drawingml/2006/main">
            <a:off x="3429000" y="481012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0.50 m/s</a:t>
            </a:r>
          </a:p>
        </p:txBody>
      </p:sp>
      <p:sp>
        <p:nvSpPr>
          <p:cNvPr id="17" name="">
            <a:extLst xmlns:a="http://schemas.openxmlformats.org/drawingml/2006/main">
              <a:ext uri="{FF2B5EF4-FFF2-40B4-BE49-F238E27FC236}">
                <a16:creationId xmlns:a16="http://schemas.microsoft.com/office/drawing/2014/main" id="{77FAD387-549D-49D8-BCBE-84087DF7C0BE}"/>
              </a:ext>
            </a:extLst>
          </p:cNvPr>
          <p:cNvSpPr>
            <a:spLocks xmlns:a="http://schemas.openxmlformats.org/drawingml/2006/main" noGrp="1"/>
          </p:cNvSpPr>
          <p:nvPr/>
        </p:nvSpPr>
        <p:spPr>
          <a:xfrm xmlns:a="http://schemas.openxmlformats.org/drawingml/2006/main">
            <a:off x="800100" y="51054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52606D"/>
                </a:solidFill>
                <a:latin typeface="Arial"/>
                <a:ea typeface="Arial"/>
                <a:cs typeface="Arial"/>
              </a:defRPr>
            </a:pPr>
            <a:r>
              <a:rPr sz="1200" b="0">
                <a:solidFill>
                  <a:srgbClr val="52606D"/>
                </a:solidFill>
                <a:latin typeface="Arial"/>
                <a:ea typeface="Arial"/>
                <a:cs typeface="Arial"/>
              </a:rPr>
              <a:t>Maximum angular speed</a:t>
            </a:r>
          </a:p>
        </p:txBody>
      </p:sp>
      <p:sp>
        <p:nvSpPr>
          <p:cNvPr id="18" name="">
            <a:extLst xmlns:a="http://schemas.openxmlformats.org/drawingml/2006/main">
              <a:ext uri="{FF2B5EF4-FFF2-40B4-BE49-F238E27FC236}">
                <a16:creationId xmlns:a16="http://schemas.microsoft.com/office/drawing/2014/main" id="{FA044685-9993-4F4A-A082-5E205D7BAD0D}"/>
              </a:ext>
            </a:extLst>
          </p:cNvPr>
          <p:cNvSpPr>
            <a:spLocks xmlns:a="http://schemas.openxmlformats.org/drawingml/2006/main" noGrp="1"/>
          </p:cNvSpPr>
          <p:nvPr/>
        </p:nvSpPr>
        <p:spPr>
          <a:xfrm xmlns:a="http://schemas.openxmlformats.org/drawingml/2006/main">
            <a:off x="3429000" y="51054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0.64 rad/s</a:t>
            </a:r>
          </a:p>
        </p:txBody>
      </p:sp>
      <p:sp>
        <p:nvSpPr>
          <p:cNvPr id="19" name="">
            <a:extLst xmlns:a="http://schemas.openxmlformats.org/drawingml/2006/main">
              <a:ext uri="{FF2B5EF4-FFF2-40B4-BE49-F238E27FC236}">
                <a16:creationId xmlns:a16="http://schemas.microsoft.com/office/drawing/2014/main" id="{72D3F87D-0EF7-4F86-9866-39AD69487CDB}"/>
              </a:ext>
            </a:extLst>
          </p:cNvPr>
          <p:cNvSpPr>
            <a:spLocks xmlns:a="http://schemas.openxmlformats.org/drawingml/2006/main" noGrp="1"/>
          </p:cNvSpPr>
          <p:nvPr/>
        </p:nvSpPr>
        <p:spPr>
          <a:xfrm xmlns:a="http://schemas.openxmlformats.org/drawingml/2006/main">
            <a:off x="800100" y="540067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52606D"/>
                </a:solidFill>
                <a:latin typeface="Arial"/>
                <a:ea typeface="Arial"/>
                <a:cs typeface="Arial"/>
              </a:defRPr>
            </a:pPr>
            <a:r>
              <a:rPr sz="1200" b="0">
                <a:solidFill>
                  <a:srgbClr val="52606D"/>
                </a:solidFill>
                <a:latin typeface="Arial"/>
                <a:ea typeface="Arial"/>
                <a:cs typeface="Arial"/>
              </a:rPr>
              <a:t>Acceleration limits</a:t>
            </a:r>
          </a:p>
        </p:txBody>
      </p:sp>
      <p:sp>
        <p:nvSpPr>
          <p:cNvPr id="20" name="">
            <a:extLst xmlns:a="http://schemas.openxmlformats.org/drawingml/2006/main">
              <a:ext uri="{FF2B5EF4-FFF2-40B4-BE49-F238E27FC236}">
                <a16:creationId xmlns:a16="http://schemas.microsoft.com/office/drawing/2014/main" id="{685D50B3-ECF8-4F77-BB86-4E6C57F00BBE}"/>
              </a:ext>
            </a:extLst>
          </p:cNvPr>
          <p:cNvSpPr>
            <a:spLocks xmlns:a="http://schemas.openxmlformats.org/drawingml/2006/main" noGrp="1"/>
          </p:cNvSpPr>
          <p:nvPr/>
        </p:nvSpPr>
        <p:spPr>
          <a:xfrm xmlns:a="http://schemas.openxmlformats.org/drawingml/2006/main">
            <a:off x="3429000" y="54006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0.50 m/s² • 0.40 rad/s²</a:t>
            </a:r>
          </a:p>
        </p:txBody>
      </p:sp>
      <p:sp>
        <p:nvSpPr>
          <p:cNvPr id="21" name="">
            <a:extLst xmlns:a="http://schemas.openxmlformats.org/drawingml/2006/main">
              <a:ext uri="{FF2B5EF4-FFF2-40B4-BE49-F238E27FC236}">
                <a16:creationId xmlns:a16="http://schemas.microsoft.com/office/drawing/2014/main" id="{D18F01E6-D5A7-4471-ABE4-BCA40C95AEF0}"/>
              </a:ext>
            </a:extLst>
          </p:cNvPr>
          <p:cNvSpPr>
            <a:spLocks xmlns:a="http://schemas.openxmlformats.org/drawingml/2006/main" noGrp="1"/>
          </p:cNvSpPr>
          <p:nvPr/>
        </p:nvSpPr>
        <p:spPr>
          <a:xfrm xmlns:a="http://schemas.openxmlformats.org/drawingml/2006/main">
            <a:off x="800100" y="56959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52606D"/>
                </a:solidFill>
                <a:latin typeface="Arial"/>
                <a:ea typeface="Arial"/>
                <a:cs typeface="Arial"/>
              </a:defRPr>
            </a:pPr>
            <a:r>
              <a:rPr sz="1200" b="0">
                <a:solidFill>
                  <a:srgbClr val="52606D"/>
                </a:solidFill>
                <a:latin typeface="Arial"/>
                <a:ea typeface="Arial"/>
                <a:cs typeface="Arial"/>
              </a:rPr>
              <a:t>Native watchdog</a:t>
            </a:r>
          </a:p>
        </p:txBody>
      </p:sp>
      <p:sp>
        <p:nvSpPr>
          <p:cNvPr id="22" name="">
            <a:extLst xmlns:a="http://schemas.openxmlformats.org/drawingml/2006/main">
              <a:ext uri="{FF2B5EF4-FFF2-40B4-BE49-F238E27FC236}">
                <a16:creationId xmlns:a16="http://schemas.microsoft.com/office/drawing/2014/main" id="{B703B4ED-6F3C-4291-9066-5ABDC9092C9F}"/>
              </a:ext>
            </a:extLst>
          </p:cNvPr>
          <p:cNvSpPr>
            <a:spLocks xmlns:a="http://schemas.openxmlformats.org/drawingml/2006/main" noGrp="1"/>
          </p:cNvSpPr>
          <p:nvPr/>
        </p:nvSpPr>
        <p:spPr>
          <a:xfrm xmlns:a="http://schemas.openxmlformats.org/drawingml/2006/main">
            <a:off x="3429000" y="56959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200 ms</a:t>
            </a:r>
          </a:p>
        </p:txBody>
      </p:sp>
      <p:sp>
        <p:nvSpPr>
          <p:cNvPr id="23" name="">
            <a:extLst xmlns:a="http://schemas.openxmlformats.org/drawingml/2006/main">
              <a:ext uri="{FF2B5EF4-FFF2-40B4-BE49-F238E27FC236}">
                <a16:creationId xmlns:a16="http://schemas.microsoft.com/office/drawing/2014/main" id="{99E28EC9-D12F-401D-AF16-193D21BB3DF1}"/>
              </a:ext>
            </a:extLst>
          </p:cNvPr>
          <p:cNvSpPr>
            <a:spLocks xmlns:a="http://schemas.openxmlformats.org/drawingml/2006/main" noGrp="1"/>
          </p:cNvSpPr>
          <p:nvPr/>
        </p:nvSpPr>
        <p:spPr>
          <a:xfrm xmlns:a="http://schemas.openxmlformats.org/drawingml/2006/main">
            <a:off x="7000875" y="4343400"/>
            <a:ext cx="4238625" cy="1162050"/>
          </a:xfrm>
          <a:prstGeom xmlns:a="http://schemas.openxmlformats.org/drawingml/2006/main" prst="roundRect">
            <a:avLst>
              <a:gd name="adj" fmla="val 9836"/>
            </a:avLst>
          </a:prstGeom>
          <a:solidFill xmlns:a="http://schemas.openxmlformats.org/drawingml/2006/main">
            <a:srgbClr val="0F172A"/>
          </a:solidFill>
          <a:ln xmlns:a="http://schemas.openxmlformats.org/drawingml/2006/main" w="0">
            <a:solidFill>
              <a:srgbClr val="0F172A"/>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350" b="1">
                <a:solidFill>
                  <a:srgbClr val="FFFFFF"/>
                </a:solidFill>
                <a:latin typeface="Arial"/>
                <a:ea typeface="Arial"/>
                <a:cs typeface="Arial"/>
              </a:defRPr>
            </a:pPr>
            <a:r>
              <a:rPr sz="1350" b="1">
                <a:solidFill>
                  <a:srgbClr val="FFFFFF"/>
                </a:solidFill>
                <a:latin typeface="Arial"/>
                <a:ea typeface="Arial"/>
                <a:cs typeface="Arial"/>
              </a:rPr>
              <a:t>Missing, stale, unsafe or unowned input results in a stop or rejection.</a:t>
            </a:r>
          </a:p>
          <a:p xmlns:a="http://schemas.openxmlformats.org/drawingml/2006/main">
            <a:pPr algn="ctr">
              <a:lnSpc>
                <a:spcPct val="105000"/>
              </a:lnSpc>
              <a:buNone/>
              <a:defRPr sz="1350" b="1">
                <a:solidFill>
                  <a:srgbClr val="FFFFFF"/>
                </a:solidFill>
                <a:latin typeface="Arial"/>
                <a:ea typeface="Arial"/>
                <a:cs typeface="Arial"/>
              </a:defRPr>
            </a:pPr>
            <a:r>
              <a:rPr sz="1350" b="1">
                <a:solidFill>
                  <a:srgbClr val="FFFFFF"/>
                </a:solidFill>
                <a:latin typeface="Arial"/>
                <a:ea typeface="Arial"/>
                <a:cs typeface="Arial"/>
              </a:rPr>
              <a:t>The manipulator-stowed requirement is selected by the active launch/mode.</a:t>
            </a:r>
          </a:p>
        </p:txBody>
      </p:sp>
      <p:sp>
        <p:nvSpPr>
          <p:cNvPr id="24" name="">
            <a:extLst xmlns:a="http://schemas.openxmlformats.org/drawingml/2006/main">
              <a:ext uri="{FF2B5EF4-FFF2-40B4-BE49-F238E27FC236}">
                <a16:creationId xmlns:a16="http://schemas.microsoft.com/office/drawing/2014/main" id="{A206B3E8-6F0D-499D-89A5-A5E5B36663DA}"/>
              </a:ext>
            </a:extLst>
          </p:cNvPr>
          <p:cNvSpPr>
            <a:spLocks xmlns:a="http://schemas.openxmlformats.org/drawingml/2006/main" noGrp="1"/>
          </p:cNvSpPr>
          <p:nvPr/>
        </p:nvSpPr>
        <p:spPr>
          <a:xfrm xmlns:a="http://schemas.openxmlformats.org/drawingml/2006/main">
            <a:off x="533400" y="6543675"/>
            <a:ext cx="1009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94A3B8"/>
                </a:solidFill>
                <a:latin typeface="Arial"/>
                <a:ea typeface="Arial"/>
                <a:cs typeface="Arial"/>
              </a:defRPr>
            </a:pPr>
            <a:r>
              <a:rPr sz="750" b="0">
                <a:solidFill>
                  <a:srgbClr val="94A3B8"/>
                </a:solidFill>
                <a:latin typeface="Arial"/>
                <a:ea typeface="Arial"/>
                <a:cs typeface="Arial"/>
              </a:rPr>
              <a:t>Source: src/amr_control/config/control.yaml; src/amr_description/urdf/amr.urdf.xacro; src/amr_base_adapter</a:t>
            </a:r>
          </a:p>
        </p:txBody>
      </p:sp>
      <p:sp>
        <p:nvSpPr>
          <p:cNvPr id="25" name="">
            <a:extLst xmlns:a="http://schemas.openxmlformats.org/drawingml/2006/main">
              <a:ext uri="{FF2B5EF4-FFF2-40B4-BE49-F238E27FC236}">
                <a16:creationId xmlns:a16="http://schemas.microsoft.com/office/drawing/2014/main" id="{B62B61E9-C2F9-44FA-96B6-BA736893531F}"/>
              </a:ext>
            </a:extLst>
          </p:cNvPr>
          <p:cNvSpPr>
            <a:spLocks xmlns:a="http://schemas.openxmlformats.org/drawingml/2006/main" noGrp="1"/>
          </p:cNvSpPr>
          <p:nvPr/>
        </p:nvSpPr>
        <p:spPr>
          <a:xfrm xmlns:a="http://schemas.openxmlformats.org/drawingml/2006/main">
            <a:off x="11191875" y="65151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13</a:t>
            </a:r>
          </a:p>
        </p:txBody>
      </p:sp>
    </p:spTree>
    <p:extLst>
      <p:ext uri="{BB962C8B-B14F-4D97-AF65-F5344CB8AC3E}">
        <p14:creationId xmlns:p14="http://schemas.microsoft.com/office/powerpoint/2010/main" val="1977753087"/>
      </p:ext>
    </p:extLst>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BBF54C4-31C2-43E9-9510-9372ED66EA9D}"/>
              </a:ext>
            </a:extLst>
          </p:cNvPr>
          <p:cNvSpPr>
            <a:spLocks xmlns:a="http://schemas.openxmlformats.org/drawingml/2006/main" noGrp="1"/>
          </p:cNvSpPr>
          <p:nvPr/>
        </p:nvSpPr>
        <p:spPr>
          <a:xfrm xmlns:a="http://schemas.openxmlformats.org/drawingml/2006/main">
            <a:off x="552450" y="2286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AMR ROS 2 SOFTWARE ARCHITECTURE</a:t>
            </a:r>
          </a:p>
        </p:txBody>
      </p:sp>
      <p:sp>
        <p:nvSpPr>
          <p:cNvPr id="2" name="">
            <a:extLst xmlns:a="http://schemas.openxmlformats.org/drawingml/2006/main">
              <a:ext uri="{FF2B5EF4-FFF2-40B4-BE49-F238E27FC236}">
                <a16:creationId xmlns:a16="http://schemas.microsoft.com/office/drawing/2014/main" id="{E24FD319-2E3B-4A37-89D3-9C8825DD7657}"/>
              </a:ext>
            </a:extLst>
          </p:cNvPr>
          <p:cNvSpPr>
            <a:spLocks xmlns:a="http://schemas.openxmlformats.org/drawingml/2006/main" noGrp="1"/>
          </p:cNvSpPr>
          <p:nvPr/>
        </p:nvSpPr>
        <p:spPr>
          <a:xfrm xmlns:a="http://schemas.openxmlformats.org/drawingml/2006/main">
            <a:off x="533400" y="4095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325" b="1">
                <a:solidFill>
                  <a:srgbClr val="142735"/>
                </a:solidFill>
                <a:latin typeface="Arial"/>
                <a:ea typeface="Arial"/>
                <a:cs typeface="Arial"/>
              </a:defRPr>
            </a:pPr>
            <a:r>
              <a:rPr sz="2325" b="1">
                <a:solidFill>
                  <a:srgbClr val="142735"/>
                </a:solidFill>
                <a:latin typeface="Arial"/>
                <a:ea typeface="Arial"/>
                <a:cs typeface="Arial"/>
              </a:rPr>
              <a:t>Operator commands and control functions</a:t>
            </a:r>
          </a:p>
        </p:txBody>
      </p:sp>
      <p:sp>
        <p:nvSpPr>
          <p:cNvPr id="3" name="">
            <a:extLst xmlns:a="http://schemas.openxmlformats.org/drawingml/2006/main">
              <a:ext uri="{FF2B5EF4-FFF2-40B4-BE49-F238E27FC236}">
                <a16:creationId xmlns:a16="http://schemas.microsoft.com/office/drawing/2014/main" id="{1597CE6A-E3D9-4B62-BAD9-464DDB3DD7C8}"/>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CE103FC1-7890-42D0-A969-046360ACBD14}"/>
              </a:ext>
            </a:extLst>
          </p:cNvPr>
          <p:cNvSpPr>
            <a:spLocks xmlns:a="http://schemas.openxmlformats.org/drawingml/2006/main" noGrp="1"/>
          </p:cNvSpPr>
          <p:nvPr/>
        </p:nvSpPr>
        <p:spPr>
          <a:xfrm xmlns:a="http://schemas.openxmlformats.org/drawingml/2006/main">
            <a:off x="609600" y="11620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14300" tIns="76200" rIns="114300" bIns="76200" anchor="t">
            <a:normAutofit fontScale="79365"/>
          </a:bodyPr>
          <a:lstStyle xmlns:a="http://schemas.openxmlformats.org/drawingml/2006/main"/>
          <a:p xmlns:a="http://schemas.openxmlformats.org/drawingml/2006/main">
            <a:pPr algn="l">
              <a:lnSpc>
                <a:spcPct val="105000"/>
              </a:lnSpc>
              <a:buNone/>
              <a:defRPr sz="1350" b="0">
                <a:solidFill>
                  <a:srgbClr val="52606D"/>
                </a:solidFill>
                <a:latin typeface="Arial"/>
                <a:ea typeface="Arial"/>
                <a:cs typeface="Arial"/>
              </a:defRPr>
            </a:pPr>
            <a:r>
              <a:rPr sz="1350" b="0">
                <a:solidFill>
                  <a:srgbClr val="52606D"/>
                </a:solidFill>
                <a:latin typeface="Arial"/>
                <a:ea typeface="Arial"/>
                <a:cs typeface="Arial"/>
              </a:rPr>
              <a:t>Use the current launch and CLI boundaries. Build first, source the workspace, then start only the mode you need</a:t>
            </a:r>
          </a:p>
        </p:txBody>
      </p:sp>
      <p:sp>
        <p:nvSpPr>
          <p:cNvPr id="5" name="">
            <a:extLst xmlns:a="http://schemas.openxmlformats.org/drawingml/2006/main">
              <a:ext uri="{FF2B5EF4-FFF2-40B4-BE49-F238E27FC236}">
                <a16:creationId xmlns:a16="http://schemas.microsoft.com/office/drawing/2014/main" id="{7D78506A-FE73-4246-8FF5-766E610B3CE6}"/>
              </a:ext>
            </a:extLst>
          </p:cNvPr>
          <p:cNvSpPr>
            <a:spLocks xmlns:a="http://schemas.openxmlformats.org/drawingml/2006/main" noGrp="1"/>
          </p:cNvSpPr>
          <p:nvPr/>
        </p:nvSpPr>
        <p:spPr>
          <a:xfrm xmlns:a="http://schemas.openxmlformats.org/drawingml/2006/main">
            <a:off x="609600" y="1962150"/>
            <a:ext cx="3333750" cy="1524000"/>
          </a:xfrm>
          <a:prstGeom xmlns:a="http://schemas.openxmlformats.org/drawingml/2006/main" prst="roundRect">
            <a:avLst>
              <a:gd name="adj" fmla="val 7500"/>
            </a:avLst>
          </a:prstGeom>
          <a:solidFill xmlns:a="http://schemas.openxmlformats.org/drawingml/2006/main">
            <a:srgbClr val="EAF2FF"/>
          </a:solidFill>
          <a:ln xmlns:a="http://schemas.openxmlformats.org/drawingml/2006/main" w="9525">
            <a:solidFill>
              <a:srgbClr val="1D4ED8"/>
            </a:solidFill>
            <a:prstDash val="solid"/>
          </a:ln>
        </p:spPr>
        <p:txBody>
          <a:bodyPr xmlns:a="http://schemas.openxmlformats.org/drawingml/2006/main" lIns="114300" tIns="76200" rIns="114300" bIns="76200" anchor="t">
            <a:normAutofit fontScale="100000"/>
          </a:bodyPr>
          <a:lstStyle xmlns:a="http://schemas.openxmlformats.org/drawingml/2006/main"/>
          <a:p xmlns:a="http://schemas.openxmlformats.org/drawingml/2006/main">
            <a:pPr algn="l">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BUILD AND TEST</a:t>
            </a:r>
          </a:p>
          <a:p xmlns:a="http://schemas.openxmlformats.org/drawingml/2006/main">
            <a:pPr algn="l">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source /opt/ros/humble/setup.bash</a:t>
            </a:r>
          </a:p>
          <a:p xmlns:a="http://schemas.openxmlformats.org/drawingml/2006/main">
            <a:pPr algn="l">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colcon build --symlink-install</a:t>
            </a:r>
          </a:p>
          <a:p xmlns:a="http://schemas.openxmlformats.org/drawingml/2006/main">
            <a:pPr algn="l">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colcon test</a:t>
            </a:r>
          </a:p>
          <a:p xmlns:a="http://schemas.openxmlformats.org/drawingml/2006/main">
            <a:pPr algn="l">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colcon test-result --verbose</a:t>
            </a:r>
          </a:p>
        </p:txBody>
      </p:sp>
      <p:sp>
        <p:nvSpPr>
          <p:cNvPr id="6" name="">
            <a:extLst xmlns:a="http://schemas.openxmlformats.org/drawingml/2006/main">
              <a:ext uri="{FF2B5EF4-FFF2-40B4-BE49-F238E27FC236}">
                <a16:creationId xmlns:a16="http://schemas.microsoft.com/office/drawing/2014/main" id="{FA5762D2-F8CE-4807-86E7-4F09AF7FC063}"/>
              </a:ext>
            </a:extLst>
          </p:cNvPr>
          <p:cNvSpPr>
            <a:spLocks xmlns:a="http://schemas.openxmlformats.org/drawingml/2006/main" noGrp="1"/>
          </p:cNvSpPr>
          <p:nvPr/>
        </p:nvSpPr>
        <p:spPr>
          <a:xfrm xmlns:a="http://schemas.openxmlformats.org/drawingml/2006/main">
            <a:off x="4419600" y="1962150"/>
            <a:ext cx="3333750" cy="1524000"/>
          </a:xfrm>
          <a:prstGeom xmlns:a="http://schemas.openxmlformats.org/drawingml/2006/main" prst="roundRect">
            <a:avLst>
              <a:gd name="adj" fmla="val 7500"/>
            </a:avLst>
          </a:prstGeom>
          <a:solidFill xmlns:a="http://schemas.openxmlformats.org/drawingml/2006/main">
            <a:srgbClr val="E6FFFA"/>
          </a:solidFill>
          <a:ln xmlns:a="http://schemas.openxmlformats.org/drawingml/2006/main" w="9525">
            <a:solidFill>
              <a:srgbClr val="0F766E"/>
            </a:solidFill>
            <a:prstDash val="solid"/>
          </a:ln>
        </p:spPr>
        <p:txBody>
          <a:bodyPr xmlns:a="http://schemas.openxmlformats.org/drawingml/2006/main" lIns="114300" tIns="76200" rIns="114300" bIns="76200" anchor="t">
            <a:normAutofit fontScale="100000"/>
          </a:bodyPr>
          <a:lstStyle xmlns:a="http://schemas.openxmlformats.org/drawingml/2006/main"/>
          <a:p xmlns:a="http://schemas.openxmlformats.org/drawingml/2006/main">
            <a:pPr algn="l">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SIMULATION + TELEOP</a:t>
            </a:r>
          </a:p>
          <a:p xmlns:a="http://schemas.openxmlformats.org/drawingml/2006/main">
            <a:pPr algn="l">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ros2 launch amr_simulation amr_simulation.launch.py</a:t>
            </a:r>
          </a:p>
          <a:p xmlns:a="http://schemas.openxmlformats.org/drawingml/2006/main">
            <a:pPr algn="l">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ros2 run amr_control prototype_teleop.py</a:t>
            </a:r>
          </a:p>
          <a:p xmlns:a="http://schemas.openxmlformats.org/drawingml/2006/main">
            <a:pPr algn="l">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W / S / A / D: move</a:t>
            </a:r>
          </a:p>
          <a:p xmlns:a="http://schemas.openxmlformats.org/drawingml/2006/main">
            <a:pPr algn="l">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X or Space: stop • Q: quit</a:t>
            </a:r>
          </a:p>
        </p:txBody>
      </p:sp>
      <p:sp>
        <p:nvSpPr>
          <p:cNvPr id="7" name="">
            <a:extLst xmlns:a="http://schemas.openxmlformats.org/drawingml/2006/main">
              <a:ext uri="{FF2B5EF4-FFF2-40B4-BE49-F238E27FC236}">
                <a16:creationId xmlns:a16="http://schemas.microsoft.com/office/drawing/2014/main" id="{DD90BDD0-7D1C-4E06-909D-54893F8E27EE}"/>
              </a:ext>
            </a:extLst>
          </p:cNvPr>
          <p:cNvSpPr>
            <a:spLocks xmlns:a="http://schemas.openxmlformats.org/drawingml/2006/main" noGrp="1"/>
          </p:cNvSpPr>
          <p:nvPr/>
        </p:nvSpPr>
        <p:spPr>
          <a:xfrm xmlns:a="http://schemas.openxmlformats.org/drawingml/2006/main">
            <a:off x="8229600" y="1962150"/>
            <a:ext cx="3333750" cy="1524000"/>
          </a:xfrm>
          <a:prstGeom xmlns:a="http://schemas.openxmlformats.org/drawingml/2006/main" prst="roundRect">
            <a:avLst>
              <a:gd name="adj" fmla="val 7500"/>
            </a:avLst>
          </a:prstGeom>
          <a:solidFill xmlns:a="http://schemas.openxmlformats.org/drawingml/2006/main">
            <a:srgbClr val="FFF1E8"/>
          </a:solidFill>
          <a:ln xmlns:a="http://schemas.openxmlformats.org/drawingml/2006/main" w="9525">
            <a:solidFill>
              <a:srgbClr val="C2410C"/>
            </a:solidFill>
            <a:prstDash val="solid"/>
          </a:ln>
        </p:spPr>
        <p:txBody>
          <a:bodyPr xmlns:a="http://schemas.openxmlformats.org/drawingml/2006/main" lIns="114300" tIns="76200" rIns="114300" bIns="76200" anchor="t">
            <a:normAutofit fontScale="100000"/>
          </a:bodyPr>
          <a:lstStyle xmlns:a="http://schemas.openxmlformats.org/drawingml/2006/main"/>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FACTORY AUTONOMOUS</a:t>
            </a:r>
          </a:p>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ros2 launch amr_factory factory_autonomous.launch.py control_mode:=autonomous factory_attachment:=true</a:t>
            </a:r>
          </a:p>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ros2 launch amr_manipulation move_group.launch.py</a:t>
            </a:r>
          </a:p>
        </p:txBody>
      </p:sp>
      <p:sp>
        <p:nvSpPr>
          <p:cNvPr id="8" name="">
            <a:extLst xmlns:a="http://schemas.openxmlformats.org/drawingml/2006/main">
              <a:ext uri="{FF2B5EF4-FFF2-40B4-BE49-F238E27FC236}">
                <a16:creationId xmlns:a16="http://schemas.microsoft.com/office/drawing/2014/main" id="{84535B46-1008-4AA8-A025-F8CDB0B917CC}"/>
              </a:ext>
            </a:extLst>
          </p:cNvPr>
          <p:cNvSpPr>
            <a:spLocks xmlns:a="http://schemas.openxmlformats.org/drawingml/2006/main" noGrp="1"/>
          </p:cNvSpPr>
          <p:nvPr/>
        </p:nvSpPr>
        <p:spPr>
          <a:xfrm xmlns:a="http://schemas.openxmlformats.org/drawingml/2006/main">
            <a:off x="609600" y="3981450"/>
            <a:ext cx="2476500" cy="323850"/>
          </a:xfrm>
          <a:prstGeom xmlns:a="http://schemas.openxmlformats.org/drawingml/2006/main" prst="roundRect">
            <a:avLst>
              <a:gd name="adj" fmla="val 35294"/>
            </a:avLst>
          </a:prstGeom>
          <a:solidFill xmlns:a="http://schemas.openxmlformats.org/drawingml/2006/main">
            <a:srgbClr val="0F172A"/>
          </a:solidFill>
          <a:ln xmlns:a="http://schemas.openxmlformats.org/drawingml/2006/main" w="0">
            <a:solidFill>
              <a:srgbClr val="0F172A"/>
            </a:solidFill>
            <a:prstDash val="solid"/>
          </a:ln>
        </p:spPr>
        <p:txBody>
          <a:bodyPr xmlns:a="http://schemas.openxmlformats.org/drawingml/2006/main" lIns="114300" tIns="76200" rIns="114300" bIns="76200" anchor="ctr">
            <a:normAutofit fontScale="58046"/>
          </a:bodyPr>
          <a:lstStyle xmlns:a="http://schemas.openxmlformats.org/drawingml/2006/main"/>
          <a:p xmlns:a="http://schemas.openxmlformats.org/drawingml/2006/main">
            <a:pPr algn="ctr">
              <a:lnSpc>
                <a:spcPct val="105000"/>
              </a:lnSpc>
              <a:buNone/>
              <a:defRPr sz="1125" b="1">
                <a:solidFill>
                  <a:srgbClr val="FFFFFF"/>
                </a:solidFill>
                <a:latin typeface="Arial"/>
                <a:ea typeface="Arial"/>
                <a:cs typeface="Arial"/>
              </a:defRPr>
            </a:pPr>
            <a:r>
              <a:rPr sz="1125" b="1">
                <a:solidFill>
                  <a:srgbClr val="FFFFFF"/>
                </a:solidFill>
                <a:latin typeface="Arial"/>
                <a:ea typeface="Arial"/>
                <a:cs typeface="Arial"/>
              </a:rPr>
              <a:t>FACTORY CLI FUNCTIONS</a:t>
            </a:r>
          </a:p>
        </p:txBody>
      </p:sp>
      <p:sp>
        <p:nvSpPr>
          <p:cNvPr id="9" name="">
            <a:extLst xmlns:a="http://schemas.openxmlformats.org/drawingml/2006/main">
              <a:ext uri="{FF2B5EF4-FFF2-40B4-BE49-F238E27FC236}">
                <a16:creationId xmlns:a16="http://schemas.microsoft.com/office/drawing/2014/main" id="{BFA152BA-CE77-4EB3-8FFA-172FA53482DF}"/>
              </a:ext>
            </a:extLst>
          </p:cNvPr>
          <p:cNvSpPr>
            <a:spLocks xmlns:a="http://schemas.openxmlformats.org/drawingml/2006/main" noGrp="1"/>
          </p:cNvSpPr>
          <p:nvPr/>
        </p:nvSpPr>
        <p:spPr>
          <a:xfrm xmlns:a="http://schemas.openxmlformats.org/drawingml/2006/main">
            <a:off x="800100" y="44672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list</a:t>
            </a:r>
          </a:p>
        </p:txBody>
      </p:sp>
      <p:sp>
        <p:nvSpPr>
          <p:cNvPr id="10" name="">
            <a:extLst xmlns:a="http://schemas.openxmlformats.org/drawingml/2006/main">
              <a:ext uri="{FF2B5EF4-FFF2-40B4-BE49-F238E27FC236}">
                <a16:creationId xmlns:a16="http://schemas.microsoft.com/office/drawing/2014/main" id="{329AD284-7BD1-4FB2-8217-AA168D0D580D}"/>
              </a:ext>
            </a:extLst>
          </p:cNvPr>
          <p:cNvSpPr>
            <a:spLocks xmlns:a="http://schemas.openxmlformats.org/drawingml/2006/main" noGrp="1"/>
          </p:cNvSpPr>
          <p:nvPr/>
        </p:nvSpPr>
        <p:spPr>
          <a:xfrm xmlns:a="http://schemas.openxmlformats.org/drawingml/2006/main">
            <a:off x="5000625" y="4467225"/>
            <a:ext cx="5191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2606D"/>
                </a:solidFill>
                <a:latin typeface="Arial"/>
                <a:ea typeface="Arial"/>
                <a:cs typeface="Arial"/>
              </a:defRPr>
            </a:pPr>
            <a:r>
              <a:rPr sz="1125" b="0">
                <a:solidFill>
                  <a:srgbClr val="52606D"/>
                </a:solidFill>
                <a:latin typeface="Arial"/>
                <a:ea typeface="Arial"/>
                <a:cs typeface="Arial"/>
              </a:rPr>
              <a:t>show stations / products</a:t>
            </a:r>
          </a:p>
        </p:txBody>
      </p:sp>
      <p:sp>
        <p:nvSpPr>
          <p:cNvPr id="11" name="">
            <a:extLst xmlns:a="http://schemas.openxmlformats.org/drawingml/2006/main">
              <a:ext uri="{FF2B5EF4-FFF2-40B4-BE49-F238E27FC236}">
                <a16:creationId xmlns:a16="http://schemas.microsoft.com/office/drawing/2014/main" id="{DBAF53C9-4574-4C07-BBE7-CB8D051E8F78}"/>
              </a:ext>
            </a:extLst>
          </p:cNvPr>
          <p:cNvSpPr>
            <a:spLocks xmlns:a="http://schemas.openxmlformats.org/drawingml/2006/main" noGrp="1"/>
          </p:cNvSpPr>
          <p:nvPr/>
        </p:nvSpPr>
        <p:spPr>
          <a:xfrm xmlns:a="http://schemas.openxmlformats.org/drawingml/2006/main">
            <a:off x="800100" y="47339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mode autonomous</a:t>
            </a:r>
          </a:p>
        </p:txBody>
      </p:sp>
      <p:sp>
        <p:nvSpPr>
          <p:cNvPr id="12" name="">
            <a:extLst xmlns:a="http://schemas.openxmlformats.org/drawingml/2006/main">
              <a:ext uri="{FF2B5EF4-FFF2-40B4-BE49-F238E27FC236}">
                <a16:creationId xmlns:a16="http://schemas.microsoft.com/office/drawing/2014/main" id="{3E1DB5B2-5D34-4BB9-8B17-F49573C4B201}"/>
              </a:ext>
            </a:extLst>
          </p:cNvPr>
          <p:cNvSpPr>
            <a:spLocks xmlns:a="http://schemas.openxmlformats.org/drawingml/2006/main" noGrp="1"/>
          </p:cNvSpPr>
          <p:nvPr/>
        </p:nvSpPr>
        <p:spPr>
          <a:xfrm xmlns:a="http://schemas.openxmlformats.org/drawingml/2006/main">
            <a:off x="5000625" y="4733925"/>
            <a:ext cx="5191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2606D"/>
                </a:solidFill>
                <a:latin typeface="Arial"/>
                <a:ea typeface="Arial"/>
                <a:cs typeface="Arial"/>
              </a:defRPr>
            </a:pPr>
            <a:r>
              <a:rPr sz="1125" b="0">
                <a:solidFill>
                  <a:srgbClr val="52606D"/>
                </a:solidFill>
                <a:latin typeface="Arial"/>
                <a:ea typeface="Arial"/>
                <a:cs typeface="Arial"/>
              </a:rPr>
              <a:t>select autonomous operation</a:t>
            </a:r>
          </a:p>
        </p:txBody>
      </p:sp>
      <p:sp>
        <p:nvSpPr>
          <p:cNvPr id="13" name="">
            <a:extLst xmlns:a="http://schemas.openxmlformats.org/drawingml/2006/main">
              <a:ext uri="{FF2B5EF4-FFF2-40B4-BE49-F238E27FC236}">
                <a16:creationId xmlns:a16="http://schemas.microsoft.com/office/drawing/2014/main" id="{A9854638-1D0E-4927-ACCB-4E7B0E2A25A3}"/>
              </a:ext>
            </a:extLst>
          </p:cNvPr>
          <p:cNvSpPr>
            <a:spLocks xmlns:a="http://schemas.openxmlformats.org/drawingml/2006/main" noGrp="1"/>
          </p:cNvSpPr>
          <p:nvPr/>
        </p:nvSpPr>
        <p:spPr>
          <a:xfrm xmlns:a="http://schemas.openxmlformats.org/drawingml/2006/main">
            <a:off x="800100" y="50006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send pickup_a dispatch</a:t>
            </a:r>
          </a:p>
        </p:txBody>
      </p:sp>
      <p:sp>
        <p:nvSpPr>
          <p:cNvPr id="14" name="">
            <a:extLst xmlns:a="http://schemas.openxmlformats.org/drawingml/2006/main">
              <a:ext uri="{FF2B5EF4-FFF2-40B4-BE49-F238E27FC236}">
                <a16:creationId xmlns:a16="http://schemas.microsoft.com/office/drawing/2014/main" id="{62856BFD-5058-4B40-AC32-3474DA9F779F}"/>
              </a:ext>
            </a:extLst>
          </p:cNvPr>
          <p:cNvSpPr>
            <a:spLocks xmlns:a="http://schemas.openxmlformats.org/drawingml/2006/main" noGrp="1"/>
          </p:cNvSpPr>
          <p:nvPr/>
        </p:nvSpPr>
        <p:spPr>
          <a:xfrm xmlns:a="http://schemas.openxmlformats.org/drawingml/2006/main">
            <a:off x="5000625" y="5000625"/>
            <a:ext cx="5191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2606D"/>
                </a:solidFill>
                <a:latin typeface="Arial"/>
                <a:ea typeface="Arial"/>
                <a:cs typeface="Arial"/>
              </a:defRPr>
            </a:pPr>
            <a:r>
              <a:rPr sz="1125" b="0">
                <a:solidFill>
                  <a:srgbClr val="52606D"/>
                </a:solidFill>
                <a:latin typeface="Arial"/>
                <a:ea typeface="Arial"/>
                <a:cs typeface="Arial"/>
              </a:rPr>
              <a:t>run one product route</a:t>
            </a:r>
          </a:p>
        </p:txBody>
      </p:sp>
      <p:sp>
        <p:nvSpPr>
          <p:cNvPr id="15" name="">
            <a:extLst xmlns:a="http://schemas.openxmlformats.org/drawingml/2006/main">
              <a:ext uri="{FF2B5EF4-FFF2-40B4-BE49-F238E27FC236}">
                <a16:creationId xmlns:a16="http://schemas.microsoft.com/office/drawing/2014/main" id="{F8344C06-1AB1-4A35-81A9-0251E33AE885}"/>
              </a:ext>
            </a:extLst>
          </p:cNvPr>
          <p:cNvSpPr>
            <a:spLocks xmlns:a="http://schemas.openxmlformats.org/drawingml/2006/main" noGrp="1"/>
          </p:cNvSpPr>
          <p:nvPr/>
        </p:nvSpPr>
        <p:spPr>
          <a:xfrm xmlns:a="http://schemas.openxmlformats.org/drawingml/2006/main">
            <a:off x="800100" y="52673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send pickup_b dispatch</a:t>
            </a:r>
          </a:p>
        </p:txBody>
      </p:sp>
      <p:sp>
        <p:nvSpPr>
          <p:cNvPr id="16" name="">
            <a:extLst xmlns:a="http://schemas.openxmlformats.org/drawingml/2006/main">
              <a:ext uri="{FF2B5EF4-FFF2-40B4-BE49-F238E27FC236}">
                <a16:creationId xmlns:a16="http://schemas.microsoft.com/office/drawing/2014/main" id="{BCAD3937-6F58-4D50-9111-CF833553632C}"/>
              </a:ext>
            </a:extLst>
          </p:cNvPr>
          <p:cNvSpPr>
            <a:spLocks xmlns:a="http://schemas.openxmlformats.org/drawingml/2006/main" noGrp="1"/>
          </p:cNvSpPr>
          <p:nvPr/>
        </p:nvSpPr>
        <p:spPr>
          <a:xfrm xmlns:a="http://schemas.openxmlformats.org/drawingml/2006/main">
            <a:off x="5000625" y="5267325"/>
            <a:ext cx="5191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2606D"/>
                </a:solidFill>
                <a:latin typeface="Arial"/>
                <a:ea typeface="Arial"/>
                <a:cs typeface="Arial"/>
              </a:defRPr>
            </a:pPr>
            <a:r>
              <a:rPr sz="1125" b="0">
                <a:solidFill>
                  <a:srgbClr val="52606D"/>
                </a:solidFill>
                <a:latin typeface="Arial"/>
                <a:ea typeface="Arial"/>
                <a:cs typeface="Arial"/>
              </a:rPr>
              <a:t>run the second route</a:t>
            </a:r>
          </a:p>
        </p:txBody>
      </p:sp>
      <p:sp>
        <p:nvSpPr>
          <p:cNvPr id="17" name="">
            <a:extLst xmlns:a="http://schemas.openxmlformats.org/drawingml/2006/main">
              <a:ext uri="{FF2B5EF4-FFF2-40B4-BE49-F238E27FC236}">
                <a16:creationId xmlns:a16="http://schemas.microsoft.com/office/drawing/2014/main" id="{57A359A9-A274-4ED3-BF38-C9260B702583}"/>
              </a:ext>
            </a:extLst>
          </p:cNvPr>
          <p:cNvSpPr>
            <a:spLocks xmlns:a="http://schemas.openxmlformats.org/drawingml/2006/main" noGrp="1"/>
          </p:cNvSpPr>
          <p:nvPr/>
        </p:nvSpPr>
        <p:spPr>
          <a:xfrm xmlns:a="http://schemas.openxmlformats.org/drawingml/2006/main">
            <a:off x="800100" y="55340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loop pickup_a pickup_b --cycles 1</a:t>
            </a:r>
          </a:p>
        </p:txBody>
      </p:sp>
      <p:sp>
        <p:nvSpPr>
          <p:cNvPr id="18" name="">
            <a:extLst xmlns:a="http://schemas.openxmlformats.org/drawingml/2006/main">
              <a:ext uri="{FF2B5EF4-FFF2-40B4-BE49-F238E27FC236}">
                <a16:creationId xmlns:a16="http://schemas.microsoft.com/office/drawing/2014/main" id="{80DDDF8C-51B4-41CD-AFCB-26FD72734733}"/>
              </a:ext>
            </a:extLst>
          </p:cNvPr>
          <p:cNvSpPr>
            <a:spLocks xmlns:a="http://schemas.openxmlformats.org/drawingml/2006/main" noGrp="1"/>
          </p:cNvSpPr>
          <p:nvPr/>
        </p:nvSpPr>
        <p:spPr>
          <a:xfrm xmlns:a="http://schemas.openxmlformats.org/drawingml/2006/main">
            <a:off x="5000625" y="5534025"/>
            <a:ext cx="5191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2606D"/>
                </a:solidFill>
                <a:latin typeface="Arial"/>
                <a:ea typeface="Arial"/>
                <a:cs typeface="Arial"/>
              </a:defRPr>
            </a:pPr>
            <a:r>
              <a:rPr sz="1125" b="0">
                <a:solidFill>
                  <a:srgbClr val="52606D"/>
                </a:solidFill>
                <a:latin typeface="Arial"/>
                <a:ea typeface="Arial"/>
                <a:cs typeface="Arial"/>
              </a:rPr>
              <a:t>run a bounded sequence</a:t>
            </a:r>
          </a:p>
        </p:txBody>
      </p:sp>
      <p:sp>
        <p:nvSpPr>
          <p:cNvPr id="19" name="">
            <a:extLst xmlns:a="http://schemas.openxmlformats.org/drawingml/2006/main">
              <a:ext uri="{FF2B5EF4-FFF2-40B4-BE49-F238E27FC236}">
                <a16:creationId xmlns:a16="http://schemas.microsoft.com/office/drawing/2014/main" id="{5B6F5E85-9872-4533-9808-12E32BFD5255}"/>
              </a:ext>
            </a:extLst>
          </p:cNvPr>
          <p:cNvSpPr>
            <a:spLocks xmlns:a="http://schemas.openxmlformats.org/drawingml/2006/main" noGrp="1"/>
          </p:cNvSpPr>
          <p:nvPr/>
        </p:nvSpPr>
        <p:spPr>
          <a:xfrm xmlns:a="http://schemas.openxmlformats.org/drawingml/2006/main">
            <a:off x="800100" y="58007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stop / cancel / status</a:t>
            </a:r>
          </a:p>
        </p:txBody>
      </p:sp>
      <p:sp>
        <p:nvSpPr>
          <p:cNvPr id="20" name="">
            <a:extLst xmlns:a="http://schemas.openxmlformats.org/drawingml/2006/main">
              <a:ext uri="{FF2B5EF4-FFF2-40B4-BE49-F238E27FC236}">
                <a16:creationId xmlns:a16="http://schemas.microsoft.com/office/drawing/2014/main" id="{13AD2D2C-8DDB-413E-B04E-23FF8D868947}"/>
              </a:ext>
            </a:extLst>
          </p:cNvPr>
          <p:cNvSpPr>
            <a:spLocks xmlns:a="http://schemas.openxmlformats.org/drawingml/2006/main" noGrp="1"/>
          </p:cNvSpPr>
          <p:nvPr/>
        </p:nvSpPr>
        <p:spPr>
          <a:xfrm xmlns:a="http://schemas.openxmlformats.org/drawingml/2006/main">
            <a:off x="5000625" y="5800725"/>
            <a:ext cx="5191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2606D"/>
                </a:solidFill>
                <a:latin typeface="Arial"/>
                <a:ea typeface="Arial"/>
                <a:cs typeface="Arial"/>
              </a:defRPr>
            </a:pPr>
            <a:r>
              <a:rPr sz="1125" b="0">
                <a:solidFill>
                  <a:srgbClr val="52606D"/>
                </a:solidFill>
                <a:latin typeface="Arial"/>
                <a:ea typeface="Arial"/>
                <a:cs typeface="Arial"/>
              </a:rPr>
              <a:t>control or inspect the current action</a:t>
            </a:r>
          </a:p>
        </p:txBody>
      </p:sp>
      <p:sp>
        <p:nvSpPr>
          <p:cNvPr id="21" name="">
            <a:extLst xmlns:a="http://schemas.openxmlformats.org/drawingml/2006/main">
              <a:ext uri="{FF2B5EF4-FFF2-40B4-BE49-F238E27FC236}">
                <a16:creationId xmlns:a16="http://schemas.microsoft.com/office/drawing/2014/main" id="{848AB393-18DF-44AD-BDC2-2EE589AE5F70}"/>
              </a:ext>
            </a:extLst>
          </p:cNvPr>
          <p:cNvSpPr>
            <a:spLocks xmlns:a="http://schemas.openxmlformats.org/drawingml/2006/main" noGrp="1"/>
          </p:cNvSpPr>
          <p:nvPr/>
        </p:nvSpPr>
        <p:spPr>
          <a:xfrm xmlns:a="http://schemas.openxmlformats.org/drawingml/2006/main">
            <a:off x="800100" y="60674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go home</a:t>
            </a:r>
          </a:p>
        </p:txBody>
      </p:sp>
      <p:sp>
        <p:nvSpPr>
          <p:cNvPr id="22" name="">
            <a:extLst xmlns:a="http://schemas.openxmlformats.org/drawingml/2006/main">
              <a:ext uri="{FF2B5EF4-FFF2-40B4-BE49-F238E27FC236}">
                <a16:creationId xmlns:a16="http://schemas.microsoft.com/office/drawing/2014/main" id="{13451746-3CDA-4A14-8D6E-748AEE9A381B}"/>
              </a:ext>
            </a:extLst>
          </p:cNvPr>
          <p:cNvSpPr>
            <a:spLocks xmlns:a="http://schemas.openxmlformats.org/drawingml/2006/main" noGrp="1"/>
          </p:cNvSpPr>
          <p:nvPr/>
        </p:nvSpPr>
        <p:spPr>
          <a:xfrm xmlns:a="http://schemas.openxmlformats.org/drawingml/2006/main">
            <a:off x="5000625" y="6067425"/>
            <a:ext cx="5191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2606D"/>
                </a:solidFill>
                <a:latin typeface="Arial"/>
                <a:ea typeface="Arial"/>
                <a:cs typeface="Arial"/>
              </a:defRPr>
            </a:pPr>
            <a:r>
              <a:rPr sz="1125" b="0">
                <a:solidFill>
                  <a:srgbClr val="52606D"/>
                </a:solidFill>
                <a:latin typeface="Arial"/>
                <a:ea typeface="Arial"/>
                <a:cs typeface="Arial"/>
              </a:rPr>
              <a:t>request home only after safe idle proof</a:t>
            </a:r>
          </a:p>
        </p:txBody>
      </p:sp>
      <p:sp>
        <p:nvSpPr>
          <p:cNvPr id="23" name="">
            <a:extLst xmlns:a="http://schemas.openxmlformats.org/drawingml/2006/main">
              <a:ext uri="{FF2B5EF4-FFF2-40B4-BE49-F238E27FC236}">
                <a16:creationId xmlns:a16="http://schemas.microsoft.com/office/drawing/2014/main" id="{DD873277-AEFA-40A4-9184-AA6B2EFE62D1}"/>
              </a:ext>
            </a:extLst>
          </p:cNvPr>
          <p:cNvSpPr>
            <a:spLocks xmlns:a="http://schemas.openxmlformats.org/drawingml/2006/main" noGrp="1"/>
          </p:cNvSpPr>
          <p:nvPr/>
        </p:nvSpPr>
        <p:spPr>
          <a:xfrm xmlns:a="http://schemas.openxmlformats.org/drawingml/2006/main">
            <a:off x="533400" y="6543675"/>
            <a:ext cx="1009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94A3B8"/>
                </a:solidFill>
                <a:latin typeface="Arial"/>
                <a:ea typeface="Arial"/>
                <a:cs typeface="Arial"/>
              </a:defRPr>
            </a:pPr>
            <a:r>
              <a:rPr sz="750" b="0">
                <a:solidFill>
                  <a:srgbClr val="94A3B8"/>
                </a:solidFill>
                <a:latin typeface="Arial"/>
                <a:ea typeface="Arial"/>
                <a:cs typeface="Arial"/>
              </a:rPr>
              <a:t>Sources: src/README.md; docs/SIMULATION_COMMANDS.md; docs/ROS2_BEGINNER_PROJECT_GUIDE.md</a:t>
            </a:r>
          </a:p>
        </p:txBody>
      </p:sp>
      <p:sp>
        <p:nvSpPr>
          <p:cNvPr id="24" name="">
            <a:extLst xmlns:a="http://schemas.openxmlformats.org/drawingml/2006/main">
              <a:ext uri="{FF2B5EF4-FFF2-40B4-BE49-F238E27FC236}">
                <a16:creationId xmlns:a16="http://schemas.microsoft.com/office/drawing/2014/main" id="{6636133B-586E-4076-BD0D-8F81F62396EC}"/>
              </a:ext>
            </a:extLst>
          </p:cNvPr>
          <p:cNvSpPr>
            <a:spLocks xmlns:a="http://schemas.openxmlformats.org/drawingml/2006/main" noGrp="1"/>
          </p:cNvSpPr>
          <p:nvPr/>
        </p:nvSpPr>
        <p:spPr>
          <a:xfrm xmlns:a="http://schemas.openxmlformats.org/drawingml/2006/main">
            <a:off x="11191875" y="65151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14</a:t>
            </a:r>
          </a:p>
        </p:txBody>
      </p:sp>
    </p:spTree>
    <p:extLst>
      <p:ext uri="{BB962C8B-B14F-4D97-AF65-F5344CB8AC3E}">
        <p14:creationId xmlns:p14="http://schemas.microsoft.com/office/powerpoint/2010/main" val="1615266855"/>
      </p:ext>
    </p:extLst>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4F6E917-CE4C-4399-AC58-A3F9216A6571}"/>
              </a:ext>
            </a:extLst>
          </p:cNvPr>
          <p:cNvSpPr>
            <a:spLocks xmlns:a="http://schemas.openxmlformats.org/drawingml/2006/main" noGrp="1"/>
          </p:cNvSpPr>
          <p:nvPr/>
        </p:nvSpPr>
        <p:spPr>
          <a:xfrm xmlns:a="http://schemas.openxmlformats.org/drawingml/2006/main">
            <a:off x="552450" y="2286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AMR ROS 2 SOFTWARE ARCHITECTURE</a:t>
            </a:r>
          </a:p>
        </p:txBody>
      </p:sp>
      <p:sp>
        <p:nvSpPr>
          <p:cNvPr id="2" name="">
            <a:extLst xmlns:a="http://schemas.openxmlformats.org/drawingml/2006/main">
              <a:ext uri="{FF2B5EF4-FFF2-40B4-BE49-F238E27FC236}">
                <a16:creationId xmlns:a16="http://schemas.microsoft.com/office/drawing/2014/main" id="{0DDD67B4-78BA-4B4F-8FD3-F1AA2AB62FE3}"/>
              </a:ext>
            </a:extLst>
          </p:cNvPr>
          <p:cNvSpPr>
            <a:spLocks xmlns:a="http://schemas.openxmlformats.org/drawingml/2006/main" noGrp="1"/>
          </p:cNvSpPr>
          <p:nvPr/>
        </p:nvSpPr>
        <p:spPr>
          <a:xfrm xmlns:a="http://schemas.openxmlformats.org/drawingml/2006/main">
            <a:off x="533400" y="4095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325" b="1">
                <a:solidFill>
                  <a:srgbClr val="142735"/>
                </a:solidFill>
                <a:latin typeface="Arial"/>
                <a:ea typeface="Arial"/>
                <a:cs typeface="Arial"/>
              </a:defRPr>
            </a:pPr>
            <a:r>
              <a:rPr sz="2325" b="1">
                <a:solidFill>
                  <a:srgbClr val="142735"/>
                </a:solidFill>
                <a:latin typeface="Arial"/>
                <a:ea typeface="Arial"/>
                <a:cs typeface="Arial"/>
              </a:rPr>
              <a:t>MoveIt and manipulation</a:t>
            </a:r>
          </a:p>
        </p:txBody>
      </p:sp>
      <p:sp>
        <p:nvSpPr>
          <p:cNvPr id="3" name="">
            <a:extLst xmlns:a="http://schemas.openxmlformats.org/drawingml/2006/main">
              <a:ext uri="{FF2B5EF4-FFF2-40B4-BE49-F238E27FC236}">
                <a16:creationId xmlns:a16="http://schemas.microsoft.com/office/drawing/2014/main" id="{0135B866-0320-48BA-8FC0-AF68520B5877}"/>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AEF5FF1E-B2ED-4FCD-9B24-9632B28E6389}"/>
              </a:ext>
            </a:extLst>
          </p:cNvPr>
          <p:cNvSpPr>
            <a:spLocks xmlns:a="http://schemas.openxmlformats.org/drawingml/2006/main" noGrp="1"/>
          </p:cNvSpPr>
          <p:nvPr/>
        </p:nvSpPr>
        <p:spPr>
          <a:xfrm xmlns:a="http://schemas.openxmlformats.org/drawingml/2006/main">
            <a:off x="609600" y="11620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14300" tIns="76200" rIns="114300" bIns="76200" anchor="t">
            <a:normAutofit fontScale="79365"/>
          </a:bodyPr>
          <a:lstStyle xmlns:a="http://schemas.openxmlformats.org/drawingml/2006/main"/>
          <a:p xmlns:a="http://schemas.openxmlformats.org/drawingml/2006/main">
            <a:pPr algn="l">
              <a:lnSpc>
                <a:spcPct val="105000"/>
              </a:lnSpc>
              <a:buNone/>
              <a:defRPr sz="1350" b="0">
                <a:solidFill>
                  <a:srgbClr val="52606D"/>
                </a:solidFill>
                <a:latin typeface="Arial"/>
                <a:ea typeface="Arial"/>
                <a:cs typeface="Arial"/>
              </a:defRPr>
            </a:pPr>
            <a:r>
              <a:rPr sz="1350" b="0">
                <a:solidFill>
                  <a:srgbClr val="52606D"/>
                </a:solidFill>
                <a:latin typeface="Arial"/>
                <a:ea typeface="Arial"/>
                <a:cs typeface="Arial"/>
              </a:rPr>
              <a:t>MoveIt plans and executes arm and gripper trajectories. It does not own the mobile base velocity command</a:t>
            </a:r>
          </a:p>
        </p:txBody>
      </p:sp>
      <p:sp>
        <p:nvSpPr>
          <p:cNvPr id="5" name="">
            <a:extLst xmlns:a="http://schemas.openxmlformats.org/drawingml/2006/main">
              <a:ext uri="{FF2B5EF4-FFF2-40B4-BE49-F238E27FC236}">
                <a16:creationId xmlns:a16="http://schemas.microsoft.com/office/drawing/2014/main" id="{0173DCA1-0A26-4D2B-B8E4-0ABCFC83DD52}"/>
              </a:ext>
            </a:extLst>
          </p:cNvPr>
          <p:cNvSpPr>
            <a:spLocks xmlns:a="http://schemas.openxmlformats.org/drawingml/2006/main" noGrp="1"/>
          </p:cNvSpPr>
          <p:nvPr/>
        </p:nvSpPr>
        <p:spPr>
          <a:xfrm xmlns:a="http://schemas.openxmlformats.org/drawingml/2006/main">
            <a:off x="704850" y="2362200"/>
            <a:ext cx="2190750" cy="1066800"/>
          </a:xfrm>
          <a:prstGeom xmlns:a="http://schemas.openxmlformats.org/drawingml/2006/main" prst="roundRect">
            <a:avLst>
              <a:gd name="adj" fmla="val 10714"/>
            </a:avLst>
          </a:prstGeom>
          <a:solidFill xmlns:a="http://schemas.openxmlformats.org/drawingml/2006/main">
            <a:srgbClr val="F1EAFE"/>
          </a:solidFill>
          <a:ln xmlns:a="http://schemas.openxmlformats.org/drawingml/2006/main" w="14288">
            <a:solidFill>
              <a:srgbClr val="6D28D9"/>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650" b="1">
                <a:solidFill>
                  <a:srgbClr val="142735"/>
                </a:solidFill>
                <a:latin typeface="Arial"/>
                <a:ea typeface="Arial"/>
                <a:cs typeface="Arial"/>
              </a:defRPr>
            </a:pPr>
            <a:r>
              <a:rPr sz="1650" b="1">
                <a:solidFill>
                  <a:srgbClr val="142735"/>
                </a:solidFill>
                <a:latin typeface="Arial"/>
                <a:ea typeface="Arial"/>
                <a:cs typeface="Arial"/>
              </a:rPr>
              <a:t>MoveIt2</a:t>
            </a:r>
          </a:p>
          <a:p xmlns:a="http://schemas.openxmlformats.org/drawingml/2006/main">
            <a:pPr algn="ctr">
              <a:lnSpc>
                <a:spcPct val="105000"/>
              </a:lnSpc>
              <a:buNone/>
              <a:defRPr sz="1650" b="1">
                <a:solidFill>
                  <a:srgbClr val="142735"/>
                </a:solidFill>
                <a:latin typeface="Arial"/>
                <a:ea typeface="Arial"/>
                <a:cs typeface="Arial"/>
              </a:defRPr>
            </a:pPr>
            <a:r>
              <a:rPr sz="1650" b="1">
                <a:solidFill>
                  <a:srgbClr val="142735"/>
                </a:solidFill>
                <a:latin typeface="Arial"/>
                <a:ea typeface="Arial"/>
                <a:cs typeface="Arial"/>
              </a:rPr>
              <a:t>move_group</a:t>
            </a:r>
          </a:p>
          <a:p xmlns:a="http://schemas.openxmlformats.org/drawingml/2006/main">
            <a:pPr algn="ctr">
              <a:lnSpc>
                <a:spcPct val="105000"/>
              </a:lnSpc>
              <a:buNone/>
              <a:defRPr sz="1650" b="1">
                <a:solidFill>
                  <a:srgbClr val="142735"/>
                </a:solidFill>
                <a:latin typeface="Arial"/>
                <a:ea typeface="Arial"/>
                <a:cs typeface="Arial"/>
              </a:defRPr>
            </a:pPr>
            <a:r>
              <a:rPr sz="1650" b="1">
                <a:solidFill>
                  <a:srgbClr val="142735"/>
                </a:solidFill>
                <a:latin typeface="Arial"/>
                <a:ea typeface="Arial"/>
                <a:cs typeface="Arial"/>
              </a:rPr>
              <a:t>OMPL planning</a:t>
            </a:r>
          </a:p>
        </p:txBody>
      </p:sp>
      <p:sp>
        <p:nvSpPr>
          <p:cNvPr id="6" name="">
            <a:extLst xmlns:a="http://schemas.openxmlformats.org/drawingml/2006/main">
              <a:ext uri="{FF2B5EF4-FFF2-40B4-BE49-F238E27FC236}">
                <a16:creationId xmlns:a16="http://schemas.microsoft.com/office/drawing/2014/main" id="{80AAAAC7-E325-47ED-91F9-827B48175272}"/>
              </a:ext>
            </a:extLst>
          </p:cNvPr>
          <p:cNvSpPr>
            <a:spLocks xmlns:a="http://schemas.openxmlformats.org/drawingml/2006/main" noGrp="1"/>
          </p:cNvSpPr>
          <p:nvPr/>
        </p:nvSpPr>
        <p:spPr>
          <a:xfrm xmlns:a="http://schemas.openxmlformats.org/drawingml/2006/main">
            <a:off x="3695700" y="2362200"/>
            <a:ext cx="2667000" cy="1066800"/>
          </a:xfrm>
          <a:prstGeom xmlns:a="http://schemas.openxmlformats.org/drawingml/2006/main" prst="roundRect">
            <a:avLst>
              <a:gd name="adj" fmla="val 10714"/>
            </a:avLst>
          </a:prstGeom>
          <a:solidFill xmlns:a="http://schemas.openxmlformats.org/drawingml/2006/main">
            <a:srgbClr val="EAF2FF"/>
          </a:solidFill>
          <a:ln xmlns:a="http://schemas.openxmlformats.org/drawingml/2006/main" w="14288">
            <a:solidFill>
              <a:srgbClr val="1D4ED8"/>
            </a:solidFill>
            <a:prstDash val="solid"/>
          </a:ln>
        </p:spPr>
        <p:txBody>
          <a:bodyPr xmlns:a="http://schemas.openxmlformats.org/drawingml/2006/main" lIns="114300" tIns="76200" rIns="114300" bIns="76200" anchor="ctr">
            <a:normAutofit fontScale="98072"/>
          </a:bodyPr>
          <a:lstStyle xmlns:a="http://schemas.openxmlformats.org/drawingml/2006/main"/>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Planning scene</a:t>
            </a:r>
          </a:p>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robot model + collision objects</a:t>
            </a:r>
          </a:p>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product attachment state</a:t>
            </a:r>
          </a:p>
        </p:txBody>
      </p:sp>
      <p:sp>
        <p:nvSpPr>
          <p:cNvPr id="7" name="">
            <a:extLst xmlns:a="http://schemas.openxmlformats.org/drawingml/2006/main">
              <a:ext uri="{FF2B5EF4-FFF2-40B4-BE49-F238E27FC236}">
                <a16:creationId xmlns:a16="http://schemas.microsoft.com/office/drawing/2014/main" id="{02A72A96-2A09-4029-B7EF-62D05317176C}"/>
              </a:ext>
            </a:extLst>
          </p:cNvPr>
          <p:cNvSpPr>
            <a:spLocks xmlns:a="http://schemas.openxmlformats.org/drawingml/2006/main" noGrp="1"/>
          </p:cNvSpPr>
          <p:nvPr/>
        </p:nvSpPr>
        <p:spPr>
          <a:xfrm xmlns:a="http://schemas.openxmlformats.org/drawingml/2006/main">
            <a:off x="7162800" y="2362200"/>
            <a:ext cx="2667000" cy="1066800"/>
          </a:xfrm>
          <a:prstGeom xmlns:a="http://schemas.openxmlformats.org/drawingml/2006/main" prst="roundRect">
            <a:avLst>
              <a:gd name="adj" fmla="val 10714"/>
            </a:avLst>
          </a:prstGeom>
          <a:solidFill xmlns:a="http://schemas.openxmlformats.org/drawingml/2006/main">
            <a:srgbClr val="FFF1E8"/>
          </a:solidFill>
          <a:ln xmlns:a="http://schemas.openxmlformats.org/drawingml/2006/main" w="14288">
            <a:solidFill>
              <a:srgbClr val="C2410C"/>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gz_ros2_control</a:t>
            </a:r>
          </a:p>
          <a:p xmlns:a="http://schemas.openxmlformats.org/drawingml/2006/main">
            <a:pPr algn="ctr">
              <a:lnSpc>
                <a:spcPct val="105000"/>
              </a:lnSpc>
              <a:buNone/>
              <a:defRPr sz="1350" b="1">
                <a:solidFill>
                  <a:srgbClr val="142735"/>
                </a:solidFill>
                <a:latin typeface="Arial"/>
                <a:ea typeface="Arial"/>
                <a:cs typeface="Arial"/>
              </a:defRPr>
            </a:pPr>
            <a:r>
              <a:rPr sz="1350" b="1">
                <a:solidFill>
                  <a:srgbClr val="142735"/>
                </a:solidFill>
                <a:latin typeface="Arial"/>
                <a:ea typeface="Arial"/>
                <a:cs typeface="Arial"/>
              </a:rPr>
              <a:t>arm + gripper joint interfaces</a:t>
            </a:r>
          </a:p>
        </p:txBody>
      </p:sp>
      <p:sp>
        <p:nvSpPr>
          <p:cNvPr id="8" name="">
            <a:extLst xmlns:a="http://schemas.openxmlformats.org/drawingml/2006/main">
              <a:ext uri="{FF2B5EF4-FFF2-40B4-BE49-F238E27FC236}">
                <a16:creationId xmlns:a16="http://schemas.microsoft.com/office/drawing/2014/main" id="{F626BDA8-8013-480F-8088-C9F4CCEFE458}"/>
              </a:ext>
            </a:extLst>
          </p:cNvPr>
          <p:cNvSpPr>
            <a:spLocks xmlns:a="http://schemas.openxmlformats.org/drawingml/2006/main" noGrp="1"/>
          </p:cNvSpPr>
          <p:nvPr/>
        </p:nvSpPr>
        <p:spPr>
          <a:xfrm xmlns:a="http://schemas.openxmlformats.org/drawingml/2006/main">
            <a:off x="4552950" y="4095750"/>
            <a:ext cx="3143250" cy="876300"/>
          </a:xfrm>
          <a:prstGeom xmlns:a="http://schemas.openxmlformats.org/drawingml/2006/main" prst="roundRect">
            <a:avLst>
              <a:gd name="adj" fmla="val 13043"/>
            </a:avLst>
          </a:prstGeom>
          <a:solidFill xmlns:a="http://schemas.openxmlformats.org/drawingml/2006/main">
            <a:srgbClr val="E6FFFA"/>
          </a:solidFill>
          <a:ln xmlns:a="http://schemas.openxmlformats.org/drawingml/2006/main" w="14288">
            <a:solidFill>
              <a:srgbClr val="0F766E"/>
            </a:solidFill>
            <a:prstDash val="solid"/>
          </a:ln>
        </p:spPr>
        <p:txBody>
          <a:bodyPr xmlns:a="http://schemas.openxmlformats.org/drawingml/2006/main" lIns="114300" tIns="76200" rIns="114300" bIns="76200" anchor="ctr">
            <a:normAutofit fontScale="96033"/>
          </a:bodyPr>
          <a:lstStyle xmlns:a="http://schemas.openxmlformats.org/drawingml/2006/main"/>
          <a:p xmlns:a="http://schemas.openxmlformats.org/drawingml/2006/main">
            <a:pPr algn="ctr">
              <a:lnSpc>
                <a:spcPct val="105000"/>
              </a:lnSpc>
              <a:buNone/>
              <a:defRPr sz="1425" b="1">
                <a:solidFill>
                  <a:srgbClr val="142735"/>
                </a:solidFill>
                <a:latin typeface="Arial"/>
                <a:ea typeface="Arial"/>
                <a:cs typeface="Arial"/>
              </a:defRPr>
            </a:pPr>
            <a:r>
              <a:rPr sz="1425" b="1">
                <a:solidFill>
                  <a:srgbClr val="142735"/>
                </a:solidFill>
                <a:latin typeface="Arial"/>
                <a:ea typeface="Arial"/>
                <a:cs typeface="Arial"/>
              </a:rPr>
              <a:t>Manipulation supervisor</a:t>
            </a:r>
          </a:p>
          <a:p xmlns:a="http://schemas.openxmlformats.org/drawingml/2006/main">
            <a:pPr algn="ctr">
              <a:lnSpc>
                <a:spcPct val="105000"/>
              </a:lnSpc>
              <a:buNone/>
              <a:defRPr sz="1425" b="1">
                <a:solidFill>
                  <a:srgbClr val="142735"/>
                </a:solidFill>
                <a:latin typeface="Arial"/>
                <a:ea typeface="Arial"/>
                <a:cs typeface="Arial"/>
              </a:defRPr>
            </a:pPr>
            <a:r>
              <a:rPr sz="1425" b="1">
                <a:solidFill>
                  <a:srgbClr val="142735"/>
                </a:solidFill>
                <a:latin typeface="Arial"/>
                <a:ea typeface="Arial"/>
                <a:cs typeface="Arial"/>
              </a:rPr>
              <a:t>product cycle + attach / detach proof</a:t>
            </a:r>
          </a:p>
        </p:txBody>
      </p:sp>
      <p:cxnSp>
        <p:nvCxnSpPr>
          <p:cNvPr id="34" name=""/>
          <p:cNvCxnSpPr>
            <a:stCxn xmlns:a="http://schemas.openxmlformats.org/drawingml/2006/main" id="5" idx="3"/>
            <a:endCxn xmlns:a="http://schemas.openxmlformats.org/drawingml/2006/main" id="6" idx="1"/>
          </p:cNvCxnSpPr>
          <p:nvPr/>
        </p:nvCxnSpPr>
        <p:spPr>
          <a:xfrm xmlns:a="http://schemas.openxmlformats.org/drawingml/2006/main">
            <a:off x="2895600" y="2895600"/>
            <a:ext cx="800100" cy="0"/>
          </a:xfrm>
          <a:prstGeom xmlns:a="http://schemas.openxmlformats.org/drawingml/2006/main" prst="straightConnector1">
            <a:avLst/>
          </a:prstGeom>
          <a:ln xmlns:a="http://schemas.openxmlformats.org/drawingml/2006/main" w="19050">
            <a:solidFill>
              <a:srgbClr val="6D28D9"/>
            </a:solidFill>
            <a:prstDash val="solid"/>
            <a:headEnd type="none" w="med" len="med"/>
            <a:tailEnd type="arrow" w="sm" len="sm"/>
          </a:ln>
        </p:spPr>
      </p:cxnSp>
      <p:cxnSp>
        <p:nvCxnSpPr>
          <p:cNvPr id="35" name=""/>
          <p:cNvCxnSpPr>
            <a:stCxn xmlns:a="http://schemas.openxmlformats.org/drawingml/2006/main" id="6" idx="3"/>
            <a:endCxn xmlns:a="http://schemas.openxmlformats.org/drawingml/2006/main" id="7" idx="1"/>
          </p:cNvCxnSpPr>
          <p:nvPr/>
        </p:nvCxnSpPr>
        <p:spPr>
          <a:xfrm xmlns:a="http://schemas.openxmlformats.org/drawingml/2006/main">
            <a:off x="6362700" y="2895600"/>
            <a:ext cx="800100" cy="0"/>
          </a:xfrm>
          <a:prstGeom xmlns:a="http://schemas.openxmlformats.org/drawingml/2006/main" prst="straightConnector1">
            <a:avLst/>
          </a:prstGeom>
          <a:ln xmlns:a="http://schemas.openxmlformats.org/drawingml/2006/main" w="19050">
            <a:solidFill>
              <a:srgbClr val="1D4ED8"/>
            </a:solidFill>
            <a:prstDash val="solid"/>
            <a:headEnd type="none" w="med" len="med"/>
            <a:tailEnd type="arrow" w="sm" len="sm"/>
          </a:ln>
        </p:spPr>
      </p:cxnSp>
      <p:cxnSp>
        <p:nvCxnSpPr>
          <p:cNvPr id="36" name=""/>
          <p:cNvCxnSpPr>
            <a:stCxn xmlns:a="http://schemas.openxmlformats.org/drawingml/2006/main" id="6" idx="2"/>
            <a:endCxn xmlns:a="http://schemas.openxmlformats.org/drawingml/2006/main" id="8" idx="0"/>
          </p:cNvCxnSpPr>
          <p:nvPr/>
        </p:nvCxnSpPr>
        <p:spPr>
          <a:xfrm xmlns:a="http://schemas.openxmlformats.org/drawingml/2006/main">
            <a:off x="5029200" y="3429000"/>
            <a:ext cx="1095375" cy="666750"/>
          </a:xfrm>
          <a:prstGeom xmlns:a="http://schemas.openxmlformats.org/drawingml/2006/main" prst="straightConnector1">
            <a:avLst/>
          </a:prstGeom>
          <a:ln xmlns:a="http://schemas.openxmlformats.org/drawingml/2006/main" w="19050">
            <a:solidFill>
              <a:srgbClr val="0F766E"/>
            </a:solidFill>
            <a:prstDash val="solid"/>
            <a:headEnd type="none" w="med" len="med"/>
            <a:tailEnd type="arrow" w="sm" len="sm"/>
          </a:ln>
        </p:spPr>
      </p:cxnSp>
      <p:sp>
        <p:nvSpPr>
          <p:cNvPr id="12" name="">
            <a:extLst xmlns:a="http://schemas.openxmlformats.org/drawingml/2006/main">
              <a:ext uri="{FF2B5EF4-FFF2-40B4-BE49-F238E27FC236}">
                <a16:creationId xmlns:a16="http://schemas.microsoft.com/office/drawing/2014/main" id="{FD3A7819-39CF-4E05-896E-7DF5FE8EB345}"/>
              </a:ext>
            </a:extLst>
          </p:cNvPr>
          <p:cNvSpPr>
            <a:spLocks xmlns:a="http://schemas.openxmlformats.org/drawingml/2006/main" noGrp="1"/>
          </p:cNvSpPr>
          <p:nvPr/>
        </p:nvSpPr>
        <p:spPr>
          <a:xfrm xmlns:a="http://schemas.openxmlformats.org/drawingml/2006/main">
            <a:off x="609600" y="5391150"/>
            <a:ext cx="107156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t">
            <a:normAutofit fontScale="99666"/>
          </a:bodyPr>
          <a:lstStyle xmlns:a="http://schemas.openxmlformats.org/drawingml/2006/main"/>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Composite Xacro loads the KUKA KR6 R900-2 model, gripper, camera and optional product</a:t>
            </a:r>
          </a:p>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Factory attachment mode uses Gazebo detachable-joint and contact interfaces</a:t>
            </a:r>
          </a:p>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The cycle supervisor coordinates navigation, manipulation actions, cancellation and status</a:t>
            </a:r>
          </a:p>
        </p:txBody>
      </p:sp>
      <p:sp>
        <p:nvSpPr>
          <p:cNvPr id="13" name="">
            <a:extLst xmlns:a="http://schemas.openxmlformats.org/drawingml/2006/main">
              <a:ext uri="{FF2B5EF4-FFF2-40B4-BE49-F238E27FC236}">
                <a16:creationId xmlns:a16="http://schemas.microsoft.com/office/drawing/2014/main" id="{63D3DB2E-4A64-4056-9DEE-E110A536CD92}"/>
              </a:ext>
            </a:extLst>
          </p:cNvPr>
          <p:cNvSpPr>
            <a:spLocks xmlns:a="http://schemas.openxmlformats.org/drawingml/2006/main" noGrp="1"/>
          </p:cNvSpPr>
          <p:nvPr/>
        </p:nvSpPr>
        <p:spPr>
          <a:xfrm xmlns:a="http://schemas.openxmlformats.org/drawingml/2006/main">
            <a:off x="533400" y="6543675"/>
            <a:ext cx="1009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94A3B8"/>
                </a:solidFill>
                <a:latin typeface="Arial"/>
                <a:ea typeface="Arial"/>
                <a:cs typeface="Arial"/>
              </a:defRPr>
            </a:pPr>
            <a:r>
              <a:rPr sz="750" b="0">
                <a:solidFill>
                  <a:srgbClr val="94A3B8"/>
                </a:solidFill>
                <a:latin typeface="Arial"/>
                <a:ea typeface="Arial"/>
                <a:cs typeface="Arial"/>
              </a:rPr>
              <a:t>Sources: src/amr_manipulation/launch/move_group.launch.py; src/amr_description/urdf/phase14_mobile_manipulator.urdf.xacro</a:t>
            </a:r>
          </a:p>
        </p:txBody>
      </p:sp>
      <p:sp>
        <p:nvSpPr>
          <p:cNvPr id="14" name="">
            <a:extLst xmlns:a="http://schemas.openxmlformats.org/drawingml/2006/main">
              <a:ext uri="{FF2B5EF4-FFF2-40B4-BE49-F238E27FC236}">
                <a16:creationId xmlns:a16="http://schemas.microsoft.com/office/drawing/2014/main" id="{0417ED81-F7D8-4F57-84E4-6112063E03E8}"/>
              </a:ext>
            </a:extLst>
          </p:cNvPr>
          <p:cNvSpPr>
            <a:spLocks xmlns:a="http://schemas.openxmlformats.org/drawingml/2006/main" noGrp="1"/>
          </p:cNvSpPr>
          <p:nvPr/>
        </p:nvSpPr>
        <p:spPr>
          <a:xfrm xmlns:a="http://schemas.openxmlformats.org/drawingml/2006/main">
            <a:off x="11191875" y="65151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15</a:t>
            </a:r>
          </a:p>
        </p:txBody>
      </p:sp>
    </p:spTree>
    <p:extLst>
      <p:ext uri="{BB962C8B-B14F-4D97-AF65-F5344CB8AC3E}">
        <p14:creationId xmlns:p14="http://schemas.microsoft.com/office/powerpoint/2010/main" val="993393244"/>
      </p:ext>
    </p:extLst>
  </p:cSld>
</p:sld>
</file>

<file path=ppt/slides/slide1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F299E5CD-1C02-4104-8583-E9813C723DA5}"/>
              </a:ext>
            </a:extLst>
          </p:cNvPr>
          <p:cNvSpPr>
            <a:spLocks xmlns:a="http://schemas.openxmlformats.org/drawingml/2006/main" noGrp="1"/>
          </p:cNvSpPr>
          <p:nvPr/>
        </p:nvSpPr>
        <p:spPr>
          <a:xfrm xmlns:a="http://schemas.openxmlformats.org/drawingml/2006/main">
            <a:off x="552450" y="2286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AMR ROS 2 SOFTWARE ARCHITECTURE</a:t>
            </a:r>
          </a:p>
        </p:txBody>
      </p:sp>
      <p:sp>
        <p:nvSpPr>
          <p:cNvPr id="2" name="">
            <a:extLst xmlns:a="http://schemas.openxmlformats.org/drawingml/2006/main">
              <a:ext uri="{FF2B5EF4-FFF2-40B4-BE49-F238E27FC236}">
                <a16:creationId xmlns:a16="http://schemas.microsoft.com/office/drawing/2014/main" id="{42A6475E-DDB9-4CDA-A955-2DFFD807CD2B}"/>
              </a:ext>
            </a:extLst>
          </p:cNvPr>
          <p:cNvSpPr>
            <a:spLocks xmlns:a="http://schemas.openxmlformats.org/drawingml/2006/main" noGrp="1"/>
          </p:cNvSpPr>
          <p:nvPr/>
        </p:nvSpPr>
        <p:spPr>
          <a:xfrm xmlns:a="http://schemas.openxmlformats.org/drawingml/2006/main">
            <a:off x="533400" y="4095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325" b="1">
                <a:solidFill>
                  <a:srgbClr val="142735"/>
                </a:solidFill>
                <a:latin typeface="Arial"/>
                <a:ea typeface="Arial"/>
                <a:cs typeface="Arial"/>
              </a:defRPr>
            </a:pPr>
            <a:r>
              <a:rPr sz="2325" b="1">
                <a:solidFill>
                  <a:srgbClr val="142735"/>
                </a:solidFill>
                <a:latin typeface="Arial"/>
                <a:ea typeface="Arial"/>
                <a:cs typeface="Arial"/>
              </a:rPr>
              <a:t>Factory mission cycle</a:t>
            </a:r>
          </a:p>
        </p:txBody>
      </p:sp>
      <p:sp>
        <p:nvSpPr>
          <p:cNvPr id="3" name="">
            <a:extLst xmlns:a="http://schemas.openxmlformats.org/drawingml/2006/main">
              <a:ext uri="{FF2B5EF4-FFF2-40B4-BE49-F238E27FC236}">
                <a16:creationId xmlns:a16="http://schemas.microsoft.com/office/drawing/2014/main" id="{C9BA6ADF-CCDE-4E6C-9529-9EFBBD7C90D1}"/>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D6167DFF-7909-4771-80E5-64AEA84D7E20}"/>
              </a:ext>
            </a:extLst>
          </p:cNvPr>
          <p:cNvSpPr>
            <a:spLocks xmlns:a="http://schemas.openxmlformats.org/drawingml/2006/main" noGrp="1"/>
          </p:cNvSpPr>
          <p:nvPr/>
        </p:nvSpPr>
        <p:spPr>
          <a:xfrm xmlns:a="http://schemas.openxmlformats.org/drawingml/2006/main">
            <a:off x="609600" y="11620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14300" tIns="76200" rIns="114300" bIns="76200" anchor="t">
            <a:normAutofit fontScale="79365"/>
          </a:bodyPr>
          <a:lstStyle xmlns:a="http://schemas.openxmlformats.org/drawingml/2006/main"/>
          <a:p xmlns:a="http://schemas.openxmlformats.org/drawingml/2006/main">
            <a:pPr algn="l">
              <a:lnSpc>
                <a:spcPct val="105000"/>
              </a:lnSpc>
              <a:buNone/>
              <a:defRPr sz="1350" b="0">
                <a:solidFill>
                  <a:srgbClr val="52606D"/>
                </a:solidFill>
                <a:latin typeface="Arial"/>
                <a:ea typeface="Arial"/>
                <a:cs typeface="Arial"/>
              </a:defRPr>
            </a:pPr>
            <a:r>
              <a:rPr sz="1350" b="0">
                <a:solidFill>
                  <a:srgbClr val="52606D"/>
                </a:solidFill>
                <a:latin typeface="Arial"/>
                <a:ea typeface="Arial"/>
                <a:cs typeface="Arial"/>
              </a:rPr>
              <a:t>A factory task crosses navigation and manipulation boundaries. Each transition needs state, ownership and completion evidence</a:t>
            </a:r>
          </a:p>
        </p:txBody>
      </p:sp>
      <p:sp>
        <p:nvSpPr>
          <p:cNvPr id="5" name="">
            <a:extLst xmlns:a="http://schemas.openxmlformats.org/drawingml/2006/main">
              <a:ext uri="{FF2B5EF4-FFF2-40B4-BE49-F238E27FC236}">
                <a16:creationId xmlns:a16="http://schemas.microsoft.com/office/drawing/2014/main" id="{FAD0CE2C-2682-4DDD-B69D-16138B2F6AE0}"/>
              </a:ext>
            </a:extLst>
          </p:cNvPr>
          <p:cNvSpPr>
            <a:spLocks xmlns:a="http://schemas.openxmlformats.org/drawingml/2006/main" noGrp="1"/>
          </p:cNvSpPr>
          <p:nvPr/>
        </p:nvSpPr>
        <p:spPr>
          <a:xfrm xmlns:a="http://schemas.openxmlformats.org/drawingml/2006/main">
            <a:off x="1076325" y="2095500"/>
            <a:ext cx="571500" cy="571500"/>
          </a:xfrm>
          <a:prstGeom xmlns:a="http://schemas.openxmlformats.org/drawingml/2006/main" prst="ellipse">
            <a:avLst/>
          </a:prstGeom>
          <a:solidFill xmlns:a="http://schemas.openxmlformats.org/drawingml/2006/main">
            <a:srgbClr val="123B5D"/>
          </a:solidFill>
          <a:ln xmlns:a="http://schemas.openxmlformats.org/drawingml/2006/main" w="9525">
            <a:solidFill>
              <a:srgbClr val="123B5D"/>
            </a:solidFill>
            <a:prstDash val="solid"/>
          </a:ln>
        </p:spPr>
        <p:txBody>
          <a:bodyPr xmlns:a="http://schemas.openxmlformats.org/drawingml/2006/main" lIns="114300" tIns="76200" rIns="114300" bIns="76200" anchor="ctr">
            <a:normAutofit fontScale="87389"/>
          </a:bodyPr>
          <a:lstStyle xmlns:a="http://schemas.openxmlformats.org/drawingml/2006/main"/>
          <a:p xmlns:a="http://schemas.openxmlformats.org/drawingml/2006/main">
            <a:pPr algn="ctr">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FB5CC7D8-069A-4E18-AAC7-37BD5AFFF553}"/>
              </a:ext>
            </a:extLst>
          </p:cNvPr>
          <p:cNvSpPr>
            <a:spLocks xmlns:a="http://schemas.openxmlformats.org/drawingml/2006/main" noGrp="1"/>
          </p:cNvSpPr>
          <p:nvPr/>
        </p:nvSpPr>
        <p:spPr>
          <a:xfrm xmlns:a="http://schemas.openxmlformats.org/drawingml/2006/main">
            <a:off x="552450" y="2933700"/>
            <a:ext cx="161925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Select mode</a:t>
            </a:r>
          </a:p>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autonomous + registry</a:t>
            </a:r>
          </a:p>
        </p:txBody>
      </p:sp>
      <p:sp>
        <p:nvSpPr>
          <p:cNvPr id="7" name="">
            <a:extLst xmlns:a="http://schemas.openxmlformats.org/drawingml/2006/main">
              <a:ext uri="{FF2B5EF4-FFF2-40B4-BE49-F238E27FC236}">
                <a16:creationId xmlns:a16="http://schemas.microsoft.com/office/drawing/2014/main" id="{E8D30BEC-3FE4-4806-82CB-CBCE30E1BB71}"/>
              </a:ext>
            </a:extLst>
          </p:cNvPr>
          <p:cNvSpPr>
            <a:spLocks xmlns:a="http://schemas.openxmlformats.org/drawingml/2006/main" noGrp="1"/>
          </p:cNvSpPr>
          <p:nvPr/>
        </p:nvSpPr>
        <p:spPr>
          <a:xfrm xmlns:a="http://schemas.openxmlformats.org/drawingml/2006/main">
            <a:off x="2924175" y="2095500"/>
            <a:ext cx="571500" cy="571500"/>
          </a:xfrm>
          <a:prstGeom xmlns:a="http://schemas.openxmlformats.org/drawingml/2006/main" prst="ellipse">
            <a:avLst/>
          </a:prstGeom>
          <a:solidFill xmlns:a="http://schemas.openxmlformats.org/drawingml/2006/main">
            <a:srgbClr val="123B5D"/>
          </a:solidFill>
          <a:ln xmlns:a="http://schemas.openxmlformats.org/drawingml/2006/main" w="9525">
            <a:solidFill>
              <a:srgbClr val="123B5D"/>
            </a:solidFill>
            <a:prstDash val="solid"/>
          </a:ln>
        </p:spPr>
        <p:txBody>
          <a:bodyPr xmlns:a="http://schemas.openxmlformats.org/drawingml/2006/main" lIns="114300" tIns="76200" rIns="114300" bIns="76200" anchor="ctr">
            <a:normAutofit fontScale="87389"/>
          </a:bodyPr>
          <a:lstStyle xmlns:a="http://schemas.openxmlformats.org/drawingml/2006/main"/>
          <a:p xmlns:a="http://schemas.openxmlformats.org/drawingml/2006/main">
            <a:pPr algn="ctr">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178C5983-6810-456B-9781-4078EE5CDC9E}"/>
              </a:ext>
            </a:extLst>
          </p:cNvPr>
          <p:cNvSpPr>
            <a:spLocks xmlns:a="http://schemas.openxmlformats.org/drawingml/2006/main" noGrp="1"/>
          </p:cNvSpPr>
          <p:nvPr/>
        </p:nvSpPr>
        <p:spPr>
          <a:xfrm xmlns:a="http://schemas.openxmlformats.org/drawingml/2006/main">
            <a:off x="2400300" y="2933700"/>
            <a:ext cx="161925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Navigate</a:t>
            </a:r>
          </a:p>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pickup station</a:t>
            </a:r>
          </a:p>
        </p:txBody>
      </p:sp>
      <p:cxnSp>
        <p:nvCxnSpPr>
          <p:cNvPr id="62" name=""/>
          <p:cNvCxnSpPr>
            <a:stCxn xmlns:a="http://schemas.openxmlformats.org/drawingml/2006/main" id="6" idx="3"/>
            <a:endCxn xmlns:a="http://schemas.openxmlformats.org/drawingml/2006/main" id="8" idx="1"/>
          </p:cNvCxnSpPr>
          <p:nvPr/>
        </p:nvCxnSpPr>
        <p:spPr>
          <a:xfrm xmlns:a="http://schemas.openxmlformats.org/drawingml/2006/main">
            <a:off x="2171700" y="3333750"/>
            <a:ext cx="228600"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10" name="">
            <a:extLst xmlns:a="http://schemas.openxmlformats.org/drawingml/2006/main">
              <a:ext uri="{FF2B5EF4-FFF2-40B4-BE49-F238E27FC236}">
                <a16:creationId xmlns:a16="http://schemas.microsoft.com/office/drawing/2014/main" id="{74F16370-2A4E-440D-A88C-47AF60AA69B2}"/>
              </a:ext>
            </a:extLst>
          </p:cNvPr>
          <p:cNvSpPr>
            <a:spLocks xmlns:a="http://schemas.openxmlformats.org/drawingml/2006/main" noGrp="1"/>
          </p:cNvSpPr>
          <p:nvPr/>
        </p:nvSpPr>
        <p:spPr>
          <a:xfrm xmlns:a="http://schemas.openxmlformats.org/drawingml/2006/main">
            <a:off x="4772025" y="2095500"/>
            <a:ext cx="571500" cy="571500"/>
          </a:xfrm>
          <a:prstGeom xmlns:a="http://schemas.openxmlformats.org/drawingml/2006/main" prst="ellipse">
            <a:avLst/>
          </a:prstGeom>
          <a:solidFill xmlns:a="http://schemas.openxmlformats.org/drawingml/2006/main">
            <a:srgbClr val="123B5D"/>
          </a:solidFill>
          <a:ln xmlns:a="http://schemas.openxmlformats.org/drawingml/2006/main" w="9525">
            <a:solidFill>
              <a:srgbClr val="123B5D"/>
            </a:solidFill>
            <a:prstDash val="solid"/>
          </a:ln>
        </p:spPr>
        <p:txBody>
          <a:bodyPr xmlns:a="http://schemas.openxmlformats.org/drawingml/2006/main" lIns="114300" tIns="76200" rIns="114300" bIns="76200" anchor="ctr">
            <a:normAutofit fontScale="87389"/>
          </a:bodyPr>
          <a:lstStyle xmlns:a="http://schemas.openxmlformats.org/drawingml/2006/main"/>
          <a:p xmlns:a="http://schemas.openxmlformats.org/drawingml/2006/main">
            <a:pPr algn="ctr">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19DD4155-E285-45B7-ADED-D5A43F1ABBBF}"/>
              </a:ext>
            </a:extLst>
          </p:cNvPr>
          <p:cNvSpPr>
            <a:spLocks xmlns:a="http://schemas.openxmlformats.org/drawingml/2006/main" noGrp="1"/>
          </p:cNvSpPr>
          <p:nvPr/>
        </p:nvSpPr>
        <p:spPr>
          <a:xfrm xmlns:a="http://schemas.openxmlformats.org/drawingml/2006/main">
            <a:off x="4248150" y="2933700"/>
            <a:ext cx="161925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Pick up</a:t>
            </a:r>
          </a:p>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tag + MoveIt + attach</a:t>
            </a:r>
          </a:p>
        </p:txBody>
      </p:sp>
      <p:cxnSp>
        <p:nvCxnSpPr>
          <p:cNvPr id="65" name=""/>
          <p:cNvCxnSpPr>
            <a:stCxn xmlns:a="http://schemas.openxmlformats.org/drawingml/2006/main" id="8" idx="3"/>
            <a:endCxn xmlns:a="http://schemas.openxmlformats.org/drawingml/2006/main" id="11" idx="1"/>
          </p:cNvCxnSpPr>
          <p:nvPr/>
        </p:nvCxnSpPr>
        <p:spPr>
          <a:xfrm xmlns:a="http://schemas.openxmlformats.org/drawingml/2006/main">
            <a:off x="4019550" y="3333750"/>
            <a:ext cx="228600"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13" name="">
            <a:extLst xmlns:a="http://schemas.openxmlformats.org/drawingml/2006/main">
              <a:ext uri="{FF2B5EF4-FFF2-40B4-BE49-F238E27FC236}">
                <a16:creationId xmlns:a16="http://schemas.microsoft.com/office/drawing/2014/main" id="{32377C5F-65B5-447D-B6B6-81E1C07ADDCC}"/>
              </a:ext>
            </a:extLst>
          </p:cNvPr>
          <p:cNvSpPr>
            <a:spLocks xmlns:a="http://schemas.openxmlformats.org/drawingml/2006/main" noGrp="1"/>
          </p:cNvSpPr>
          <p:nvPr/>
        </p:nvSpPr>
        <p:spPr>
          <a:xfrm xmlns:a="http://schemas.openxmlformats.org/drawingml/2006/main">
            <a:off x="6619875" y="2095500"/>
            <a:ext cx="571500" cy="571500"/>
          </a:xfrm>
          <a:prstGeom xmlns:a="http://schemas.openxmlformats.org/drawingml/2006/main" prst="ellipse">
            <a:avLst/>
          </a:prstGeom>
          <a:solidFill xmlns:a="http://schemas.openxmlformats.org/drawingml/2006/main">
            <a:srgbClr val="123B5D"/>
          </a:solidFill>
          <a:ln xmlns:a="http://schemas.openxmlformats.org/drawingml/2006/main" w="9525">
            <a:solidFill>
              <a:srgbClr val="123B5D"/>
            </a:solidFill>
            <a:prstDash val="solid"/>
          </a:ln>
        </p:spPr>
        <p:txBody>
          <a:bodyPr xmlns:a="http://schemas.openxmlformats.org/drawingml/2006/main" lIns="114300" tIns="76200" rIns="114300" bIns="76200" anchor="ctr">
            <a:normAutofit fontScale="87389"/>
          </a:bodyPr>
          <a:lstStyle xmlns:a="http://schemas.openxmlformats.org/drawingml/2006/main"/>
          <a:p xmlns:a="http://schemas.openxmlformats.org/drawingml/2006/main">
            <a:pPr algn="ctr">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1D0D2DD5-E5E5-411C-AFF7-E159BED26B8B}"/>
              </a:ext>
            </a:extLst>
          </p:cNvPr>
          <p:cNvSpPr>
            <a:spLocks xmlns:a="http://schemas.openxmlformats.org/drawingml/2006/main" noGrp="1"/>
          </p:cNvSpPr>
          <p:nvPr/>
        </p:nvSpPr>
        <p:spPr>
          <a:xfrm xmlns:a="http://schemas.openxmlformats.org/drawingml/2006/main">
            <a:off x="6096000" y="2933700"/>
            <a:ext cx="161925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Transport</a:t>
            </a:r>
          </a:p>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Nav2 + RPP</a:t>
            </a:r>
          </a:p>
        </p:txBody>
      </p:sp>
      <p:cxnSp>
        <p:nvCxnSpPr>
          <p:cNvPr id="68" name=""/>
          <p:cNvCxnSpPr>
            <a:stCxn xmlns:a="http://schemas.openxmlformats.org/drawingml/2006/main" id="11" idx="3"/>
            <a:endCxn xmlns:a="http://schemas.openxmlformats.org/drawingml/2006/main" id="14" idx="1"/>
          </p:cNvCxnSpPr>
          <p:nvPr/>
        </p:nvCxnSpPr>
        <p:spPr>
          <a:xfrm xmlns:a="http://schemas.openxmlformats.org/drawingml/2006/main">
            <a:off x="5867400" y="3333750"/>
            <a:ext cx="228600"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16" name="">
            <a:extLst xmlns:a="http://schemas.openxmlformats.org/drawingml/2006/main">
              <a:ext uri="{FF2B5EF4-FFF2-40B4-BE49-F238E27FC236}">
                <a16:creationId xmlns:a16="http://schemas.microsoft.com/office/drawing/2014/main" id="{DC13C288-1377-49E4-BC24-09824464EB5A}"/>
              </a:ext>
            </a:extLst>
          </p:cNvPr>
          <p:cNvSpPr>
            <a:spLocks xmlns:a="http://schemas.openxmlformats.org/drawingml/2006/main" noGrp="1"/>
          </p:cNvSpPr>
          <p:nvPr/>
        </p:nvSpPr>
        <p:spPr>
          <a:xfrm xmlns:a="http://schemas.openxmlformats.org/drawingml/2006/main">
            <a:off x="8467725" y="2095500"/>
            <a:ext cx="571500" cy="571500"/>
          </a:xfrm>
          <a:prstGeom xmlns:a="http://schemas.openxmlformats.org/drawingml/2006/main" prst="ellipse">
            <a:avLst/>
          </a:prstGeom>
          <a:solidFill xmlns:a="http://schemas.openxmlformats.org/drawingml/2006/main">
            <a:srgbClr val="123B5D"/>
          </a:solidFill>
          <a:ln xmlns:a="http://schemas.openxmlformats.org/drawingml/2006/main" w="9525">
            <a:solidFill>
              <a:srgbClr val="123B5D"/>
            </a:solidFill>
            <a:prstDash val="solid"/>
          </a:ln>
        </p:spPr>
        <p:txBody>
          <a:bodyPr xmlns:a="http://schemas.openxmlformats.org/drawingml/2006/main" lIns="114300" tIns="76200" rIns="114300" bIns="76200" anchor="ctr">
            <a:normAutofit fontScale="87389"/>
          </a:bodyPr>
          <a:lstStyle xmlns:a="http://schemas.openxmlformats.org/drawingml/2006/main"/>
          <a:p xmlns:a="http://schemas.openxmlformats.org/drawingml/2006/main">
            <a:pPr algn="ctr">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5</a:t>
            </a:r>
          </a:p>
        </p:txBody>
      </p:sp>
      <p:sp>
        <p:nvSpPr>
          <p:cNvPr id="17" name="">
            <a:extLst xmlns:a="http://schemas.openxmlformats.org/drawingml/2006/main">
              <a:ext uri="{FF2B5EF4-FFF2-40B4-BE49-F238E27FC236}">
                <a16:creationId xmlns:a16="http://schemas.microsoft.com/office/drawing/2014/main" id="{19F92C31-89B5-414A-A26F-0510D8F8929C}"/>
              </a:ext>
            </a:extLst>
          </p:cNvPr>
          <p:cNvSpPr>
            <a:spLocks xmlns:a="http://schemas.openxmlformats.org/drawingml/2006/main" noGrp="1"/>
          </p:cNvSpPr>
          <p:nvPr/>
        </p:nvSpPr>
        <p:spPr>
          <a:xfrm xmlns:a="http://schemas.openxmlformats.org/drawingml/2006/main">
            <a:off x="7943850" y="2933700"/>
            <a:ext cx="161925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Dispatch</a:t>
            </a:r>
          </a:p>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release + verify</a:t>
            </a:r>
          </a:p>
        </p:txBody>
      </p:sp>
      <p:cxnSp>
        <p:nvCxnSpPr>
          <p:cNvPr id="71" name=""/>
          <p:cNvCxnSpPr>
            <a:stCxn xmlns:a="http://schemas.openxmlformats.org/drawingml/2006/main" id="14" idx="3"/>
            <a:endCxn xmlns:a="http://schemas.openxmlformats.org/drawingml/2006/main" id="17" idx="1"/>
          </p:cNvCxnSpPr>
          <p:nvPr/>
        </p:nvCxnSpPr>
        <p:spPr>
          <a:xfrm xmlns:a="http://schemas.openxmlformats.org/drawingml/2006/main">
            <a:off x="7715250" y="3333750"/>
            <a:ext cx="228600"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19" name="">
            <a:extLst xmlns:a="http://schemas.openxmlformats.org/drawingml/2006/main">
              <a:ext uri="{FF2B5EF4-FFF2-40B4-BE49-F238E27FC236}">
                <a16:creationId xmlns:a16="http://schemas.microsoft.com/office/drawing/2014/main" id="{C45F4015-CE19-41BE-9AD5-1AF2A3191148}"/>
              </a:ext>
            </a:extLst>
          </p:cNvPr>
          <p:cNvSpPr>
            <a:spLocks xmlns:a="http://schemas.openxmlformats.org/drawingml/2006/main" noGrp="1"/>
          </p:cNvSpPr>
          <p:nvPr/>
        </p:nvSpPr>
        <p:spPr>
          <a:xfrm xmlns:a="http://schemas.openxmlformats.org/drawingml/2006/main">
            <a:off x="10315575" y="2095500"/>
            <a:ext cx="571500" cy="571500"/>
          </a:xfrm>
          <a:prstGeom xmlns:a="http://schemas.openxmlformats.org/drawingml/2006/main" prst="ellipse">
            <a:avLst/>
          </a:prstGeom>
          <a:solidFill xmlns:a="http://schemas.openxmlformats.org/drawingml/2006/main">
            <a:srgbClr val="15803D"/>
          </a:solidFill>
          <a:ln xmlns:a="http://schemas.openxmlformats.org/drawingml/2006/main" w="9525">
            <a:solidFill>
              <a:srgbClr val="15803D"/>
            </a:solidFill>
            <a:prstDash val="solid"/>
          </a:ln>
        </p:spPr>
        <p:txBody>
          <a:bodyPr xmlns:a="http://schemas.openxmlformats.org/drawingml/2006/main" lIns="114300" tIns="76200" rIns="114300" bIns="76200" anchor="ctr">
            <a:normAutofit fontScale="87389"/>
          </a:bodyPr>
          <a:lstStyle xmlns:a="http://schemas.openxmlformats.org/drawingml/2006/main"/>
          <a:p xmlns:a="http://schemas.openxmlformats.org/drawingml/2006/main">
            <a:pPr algn="ctr">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6</a:t>
            </a:r>
          </a:p>
        </p:txBody>
      </p:sp>
      <p:sp>
        <p:nvSpPr>
          <p:cNvPr id="20" name="">
            <a:extLst xmlns:a="http://schemas.openxmlformats.org/drawingml/2006/main">
              <a:ext uri="{FF2B5EF4-FFF2-40B4-BE49-F238E27FC236}">
                <a16:creationId xmlns:a16="http://schemas.microsoft.com/office/drawing/2014/main" id="{618D813B-A85C-4C3E-8DA9-65757433DE8F}"/>
              </a:ext>
            </a:extLst>
          </p:cNvPr>
          <p:cNvSpPr>
            <a:spLocks xmlns:a="http://schemas.openxmlformats.org/drawingml/2006/main" noGrp="1"/>
          </p:cNvSpPr>
          <p:nvPr/>
        </p:nvSpPr>
        <p:spPr>
          <a:xfrm xmlns:a="http://schemas.openxmlformats.org/drawingml/2006/main">
            <a:off x="9791700" y="2933700"/>
            <a:ext cx="161925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15803D"/>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Finish</a:t>
            </a:r>
          </a:p>
          <a:p xmlns:a="http://schemas.openxmlformats.org/drawingml/2006/main">
            <a:pPr algn="ctr">
              <a:lnSpc>
                <a:spcPct val="105000"/>
              </a:lnSpc>
              <a:buNone/>
              <a:defRPr sz="1200" b="1">
                <a:solidFill>
                  <a:srgbClr val="142735"/>
                </a:solidFill>
                <a:latin typeface="Arial"/>
                <a:ea typeface="Arial"/>
                <a:cs typeface="Arial"/>
              </a:defRPr>
            </a:pPr>
            <a:r>
              <a:rPr sz="1200" b="1">
                <a:solidFill>
                  <a:srgbClr val="142735"/>
                </a:solidFill>
                <a:latin typeface="Arial"/>
                <a:ea typeface="Arial"/>
                <a:cs typeface="Arial"/>
              </a:rPr>
              <a:t>status / home proof</a:t>
            </a:r>
          </a:p>
        </p:txBody>
      </p:sp>
      <p:cxnSp>
        <p:nvCxnSpPr>
          <p:cNvPr id="74" name=""/>
          <p:cNvCxnSpPr>
            <a:stCxn xmlns:a="http://schemas.openxmlformats.org/drawingml/2006/main" id="17" idx="3"/>
            <a:endCxn xmlns:a="http://schemas.openxmlformats.org/drawingml/2006/main" id="20" idx="1"/>
          </p:cNvCxnSpPr>
          <p:nvPr/>
        </p:nvCxnSpPr>
        <p:spPr>
          <a:xfrm xmlns:a="http://schemas.openxmlformats.org/drawingml/2006/main">
            <a:off x="9563100" y="3333750"/>
            <a:ext cx="228600" cy="0"/>
          </a:xfrm>
          <a:prstGeom xmlns:a="http://schemas.openxmlformats.org/drawingml/2006/main" prst="straightConnector1">
            <a:avLst/>
          </a:prstGeom>
          <a:ln xmlns:a="http://schemas.openxmlformats.org/drawingml/2006/main" w="19050">
            <a:solidFill>
              <a:srgbClr val="94A3B8"/>
            </a:solidFill>
            <a:prstDash val="solid"/>
            <a:headEnd type="none" w="med" len="med"/>
            <a:tailEnd type="arrow" w="sm" len="sm"/>
          </a:ln>
        </p:spPr>
      </p:cxnSp>
      <p:sp>
        <p:nvSpPr>
          <p:cNvPr id="22" name="">
            <a:extLst xmlns:a="http://schemas.openxmlformats.org/drawingml/2006/main">
              <a:ext uri="{FF2B5EF4-FFF2-40B4-BE49-F238E27FC236}">
                <a16:creationId xmlns:a16="http://schemas.microsoft.com/office/drawing/2014/main" id="{047A7F85-BBFB-4B1E-9130-69748AEE4CC4}"/>
              </a:ext>
            </a:extLst>
          </p:cNvPr>
          <p:cNvSpPr>
            <a:spLocks xmlns:a="http://schemas.openxmlformats.org/drawingml/2006/main" noGrp="1"/>
          </p:cNvSpPr>
          <p:nvPr/>
        </p:nvSpPr>
        <p:spPr>
          <a:xfrm xmlns:a="http://schemas.openxmlformats.org/drawingml/2006/main">
            <a:off x="609600" y="4410075"/>
            <a:ext cx="2571750" cy="304800"/>
          </a:xfrm>
          <a:prstGeom xmlns:a="http://schemas.openxmlformats.org/drawingml/2006/main" prst="roundRect">
            <a:avLst>
              <a:gd name="adj" fmla="val 37500"/>
            </a:avLst>
          </a:prstGeom>
          <a:solidFill xmlns:a="http://schemas.openxmlformats.org/drawingml/2006/main">
            <a:srgbClr val="EAF2FF"/>
          </a:solidFill>
          <a:ln xmlns:a="http://schemas.openxmlformats.org/drawingml/2006/main" w="9525">
            <a:solidFill>
              <a:srgbClr val="1D4ED8"/>
            </a:solidFill>
            <a:prstDash val="solid"/>
          </a:ln>
        </p:spPr>
        <p:txBody>
          <a:bodyPr xmlns:a="http://schemas.openxmlformats.org/drawingml/2006/main" lIns="76200" tIns="38100" rIns="76200" bIns="38100" anchor="ctr">
            <a:normAutofit fontScale="96205"/>
          </a:bodyPr>
          <a:lstStyle xmlns:a="http://schemas.openxmlformats.org/drawingml/2006/main"/>
          <a:p xmlns:a="http://schemas.openxmlformats.org/drawingml/2006/main">
            <a:pPr algn="ctr">
              <a:lnSpc>
                <a:spcPct val="105000"/>
              </a:lnSpc>
              <a:buNone/>
              <a:defRPr sz="1050" b="1">
                <a:solidFill>
                  <a:srgbClr val="1D4ED8"/>
                </a:solidFill>
                <a:latin typeface="Arial"/>
                <a:ea typeface="Arial"/>
                <a:cs typeface="Arial"/>
              </a:defRPr>
            </a:pPr>
            <a:r>
              <a:rPr sz="1050" b="1">
                <a:solidFill>
                  <a:srgbClr val="1D4ED8"/>
                </a:solidFill>
                <a:latin typeface="Arial"/>
                <a:ea typeface="Arial"/>
                <a:cs typeface="Arial"/>
              </a:rPr>
              <a:t>KEY ACTION INTERFACES</a:t>
            </a:r>
          </a:p>
        </p:txBody>
      </p:sp>
      <p:sp>
        <p:nvSpPr>
          <p:cNvPr id="23" name="">
            <a:extLst xmlns:a="http://schemas.openxmlformats.org/drawingml/2006/main">
              <a:ext uri="{FF2B5EF4-FFF2-40B4-BE49-F238E27FC236}">
                <a16:creationId xmlns:a16="http://schemas.microsoft.com/office/drawing/2014/main" id="{7B29B21C-A475-4993-86CD-4290538581A9}"/>
              </a:ext>
            </a:extLst>
          </p:cNvPr>
          <p:cNvSpPr>
            <a:spLocks xmlns:a="http://schemas.openxmlformats.org/drawingml/2006/main" noGrp="1"/>
          </p:cNvSpPr>
          <p:nvPr/>
        </p:nvSpPr>
        <p:spPr>
          <a:xfrm xmlns:a="http://schemas.openxmlformats.org/drawingml/2006/main">
            <a:off x="742950" y="48768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/amr/factory/run_sequence</a:t>
            </a:r>
          </a:p>
        </p:txBody>
      </p:sp>
      <p:sp>
        <p:nvSpPr>
          <p:cNvPr id="24" name="">
            <a:extLst xmlns:a="http://schemas.openxmlformats.org/drawingml/2006/main">
              <a:ext uri="{FF2B5EF4-FFF2-40B4-BE49-F238E27FC236}">
                <a16:creationId xmlns:a16="http://schemas.microsoft.com/office/drawing/2014/main" id="{A12A90CA-501C-4B6E-9257-D27BD7E4C1AB}"/>
              </a:ext>
            </a:extLst>
          </p:cNvPr>
          <p:cNvSpPr>
            <a:spLocks xmlns:a="http://schemas.openxmlformats.org/drawingml/2006/main" noGrp="1"/>
          </p:cNvSpPr>
          <p:nvPr/>
        </p:nvSpPr>
        <p:spPr>
          <a:xfrm xmlns:a="http://schemas.openxmlformats.org/drawingml/2006/main">
            <a:off x="5905500" y="4876800"/>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2606D"/>
                </a:solidFill>
                <a:latin typeface="Arial"/>
                <a:ea typeface="Arial"/>
                <a:cs typeface="Arial"/>
              </a:defRPr>
            </a:pPr>
            <a:r>
              <a:rPr sz="1125" b="0">
                <a:solidFill>
                  <a:srgbClr val="52606D"/>
                </a:solidFill>
                <a:latin typeface="Arial"/>
                <a:ea typeface="Arial"/>
                <a:cs typeface="Arial"/>
              </a:rPr>
              <a:t>bounded product sequence</a:t>
            </a:r>
          </a:p>
        </p:txBody>
      </p:sp>
      <p:sp>
        <p:nvSpPr>
          <p:cNvPr id="25" name="">
            <a:extLst xmlns:a="http://schemas.openxmlformats.org/drawingml/2006/main">
              <a:ext uri="{FF2B5EF4-FFF2-40B4-BE49-F238E27FC236}">
                <a16:creationId xmlns:a16="http://schemas.microsoft.com/office/drawing/2014/main" id="{CA27DFBE-DC4D-4E2C-BDFD-5F16F4C0448B}"/>
              </a:ext>
            </a:extLst>
          </p:cNvPr>
          <p:cNvSpPr>
            <a:spLocks xmlns:a="http://schemas.openxmlformats.org/drawingml/2006/main" noGrp="1"/>
          </p:cNvSpPr>
          <p:nvPr/>
        </p:nvSpPr>
        <p:spPr>
          <a:xfrm xmlns:a="http://schemas.openxmlformats.org/drawingml/2006/main">
            <a:off x="742950" y="51435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/amr/factory/transport_product</a:t>
            </a:r>
          </a:p>
        </p:txBody>
      </p:sp>
      <p:sp>
        <p:nvSpPr>
          <p:cNvPr id="26" name="">
            <a:extLst xmlns:a="http://schemas.openxmlformats.org/drawingml/2006/main">
              <a:ext uri="{FF2B5EF4-FFF2-40B4-BE49-F238E27FC236}">
                <a16:creationId xmlns:a16="http://schemas.microsoft.com/office/drawing/2014/main" id="{3111BB72-B51A-4BC8-B077-A0199BFF763F}"/>
              </a:ext>
            </a:extLst>
          </p:cNvPr>
          <p:cNvSpPr>
            <a:spLocks xmlns:a="http://schemas.openxmlformats.org/drawingml/2006/main" noGrp="1"/>
          </p:cNvSpPr>
          <p:nvPr/>
        </p:nvSpPr>
        <p:spPr>
          <a:xfrm xmlns:a="http://schemas.openxmlformats.org/drawingml/2006/main">
            <a:off x="5905500" y="5143500"/>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2606D"/>
                </a:solidFill>
                <a:latin typeface="Arial"/>
                <a:ea typeface="Arial"/>
                <a:cs typeface="Arial"/>
              </a:defRPr>
            </a:pPr>
            <a:r>
              <a:rPr sz="1125" b="0">
                <a:solidFill>
                  <a:srgbClr val="52606D"/>
                </a:solidFill>
                <a:latin typeface="Arial"/>
                <a:ea typeface="Arial"/>
                <a:cs typeface="Arial"/>
              </a:rPr>
              <a:t>factory supervisor transport action</a:t>
            </a:r>
          </a:p>
        </p:txBody>
      </p:sp>
      <p:sp>
        <p:nvSpPr>
          <p:cNvPr id="27" name="">
            <a:extLst xmlns:a="http://schemas.openxmlformats.org/drawingml/2006/main">
              <a:ext uri="{FF2B5EF4-FFF2-40B4-BE49-F238E27FC236}">
                <a16:creationId xmlns:a16="http://schemas.microsoft.com/office/drawing/2014/main" id="{E141DF54-6B63-4A81-90B4-CDA9E753292F}"/>
              </a:ext>
            </a:extLst>
          </p:cNvPr>
          <p:cNvSpPr>
            <a:spLocks xmlns:a="http://schemas.openxmlformats.org/drawingml/2006/main" noGrp="1"/>
          </p:cNvSpPr>
          <p:nvPr/>
        </p:nvSpPr>
        <p:spPr>
          <a:xfrm xmlns:a="http://schemas.openxmlformats.org/drawingml/2006/main">
            <a:off x="742950" y="54102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/amr/manipulation/execute_product_cycle</a:t>
            </a:r>
          </a:p>
        </p:txBody>
      </p:sp>
      <p:sp>
        <p:nvSpPr>
          <p:cNvPr id="28" name="">
            <a:extLst xmlns:a="http://schemas.openxmlformats.org/drawingml/2006/main">
              <a:ext uri="{FF2B5EF4-FFF2-40B4-BE49-F238E27FC236}">
                <a16:creationId xmlns:a16="http://schemas.microsoft.com/office/drawing/2014/main" id="{40D0B7BB-B2DA-4537-A2D4-3096C5904E1E}"/>
              </a:ext>
            </a:extLst>
          </p:cNvPr>
          <p:cNvSpPr>
            <a:spLocks xmlns:a="http://schemas.openxmlformats.org/drawingml/2006/main" noGrp="1"/>
          </p:cNvSpPr>
          <p:nvPr/>
        </p:nvSpPr>
        <p:spPr>
          <a:xfrm xmlns:a="http://schemas.openxmlformats.org/drawingml/2006/main">
            <a:off x="5905500" y="5410200"/>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2606D"/>
                </a:solidFill>
                <a:latin typeface="Arial"/>
                <a:ea typeface="Arial"/>
                <a:cs typeface="Arial"/>
              </a:defRPr>
            </a:pPr>
            <a:r>
              <a:rPr sz="1125" b="0">
                <a:solidFill>
                  <a:srgbClr val="52606D"/>
                </a:solidFill>
                <a:latin typeface="Arial"/>
                <a:ea typeface="Arial"/>
                <a:cs typeface="Arial"/>
              </a:rPr>
              <a:t>cycle manipulation action</a:t>
            </a:r>
          </a:p>
        </p:txBody>
      </p:sp>
      <p:sp>
        <p:nvSpPr>
          <p:cNvPr id="29" name="">
            <a:extLst xmlns:a="http://schemas.openxmlformats.org/drawingml/2006/main">
              <a:ext uri="{FF2B5EF4-FFF2-40B4-BE49-F238E27FC236}">
                <a16:creationId xmlns:a16="http://schemas.microsoft.com/office/drawing/2014/main" id="{FD651FEC-DE65-4C98-A102-2839D9EB36E9}"/>
              </a:ext>
            </a:extLst>
          </p:cNvPr>
          <p:cNvSpPr>
            <a:spLocks xmlns:a="http://schemas.openxmlformats.org/drawingml/2006/main" noGrp="1"/>
          </p:cNvSpPr>
          <p:nvPr/>
        </p:nvSpPr>
        <p:spPr>
          <a:xfrm xmlns:a="http://schemas.openxmlformats.org/drawingml/2006/main">
            <a:off x="742950" y="56769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/amr/mission/navigate_to_pose</a:t>
            </a:r>
          </a:p>
        </p:txBody>
      </p:sp>
      <p:sp>
        <p:nvSpPr>
          <p:cNvPr id="30" name="">
            <a:extLst xmlns:a="http://schemas.openxmlformats.org/drawingml/2006/main">
              <a:ext uri="{FF2B5EF4-FFF2-40B4-BE49-F238E27FC236}">
                <a16:creationId xmlns:a16="http://schemas.microsoft.com/office/drawing/2014/main" id="{9479F4B6-2BEB-4E3E-91E8-7E6DFC3A9F43}"/>
              </a:ext>
            </a:extLst>
          </p:cNvPr>
          <p:cNvSpPr>
            <a:spLocks xmlns:a="http://schemas.openxmlformats.org/drawingml/2006/main" noGrp="1"/>
          </p:cNvSpPr>
          <p:nvPr/>
        </p:nvSpPr>
        <p:spPr>
          <a:xfrm xmlns:a="http://schemas.openxmlformats.org/drawingml/2006/main">
            <a:off x="5905500" y="5676900"/>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52606D"/>
                </a:solidFill>
                <a:latin typeface="Arial"/>
                <a:ea typeface="Arial"/>
                <a:cs typeface="Arial"/>
              </a:defRPr>
            </a:pPr>
            <a:r>
              <a:rPr sz="1125" b="0">
                <a:solidFill>
                  <a:srgbClr val="52606D"/>
                </a:solidFill>
                <a:latin typeface="Arial"/>
                <a:ea typeface="Arial"/>
                <a:cs typeface="Arial"/>
              </a:rPr>
              <a:t>navigation action</a:t>
            </a:r>
          </a:p>
        </p:txBody>
      </p:sp>
      <p:sp>
        <p:nvSpPr>
          <p:cNvPr id="31" name="">
            <a:extLst xmlns:a="http://schemas.openxmlformats.org/drawingml/2006/main">
              <a:ext uri="{FF2B5EF4-FFF2-40B4-BE49-F238E27FC236}">
                <a16:creationId xmlns:a16="http://schemas.microsoft.com/office/drawing/2014/main" id="{2C27A6C5-D713-4AFF-97F0-692ACA5B25F4}"/>
              </a:ext>
            </a:extLst>
          </p:cNvPr>
          <p:cNvSpPr>
            <a:spLocks xmlns:a="http://schemas.openxmlformats.org/drawingml/2006/main" noGrp="1"/>
          </p:cNvSpPr>
          <p:nvPr/>
        </p:nvSpPr>
        <p:spPr>
          <a:xfrm xmlns:a="http://schemas.openxmlformats.org/drawingml/2006/main">
            <a:off x="533400" y="6543675"/>
            <a:ext cx="1009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94A3B8"/>
                </a:solidFill>
                <a:latin typeface="Arial"/>
                <a:ea typeface="Arial"/>
                <a:cs typeface="Arial"/>
              </a:defRPr>
            </a:pPr>
            <a:r>
              <a:rPr sz="750" b="0">
                <a:solidFill>
                  <a:srgbClr val="94A3B8"/>
                </a:solidFill>
                <a:latin typeface="Arial"/>
                <a:ea typeface="Arial"/>
                <a:cs typeface="Arial"/>
              </a:rPr>
              <a:t>Sources: src/amr_bringup/config/interface_ownership.yaml; src/amr_factory/launch/factory_autonomous.launch.py; src/amr_manipulation</a:t>
            </a:r>
          </a:p>
        </p:txBody>
      </p:sp>
      <p:sp>
        <p:nvSpPr>
          <p:cNvPr id="32" name="">
            <a:extLst xmlns:a="http://schemas.openxmlformats.org/drawingml/2006/main">
              <a:ext uri="{FF2B5EF4-FFF2-40B4-BE49-F238E27FC236}">
                <a16:creationId xmlns:a16="http://schemas.microsoft.com/office/drawing/2014/main" id="{B02ED902-E879-4BFE-9EDE-C5C0E857A25F}"/>
              </a:ext>
            </a:extLst>
          </p:cNvPr>
          <p:cNvSpPr>
            <a:spLocks xmlns:a="http://schemas.openxmlformats.org/drawingml/2006/main" noGrp="1"/>
          </p:cNvSpPr>
          <p:nvPr/>
        </p:nvSpPr>
        <p:spPr>
          <a:xfrm xmlns:a="http://schemas.openxmlformats.org/drawingml/2006/main">
            <a:off x="11191875" y="65151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16</a:t>
            </a:r>
          </a:p>
        </p:txBody>
      </p:sp>
    </p:spTree>
    <p:extLst>
      <p:ext uri="{BB962C8B-B14F-4D97-AF65-F5344CB8AC3E}">
        <p14:creationId xmlns:p14="http://schemas.microsoft.com/office/powerpoint/2010/main" val="1758666638"/>
      </p:ext>
    </p:extLst>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0656F68-09C7-4714-8358-521E0A9D477C}"/>
              </a:ext>
            </a:extLst>
          </p:cNvPr>
          <p:cNvSpPr>
            <a:spLocks xmlns:a="http://schemas.openxmlformats.org/drawingml/2006/main" noGrp="1"/>
          </p:cNvSpPr>
          <p:nvPr/>
        </p:nvSpPr>
        <p:spPr>
          <a:xfrm xmlns:a="http://schemas.openxmlformats.org/drawingml/2006/main">
            <a:off x="552450" y="2286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AMR ROS 2 SOFTWARE ARCHITECTURE</a:t>
            </a:r>
          </a:p>
        </p:txBody>
      </p:sp>
      <p:sp>
        <p:nvSpPr>
          <p:cNvPr id="2" name="">
            <a:extLst xmlns:a="http://schemas.openxmlformats.org/drawingml/2006/main">
              <a:ext uri="{FF2B5EF4-FFF2-40B4-BE49-F238E27FC236}">
                <a16:creationId xmlns:a16="http://schemas.microsoft.com/office/drawing/2014/main" id="{EFB9056B-FEEC-4E35-B4CD-F4605985B257}"/>
              </a:ext>
            </a:extLst>
          </p:cNvPr>
          <p:cNvSpPr>
            <a:spLocks xmlns:a="http://schemas.openxmlformats.org/drawingml/2006/main" noGrp="1"/>
          </p:cNvSpPr>
          <p:nvPr/>
        </p:nvSpPr>
        <p:spPr>
          <a:xfrm xmlns:a="http://schemas.openxmlformats.org/drawingml/2006/main">
            <a:off x="533400" y="4095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325" b="1">
                <a:solidFill>
                  <a:srgbClr val="142735"/>
                </a:solidFill>
                <a:latin typeface="Arial"/>
                <a:ea typeface="Arial"/>
                <a:cs typeface="Arial"/>
              </a:defRPr>
            </a:pPr>
            <a:r>
              <a:rPr sz="2325" b="1">
                <a:solidFill>
                  <a:srgbClr val="142735"/>
                </a:solidFill>
                <a:latin typeface="Arial"/>
                <a:ea typeface="Arial"/>
                <a:cs typeface="Arial"/>
              </a:rPr>
              <a:t>Third-party packages and project plugins</a:t>
            </a:r>
          </a:p>
        </p:txBody>
      </p:sp>
      <p:sp>
        <p:nvSpPr>
          <p:cNvPr id="3" name="">
            <a:extLst xmlns:a="http://schemas.openxmlformats.org/drawingml/2006/main">
              <a:ext uri="{FF2B5EF4-FFF2-40B4-BE49-F238E27FC236}">
                <a16:creationId xmlns:a16="http://schemas.microsoft.com/office/drawing/2014/main" id="{FFA0B836-6C86-4BCA-B72A-FFC98A49E9A0}"/>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2052BB9B-9454-48F7-916A-D3BC65AEA08E}"/>
              </a:ext>
            </a:extLst>
          </p:cNvPr>
          <p:cNvSpPr>
            <a:spLocks xmlns:a="http://schemas.openxmlformats.org/drawingml/2006/main" noGrp="1"/>
          </p:cNvSpPr>
          <p:nvPr/>
        </p:nvSpPr>
        <p:spPr>
          <a:xfrm xmlns:a="http://schemas.openxmlformats.org/drawingml/2006/main">
            <a:off x="609600" y="11620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14300" tIns="76200" rIns="114300" bIns="76200" anchor="t">
            <a:normAutofit fontScale="79365"/>
          </a:bodyPr>
          <a:lstStyle xmlns:a="http://schemas.openxmlformats.org/drawingml/2006/main"/>
          <a:p xmlns:a="http://schemas.openxmlformats.org/drawingml/2006/main">
            <a:pPr algn="l">
              <a:lnSpc>
                <a:spcPct val="105000"/>
              </a:lnSpc>
              <a:buNone/>
              <a:defRPr sz="1350" b="0">
                <a:solidFill>
                  <a:srgbClr val="52606D"/>
                </a:solidFill>
                <a:latin typeface="Arial"/>
                <a:ea typeface="Arial"/>
                <a:cs typeface="Arial"/>
              </a:defRPr>
            </a:pPr>
            <a:r>
              <a:rPr sz="1350" b="0">
                <a:solidFill>
                  <a:srgbClr val="52606D"/>
                </a:solidFill>
                <a:latin typeface="Arial"/>
                <a:ea typeface="Arial"/>
                <a:cs typeface="Arial"/>
              </a:rPr>
              <a:t>The system combines established ROS 2 packages with project-owned adapters, controllers and acceptance gates</a:t>
            </a:r>
          </a:p>
        </p:txBody>
      </p:sp>
      <p:sp>
        <p:nvSpPr>
          <p:cNvPr id="5" name="">
            <a:extLst xmlns:a="http://schemas.openxmlformats.org/drawingml/2006/main">
              <a:ext uri="{FF2B5EF4-FFF2-40B4-BE49-F238E27FC236}">
                <a16:creationId xmlns:a16="http://schemas.microsoft.com/office/drawing/2014/main" id="{01D07001-1F85-4220-8453-31985250A544}"/>
              </a:ext>
            </a:extLst>
          </p:cNvPr>
          <p:cNvSpPr>
            <a:spLocks xmlns:a="http://schemas.openxmlformats.org/drawingml/2006/main" noGrp="1"/>
          </p:cNvSpPr>
          <p:nvPr/>
        </p:nvSpPr>
        <p:spPr>
          <a:xfrm xmlns:a="http://schemas.openxmlformats.org/drawingml/2006/main">
            <a:off x="609600" y="1943100"/>
            <a:ext cx="3619500" cy="304800"/>
          </a:xfrm>
          <a:prstGeom xmlns:a="http://schemas.openxmlformats.org/drawingml/2006/main" prst="roundRect">
            <a:avLst>
              <a:gd name="adj" fmla="val 37500"/>
            </a:avLst>
          </a:prstGeom>
          <a:solidFill xmlns:a="http://schemas.openxmlformats.org/drawingml/2006/main">
            <a:srgbClr val="EAF2FF"/>
          </a:solidFill>
          <a:ln xmlns:a="http://schemas.openxmlformats.org/drawingml/2006/main" w="9525">
            <a:solidFill>
              <a:srgbClr val="1D4ED8"/>
            </a:solidFill>
            <a:prstDash val="solid"/>
          </a:ln>
        </p:spPr>
        <p:txBody>
          <a:bodyPr xmlns:a="http://schemas.openxmlformats.org/drawingml/2006/main" lIns="76200" tIns="38100" rIns="76200" bIns="38100" anchor="ctr">
            <a:normAutofit fontScale="96205"/>
          </a:bodyPr>
          <a:lstStyle xmlns:a="http://schemas.openxmlformats.org/drawingml/2006/main"/>
          <a:p xmlns:a="http://schemas.openxmlformats.org/drawingml/2006/main">
            <a:pPr algn="ctr">
              <a:lnSpc>
                <a:spcPct val="105000"/>
              </a:lnSpc>
              <a:buNone/>
              <a:defRPr sz="1050" b="1">
                <a:solidFill>
                  <a:srgbClr val="1D4ED8"/>
                </a:solidFill>
                <a:latin typeface="Arial"/>
                <a:ea typeface="Arial"/>
                <a:cs typeface="Arial"/>
              </a:defRPr>
            </a:pPr>
            <a:r>
              <a:rPr sz="1050" b="1">
                <a:solidFill>
                  <a:srgbClr val="1D4ED8"/>
                </a:solidFill>
                <a:latin typeface="Arial"/>
                <a:ea typeface="Arial"/>
                <a:cs typeface="Arial"/>
              </a:rPr>
              <a:t>THIRD-PARTY / OPEN SOURCE</a:t>
            </a:r>
          </a:p>
        </p:txBody>
      </p:sp>
      <p:sp>
        <p:nvSpPr>
          <p:cNvPr id="6" name="">
            <a:extLst xmlns:a="http://schemas.openxmlformats.org/drawingml/2006/main">
              <a:ext uri="{FF2B5EF4-FFF2-40B4-BE49-F238E27FC236}">
                <a16:creationId xmlns:a16="http://schemas.microsoft.com/office/drawing/2014/main" id="{56668768-5F32-40F5-BE75-E0997C408619}"/>
              </a:ext>
            </a:extLst>
          </p:cNvPr>
          <p:cNvSpPr>
            <a:spLocks xmlns:a="http://schemas.openxmlformats.org/drawingml/2006/main" noGrp="1"/>
          </p:cNvSpPr>
          <p:nvPr/>
        </p:nvSpPr>
        <p:spPr>
          <a:xfrm xmlns:a="http://schemas.openxmlformats.org/drawingml/2006/main">
            <a:off x="723900" y="2400300"/>
            <a:ext cx="476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marL="228600" indent="-114300" algn="l">
              <a:lnSpc>
                <a:spcPct val="108000"/>
              </a:lnSpc>
              <a:spcAft>
                <a:spcPts val="600"/>
              </a:spcAft>
              <a:buNone/>
              <a:defRPr sz="1275" b="0">
                <a:solidFill>
                  <a:srgbClr val="142735"/>
                </a:solidFill>
                <a:latin typeface="Arial"/>
                <a:ea typeface="Arial"/>
                <a:cs typeface="Arial"/>
              </a:defRPr>
            </a:pPr>
            <a:r>
              <a:rPr sz="1275" b="0">
                <a:solidFill>
                  <a:srgbClr val="142735"/>
                </a:solidFill>
                <a:latin typeface="Arial"/>
                <a:ea typeface="Arial"/>
                <a:cs typeface="Arial"/>
              </a:rPr>
              <a:t>ROS 2 Humble, Gazebo Harmonic, ros_gz_bridge</a:t>
            </a:r>
          </a:p>
          <a:p xmlns:a="http://schemas.openxmlformats.org/drawingml/2006/main">
            <a:pPr marL="228600" indent="-114300" algn="l">
              <a:lnSpc>
                <a:spcPct val="108000"/>
              </a:lnSpc>
              <a:spcAft>
                <a:spcPts val="600"/>
              </a:spcAft>
              <a:buNone/>
              <a:defRPr sz="1275" b="0">
                <a:solidFill>
                  <a:srgbClr val="142735"/>
                </a:solidFill>
                <a:latin typeface="Arial"/>
                <a:ea typeface="Arial"/>
                <a:cs typeface="Arial"/>
              </a:defRPr>
            </a:pPr>
            <a:r>
              <a:rPr sz="1275" b="0">
                <a:solidFill>
                  <a:srgbClr val="142735"/>
                </a:solidFill>
                <a:latin typeface="Arial"/>
                <a:ea typeface="Arial"/>
                <a:cs typeface="Arial"/>
              </a:rPr>
              <a:t>Nav2, robot_localization and SLAM Toolbox</a:t>
            </a:r>
          </a:p>
          <a:p xmlns:a="http://schemas.openxmlformats.org/drawingml/2006/main">
            <a:pPr marL="228600" indent="-114300" algn="l">
              <a:lnSpc>
                <a:spcPct val="108000"/>
              </a:lnSpc>
              <a:spcAft>
                <a:spcPts val="600"/>
              </a:spcAft>
              <a:buNone/>
              <a:defRPr sz="1275" b="0">
                <a:solidFill>
                  <a:srgbClr val="142735"/>
                </a:solidFill>
                <a:latin typeface="Arial"/>
                <a:ea typeface="Arial"/>
                <a:cs typeface="Arial"/>
              </a:defRPr>
            </a:pPr>
            <a:r>
              <a:rPr sz="1275" b="0">
                <a:solidFill>
                  <a:srgbClr val="142735"/>
                </a:solidFill>
                <a:latin typeface="Arial"/>
                <a:ea typeface="Arial"/>
                <a:cs typeface="Arial"/>
              </a:rPr>
              <a:t>MoveIt 2 and moveit_configs_utils</a:t>
            </a:r>
          </a:p>
          <a:p xmlns:a="http://schemas.openxmlformats.org/drawingml/2006/main">
            <a:pPr marL="228600" indent="-114300" algn="l">
              <a:lnSpc>
                <a:spcPct val="108000"/>
              </a:lnSpc>
              <a:spcAft>
                <a:spcPts val="600"/>
              </a:spcAft>
              <a:buNone/>
              <a:defRPr sz="1275" b="0">
                <a:solidFill>
                  <a:srgbClr val="142735"/>
                </a:solidFill>
                <a:latin typeface="Arial"/>
                <a:ea typeface="Arial"/>
                <a:cs typeface="Arial"/>
              </a:defRPr>
            </a:pPr>
            <a:r>
              <a:rPr sz="1275" b="0">
                <a:solidFill>
                  <a:srgbClr val="142735"/>
                </a:solidFill>
                <a:latin typeface="Arial"/>
                <a:ea typeface="Arial"/>
                <a:cs typeface="Arial"/>
              </a:rPr>
              <a:t>AprilTag ROS, tf2 and sensor / geometry message packages</a:t>
            </a:r>
          </a:p>
          <a:p xmlns:a="http://schemas.openxmlformats.org/drawingml/2006/main">
            <a:pPr marL="228600" indent="-114300" algn="l">
              <a:lnSpc>
                <a:spcPct val="108000"/>
              </a:lnSpc>
              <a:spcAft>
                <a:spcPts val="600"/>
              </a:spcAft>
              <a:buNone/>
              <a:defRPr sz="1275" b="0">
                <a:solidFill>
                  <a:srgbClr val="142735"/>
                </a:solidFill>
                <a:latin typeface="Arial"/>
                <a:ea typeface="Arial"/>
                <a:cs typeface="Arial"/>
              </a:defRPr>
            </a:pPr>
            <a:r>
              <a:rPr sz="1275" b="0">
                <a:solidFill>
                  <a:srgbClr val="142735"/>
                </a:solidFill>
                <a:latin typeface="Arial"/>
                <a:ea typeface="Arial"/>
                <a:cs typeface="Arial"/>
              </a:rPr>
              <a:t>gz_ros2_control and the KUKA support description</a:t>
            </a:r>
          </a:p>
        </p:txBody>
      </p:sp>
      <p:sp>
        <p:nvSpPr>
          <p:cNvPr id="7" name="">
            <a:extLst xmlns:a="http://schemas.openxmlformats.org/drawingml/2006/main">
              <a:ext uri="{FF2B5EF4-FFF2-40B4-BE49-F238E27FC236}">
                <a16:creationId xmlns:a16="http://schemas.microsoft.com/office/drawing/2014/main" id="{1ABE9DC7-5FAF-46D6-AEE3-EBF715089B98}"/>
              </a:ext>
            </a:extLst>
          </p:cNvPr>
          <p:cNvSpPr>
            <a:spLocks xmlns:a="http://schemas.openxmlformats.org/drawingml/2006/main" noGrp="1"/>
          </p:cNvSpPr>
          <p:nvPr/>
        </p:nvSpPr>
        <p:spPr>
          <a:xfrm xmlns:a="http://schemas.openxmlformats.org/drawingml/2006/main">
            <a:off x="6191250" y="1943100"/>
            <a:ext cx="3429000" cy="304800"/>
          </a:xfrm>
          <a:prstGeom xmlns:a="http://schemas.openxmlformats.org/drawingml/2006/main" prst="roundRect">
            <a:avLst>
              <a:gd name="adj" fmla="val 37500"/>
            </a:avLst>
          </a:prstGeom>
          <a:solidFill xmlns:a="http://schemas.openxmlformats.org/drawingml/2006/main">
            <a:srgbClr val="FFF1E8"/>
          </a:solidFill>
          <a:ln xmlns:a="http://schemas.openxmlformats.org/drawingml/2006/main" w="9525">
            <a:solidFill>
              <a:srgbClr val="C2410C"/>
            </a:solidFill>
            <a:prstDash val="solid"/>
          </a:ln>
        </p:spPr>
        <p:txBody>
          <a:bodyPr xmlns:a="http://schemas.openxmlformats.org/drawingml/2006/main" lIns="76200" tIns="38100" rIns="76200" bIns="38100" anchor="ctr">
            <a:normAutofit fontScale="96205"/>
          </a:bodyPr>
          <a:lstStyle xmlns:a="http://schemas.openxmlformats.org/drawingml/2006/main"/>
          <a:p xmlns:a="http://schemas.openxmlformats.org/drawingml/2006/main">
            <a:pPr algn="ctr">
              <a:lnSpc>
                <a:spcPct val="105000"/>
              </a:lnSpc>
              <a:buNone/>
              <a:defRPr sz="1050" b="1">
                <a:solidFill>
                  <a:srgbClr val="C2410C"/>
                </a:solidFill>
                <a:latin typeface="Arial"/>
                <a:ea typeface="Arial"/>
                <a:cs typeface="Arial"/>
              </a:defRPr>
            </a:pPr>
            <a:r>
              <a:rPr sz="1050" b="1">
                <a:solidFill>
                  <a:srgbClr val="C2410C"/>
                </a:solidFill>
                <a:latin typeface="Arial"/>
                <a:ea typeface="Arial"/>
                <a:cs typeface="Arial"/>
              </a:rPr>
              <a:t>PROJECT-OWNED EXTENSIONS</a:t>
            </a:r>
          </a:p>
        </p:txBody>
      </p:sp>
      <p:sp>
        <p:nvSpPr>
          <p:cNvPr id="8" name="">
            <a:extLst xmlns:a="http://schemas.openxmlformats.org/drawingml/2006/main">
              <a:ext uri="{FF2B5EF4-FFF2-40B4-BE49-F238E27FC236}">
                <a16:creationId xmlns:a16="http://schemas.microsoft.com/office/drawing/2014/main" id="{3ED76004-9A39-41EA-8CC0-24DFA82E2918}"/>
              </a:ext>
            </a:extLst>
          </p:cNvPr>
          <p:cNvSpPr>
            <a:spLocks xmlns:a="http://schemas.openxmlformats.org/drawingml/2006/main" noGrp="1"/>
          </p:cNvSpPr>
          <p:nvPr/>
        </p:nvSpPr>
        <p:spPr>
          <a:xfrm xmlns:a="http://schemas.openxmlformats.org/drawingml/2006/main">
            <a:off x="6305550" y="24003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marL="228600" indent="-114300" algn="l">
              <a:lnSpc>
                <a:spcPct val="108000"/>
              </a:lnSpc>
              <a:spcAft>
                <a:spcPts val="600"/>
              </a:spcAft>
              <a:buNone/>
              <a:defRPr sz="1275" b="0">
                <a:solidFill>
                  <a:srgbClr val="142735"/>
                </a:solidFill>
                <a:latin typeface="Arial"/>
                <a:ea typeface="Arial"/>
                <a:cs typeface="Arial"/>
              </a:defRPr>
            </a:pPr>
            <a:r>
              <a:rPr sz="1275" b="0">
                <a:solidFill>
                  <a:srgbClr val="142735"/>
                </a:solidFill>
                <a:latin typeface="Arial"/>
                <a:ea typeface="Arial"/>
                <a:cs typeface="Arial"/>
              </a:rPr>
              <a:t>HeadingLatchedRPP and FinalPositionRPP controller plugins</a:t>
            </a:r>
          </a:p>
          <a:p xmlns:a="http://schemas.openxmlformats.org/drawingml/2006/main">
            <a:pPr marL="228600" indent="-114300" algn="l">
              <a:lnSpc>
                <a:spcPct val="108000"/>
              </a:lnSpc>
              <a:spcAft>
                <a:spcPts val="600"/>
              </a:spcAft>
              <a:buNone/>
              <a:defRPr sz="1275" b="0">
                <a:solidFill>
                  <a:srgbClr val="142735"/>
                </a:solidFill>
                <a:latin typeface="Arial"/>
                <a:ea typeface="Arial"/>
                <a:cs typeface="Arial"/>
              </a:defRPr>
            </a:pPr>
            <a:r>
              <a:rPr sz="1275" b="0">
                <a:solidFill>
                  <a:srgbClr val="142735"/>
                </a:solidFill>
                <a:latin typeface="Arial"/>
                <a:ea typeface="Arial"/>
                <a:cs typeface="Arial"/>
              </a:rPr>
              <a:t>PrecisionNavfnPlanner and ExactGoalLattice planner plugins</a:t>
            </a:r>
          </a:p>
          <a:p xmlns:a="http://schemas.openxmlformats.org/drawingml/2006/main">
            <a:pPr marL="228600" indent="-114300" algn="l">
              <a:lnSpc>
                <a:spcPct val="108000"/>
              </a:lnSpc>
              <a:spcAft>
                <a:spcPts val="600"/>
              </a:spcAft>
              <a:buNone/>
              <a:defRPr sz="1275" b="0">
                <a:solidFill>
                  <a:srgbClr val="142735"/>
                </a:solidFill>
                <a:latin typeface="Arial"/>
                <a:ea typeface="Arial"/>
                <a:cs typeface="Arial"/>
              </a:defRPr>
            </a:pPr>
            <a:r>
              <a:rPr sz="1275" b="0">
                <a:solidFill>
                  <a:srgbClr val="142735"/>
                </a:solidFill>
                <a:latin typeface="Arial"/>
                <a:ea typeface="Arial"/>
                <a:cs typeface="Arial"/>
              </a:rPr>
              <a:t>Sensor adapters, point-cloud freshness gates and ownership contract</a:t>
            </a:r>
          </a:p>
          <a:p xmlns:a="http://schemas.openxmlformats.org/drawingml/2006/main">
            <a:pPr marL="228600" indent="-114300" algn="l">
              <a:lnSpc>
                <a:spcPct val="108000"/>
              </a:lnSpc>
              <a:spcAft>
                <a:spcPts val="600"/>
              </a:spcAft>
              <a:buNone/>
              <a:defRPr sz="1275" b="0">
                <a:solidFill>
                  <a:srgbClr val="142735"/>
                </a:solidFill>
                <a:latin typeface="Arial"/>
                <a:ea typeface="Arial"/>
                <a:cs typeface="Arial"/>
              </a:defRPr>
            </a:pPr>
            <a:r>
              <a:rPr sz="1275" b="0">
                <a:solidFill>
                  <a:srgbClr val="142735"/>
                </a:solidFill>
                <a:latin typeface="Arial"/>
                <a:ea typeface="Arial"/>
                <a:cs typeface="Arial"/>
              </a:rPr>
              <a:t>Command arbitration and native Gazebo command watchdog</a:t>
            </a:r>
          </a:p>
          <a:p xmlns:a="http://schemas.openxmlformats.org/drawingml/2006/main">
            <a:pPr marL="228600" indent="-114300" algn="l">
              <a:lnSpc>
                <a:spcPct val="108000"/>
              </a:lnSpc>
              <a:spcAft>
                <a:spcPts val="600"/>
              </a:spcAft>
              <a:buNone/>
              <a:defRPr sz="1275" b="0">
                <a:solidFill>
                  <a:srgbClr val="142735"/>
                </a:solidFill>
                <a:latin typeface="Arial"/>
                <a:ea typeface="Arial"/>
                <a:cs typeface="Arial"/>
              </a:defRPr>
            </a:pPr>
            <a:r>
              <a:rPr sz="1275" b="0">
                <a:solidFill>
                  <a:srgbClr val="142735"/>
                </a:solidFill>
                <a:latin typeface="Arial"/>
                <a:ea typeface="Arial"/>
                <a:cs typeface="Arial"/>
              </a:rPr>
              <a:t>Mission, factory and manipulation supervisors</a:t>
            </a:r>
          </a:p>
        </p:txBody>
      </p:sp>
      <p:sp>
        <p:nvSpPr>
          <p:cNvPr id="9" name="">
            <a:extLst xmlns:a="http://schemas.openxmlformats.org/drawingml/2006/main">
              <a:ext uri="{FF2B5EF4-FFF2-40B4-BE49-F238E27FC236}">
                <a16:creationId xmlns:a16="http://schemas.microsoft.com/office/drawing/2014/main" id="{E6E5DE5A-15D4-400C-A086-0FF13CC0545B}"/>
              </a:ext>
            </a:extLst>
          </p:cNvPr>
          <p:cNvSpPr>
            <a:spLocks xmlns:a="http://schemas.openxmlformats.org/drawingml/2006/main" noGrp="1"/>
          </p:cNvSpPr>
          <p:nvPr/>
        </p:nvSpPr>
        <p:spPr>
          <a:xfrm xmlns:a="http://schemas.openxmlformats.org/drawingml/2006/main">
            <a:off x="609600" y="4838700"/>
            <a:ext cx="10848975" cy="723900"/>
          </a:xfrm>
          <a:prstGeom xmlns:a="http://schemas.openxmlformats.org/drawingml/2006/main" prst="roundRect">
            <a:avLst>
              <a:gd name="adj" fmla="val 15789"/>
            </a:avLst>
          </a:prstGeom>
          <a:solidFill xmlns:a="http://schemas.openxmlformats.org/drawingml/2006/main">
            <a:srgbClr val="0F172A"/>
          </a:solidFill>
          <a:ln xmlns:a="http://schemas.openxmlformats.org/drawingml/2006/main" w="0">
            <a:solidFill>
              <a:srgbClr val="0F172A"/>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75" b="1">
                <a:solidFill>
                  <a:srgbClr val="FFFFFF"/>
                </a:solidFill>
                <a:latin typeface="Arial"/>
                <a:ea typeface="Arial"/>
                <a:cs typeface="Arial"/>
              </a:defRPr>
            </a:pPr>
            <a:r>
              <a:rPr sz="1275" b="1">
                <a:solidFill>
                  <a:srgbClr val="FFFFFF"/>
                </a:solidFill>
                <a:latin typeface="Arial"/>
                <a:ea typeface="Arial"/>
                <a:cs typeface="Arial"/>
              </a:rPr>
              <a:t>Package count note: colcon discovers legacy, evidence, vendored and primary packages. Present the 17 packages under src/ as the primary project set; do not treat every colcon entry as a product node.</a:t>
            </a:r>
          </a:p>
        </p:txBody>
      </p:sp>
      <p:sp>
        <p:nvSpPr>
          <p:cNvPr id="10" name="">
            <a:extLst xmlns:a="http://schemas.openxmlformats.org/drawingml/2006/main">
              <a:ext uri="{FF2B5EF4-FFF2-40B4-BE49-F238E27FC236}">
                <a16:creationId xmlns:a16="http://schemas.microsoft.com/office/drawing/2014/main" id="{713EE0E6-678E-4BB6-B8A5-00FAA1B9C43C}"/>
              </a:ext>
            </a:extLst>
          </p:cNvPr>
          <p:cNvSpPr>
            <a:spLocks xmlns:a="http://schemas.openxmlformats.org/drawingml/2006/main" noGrp="1"/>
          </p:cNvSpPr>
          <p:nvPr/>
        </p:nvSpPr>
        <p:spPr>
          <a:xfrm xmlns:a="http://schemas.openxmlformats.org/drawingml/2006/main">
            <a:off x="533400" y="6543675"/>
            <a:ext cx="1009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94A3B8"/>
                </a:solidFill>
                <a:latin typeface="Arial"/>
                <a:ea typeface="Arial"/>
                <a:cs typeface="Arial"/>
              </a:defRPr>
            </a:pPr>
            <a:r>
              <a:rPr sz="750" b="0">
                <a:solidFill>
                  <a:srgbClr val="94A3B8"/>
                </a:solidFill>
                <a:latin typeface="Arial"/>
                <a:ea typeface="Arial"/>
                <a:cs typeface="Arial"/>
              </a:rPr>
              <a:t>Sources: src/README.md; package.xml files; plugin XML files; colcon list (current workspace)</a:t>
            </a:r>
          </a:p>
        </p:txBody>
      </p:sp>
      <p:sp>
        <p:nvSpPr>
          <p:cNvPr id="11" name="">
            <a:extLst xmlns:a="http://schemas.openxmlformats.org/drawingml/2006/main">
              <a:ext uri="{FF2B5EF4-FFF2-40B4-BE49-F238E27FC236}">
                <a16:creationId xmlns:a16="http://schemas.microsoft.com/office/drawing/2014/main" id="{234273B8-F744-464E-9D21-D9D4C0E0F5D8}"/>
              </a:ext>
            </a:extLst>
          </p:cNvPr>
          <p:cNvSpPr>
            <a:spLocks xmlns:a="http://schemas.openxmlformats.org/drawingml/2006/main" noGrp="1"/>
          </p:cNvSpPr>
          <p:nvPr/>
        </p:nvSpPr>
        <p:spPr>
          <a:xfrm xmlns:a="http://schemas.openxmlformats.org/drawingml/2006/main">
            <a:off x="11191875" y="65151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17</a:t>
            </a:r>
          </a:p>
        </p:txBody>
      </p:sp>
    </p:spTree>
    <p:extLst>
      <p:ext uri="{BB962C8B-B14F-4D97-AF65-F5344CB8AC3E}">
        <p14:creationId xmlns:p14="http://schemas.microsoft.com/office/powerpoint/2010/main" val="1757908728"/>
      </p:ext>
    </p:extLst>
  </p:cSld>
</p:sld>
</file>

<file path=ppt/slides/slide1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212B814-0E27-4B92-B639-76D0DD7DF74F}"/>
              </a:ext>
            </a:extLst>
          </p:cNvPr>
          <p:cNvSpPr>
            <a:spLocks xmlns:a="http://schemas.openxmlformats.org/drawingml/2006/main" noGrp="1"/>
          </p:cNvSpPr>
          <p:nvPr/>
        </p:nvSpPr>
        <p:spPr>
          <a:xfrm xmlns:a="http://schemas.openxmlformats.org/drawingml/2006/main">
            <a:off x="552450" y="2286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AMR ROS 2 SOFTWARE ARCHITECTURE</a:t>
            </a:r>
          </a:p>
        </p:txBody>
      </p:sp>
      <p:sp>
        <p:nvSpPr>
          <p:cNvPr id="2" name="">
            <a:extLst xmlns:a="http://schemas.openxmlformats.org/drawingml/2006/main">
              <a:ext uri="{FF2B5EF4-FFF2-40B4-BE49-F238E27FC236}">
                <a16:creationId xmlns:a16="http://schemas.microsoft.com/office/drawing/2014/main" id="{84E1CDBB-A60D-410C-BBA7-F557B17AF91B}"/>
              </a:ext>
            </a:extLst>
          </p:cNvPr>
          <p:cNvSpPr>
            <a:spLocks xmlns:a="http://schemas.openxmlformats.org/drawingml/2006/main" noGrp="1"/>
          </p:cNvSpPr>
          <p:nvPr/>
        </p:nvSpPr>
        <p:spPr>
          <a:xfrm xmlns:a="http://schemas.openxmlformats.org/drawingml/2006/main">
            <a:off x="533400" y="4095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325" b="1">
                <a:solidFill>
                  <a:srgbClr val="142735"/>
                </a:solidFill>
                <a:latin typeface="Arial"/>
                <a:ea typeface="Arial"/>
                <a:cs typeface="Arial"/>
              </a:defRPr>
            </a:pPr>
            <a:r>
              <a:rPr sz="2325" b="1">
                <a:solidFill>
                  <a:srgbClr val="142735"/>
                </a:solidFill>
                <a:latin typeface="Arial"/>
                <a:ea typeface="Arial"/>
                <a:cs typeface="Arial"/>
              </a:rPr>
              <a:t>Project difficulties and reliability risks</a:t>
            </a:r>
          </a:p>
        </p:txBody>
      </p:sp>
      <p:sp>
        <p:nvSpPr>
          <p:cNvPr id="3" name="">
            <a:extLst xmlns:a="http://schemas.openxmlformats.org/drawingml/2006/main">
              <a:ext uri="{FF2B5EF4-FFF2-40B4-BE49-F238E27FC236}">
                <a16:creationId xmlns:a16="http://schemas.microsoft.com/office/drawing/2014/main" id="{D0DD9CDE-9EE8-47D5-89DA-1C8DAD0978EB}"/>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E6B4D51B-983C-4120-8CC1-94B6F7AAFC45}"/>
              </a:ext>
            </a:extLst>
          </p:cNvPr>
          <p:cNvSpPr>
            <a:spLocks xmlns:a="http://schemas.openxmlformats.org/drawingml/2006/main" noGrp="1"/>
          </p:cNvSpPr>
          <p:nvPr/>
        </p:nvSpPr>
        <p:spPr>
          <a:xfrm xmlns:a="http://schemas.openxmlformats.org/drawingml/2006/main">
            <a:off x="609600" y="11620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14300" tIns="76200" rIns="114300" bIns="76200" anchor="t">
            <a:normAutofit fontScale="79365"/>
          </a:bodyPr>
          <a:lstStyle xmlns:a="http://schemas.openxmlformats.org/drawingml/2006/main"/>
          <a:p xmlns:a="http://schemas.openxmlformats.org/drawingml/2006/main">
            <a:pPr algn="l">
              <a:lnSpc>
                <a:spcPct val="105000"/>
              </a:lnSpc>
              <a:buNone/>
              <a:defRPr sz="1350" b="0">
                <a:solidFill>
                  <a:srgbClr val="52606D"/>
                </a:solidFill>
                <a:latin typeface="Arial"/>
                <a:ea typeface="Arial"/>
                <a:cs typeface="Arial"/>
              </a:defRPr>
            </a:pPr>
            <a:r>
              <a:rPr sz="1350" b="0">
                <a:solidFill>
                  <a:srgbClr val="52606D"/>
                </a:solidFill>
                <a:latin typeface="Arial"/>
                <a:ea typeface="Arial"/>
                <a:cs typeface="Arial"/>
              </a:rPr>
              <a:t>The hardest part is coordinating time, geometry, lifecycle and authority across a distributed ROS 2 graph</a:t>
            </a:r>
          </a:p>
        </p:txBody>
      </p:sp>
      <p:sp>
        <p:nvSpPr>
          <p:cNvPr id="5" name="">
            <a:extLst xmlns:a="http://schemas.openxmlformats.org/drawingml/2006/main">
              <a:ext uri="{FF2B5EF4-FFF2-40B4-BE49-F238E27FC236}">
                <a16:creationId xmlns:a16="http://schemas.microsoft.com/office/drawing/2014/main" id="{EAF1110C-699D-4DD2-AE2C-89322E67C084}"/>
              </a:ext>
            </a:extLst>
          </p:cNvPr>
          <p:cNvSpPr>
            <a:spLocks xmlns:a="http://schemas.openxmlformats.org/drawingml/2006/main" noGrp="1"/>
          </p:cNvSpPr>
          <p:nvPr/>
        </p:nvSpPr>
        <p:spPr>
          <a:xfrm xmlns:a="http://schemas.openxmlformats.org/drawingml/2006/main">
            <a:off x="609600" y="1971675"/>
            <a:ext cx="2238375" cy="552450"/>
          </a:xfrm>
          <a:prstGeom xmlns:a="http://schemas.openxmlformats.org/drawingml/2006/main" prst="roundRect">
            <a:avLst>
              <a:gd name="adj" fmla="val 20690"/>
            </a:avLst>
          </a:prstGeom>
          <a:solidFill xmlns:a="http://schemas.openxmlformats.org/drawingml/2006/main">
            <a:srgbClr val="EAF2FF"/>
          </a:solidFill>
          <a:ln xmlns:a="http://schemas.openxmlformats.org/drawingml/2006/main" w="9525">
            <a:solidFill>
              <a:srgbClr val="1D4ED8"/>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75" b="1">
                <a:solidFill>
                  <a:srgbClr val="1D4ED8"/>
                </a:solidFill>
                <a:latin typeface="Arial"/>
                <a:ea typeface="Arial"/>
                <a:cs typeface="Arial"/>
              </a:defRPr>
            </a:pPr>
            <a:r>
              <a:rPr sz="1275" b="1">
                <a:solidFill>
                  <a:srgbClr val="1D4ED8"/>
                </a:solidFill>
                <a:latin typeface="Arial"/>
                <a:ea typeface="Arial"/>
                <a:cs typeface="Arial"/>
              </a:rPr>
              <a:t>Time and freshness</a:t>
            </a:r>
          </a:p>
        </p:txBody>
      </p:sp>
      <p:sp>
        <p:nvSpPr>
          <p:cNvPr id="6" name="">
            <a:extLst xmlns:a="http://schemas.openxmlformats.org/drawingml/2006/main">
              <a:ext uri="{FF2B5EF4-FFF2-40B4-BE49-F238E27FC236}">
                <a16:creationId xmlns:a16="http://schemas.microsoft.com/office/drawing/2014/main" id="{6BB74B42-BACB-4FFE-A675-CA3768EE309C}"/>
              </a:ext>
            </a:extLst>
          </p:cNvPr>
          <p:cNvSpPr>
            <a:spLocks xmlns:a="http://schemas.openxmlformats.org/drawingml/2006/main" noGrp="1"/>
          </p:cNvSpPr>
          <p:nvPr/>
        </p:nvSpPr>
        <p:spPr>
          <a:xfrm xmlns:a="http://schemas.openxmlformats.org/drawingml/2006/main">
            <a:off x="3095625" y="1971675"/>
            <a:ext cx="8286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l">
              <a:lnSpc>
                <a:spcPct val="105000"/>
              </a:lnSpc>
              <a:buNone/>
              <a:defRPr sz="1275" b="0">
                <a:solidFill>
                  <a:srgbClr val="142735"/>
                </a:solidFill>
                <a:latin typeface="Arial"/>
                <a:ea typeface="Arial"/>
                <a:cs typeface="Arial"/>
              </a:defRPr>
            </a:pPr>
            <a:r>
              <a:rPr sz="1275" b="0">
                <a:solidFill>
                  <a:srgbClr val="142735"/>
                </a:solidFill>
                <a:latin typeface="Arial"/>
                <a:ea typeface="Arial"/>
                <a:cs typeface="Arial"/>
              </a:rPr>
              <a:t>Simulated /clock, future TF, stale scans and bounded source timeouts</a:t>
            </a:r>
          </a:p>
        </p:txBody>
      </p:sp>
      <p:sp>
        <p:nvSpPr>
          <p:cNvPr id="7" name="">
            <a:extLst xmlns:a="http://schemas.openxmlformats.org/drawingml/2006/main">
              <a:ext uri="{FF2B5EF4-FFF2-40B4-BE49-F238E27FC236}">
                <a16:creationId xmlns:a16="http://schemas.microsoft.com/office/drawing/2014/main" id="{B8E522E2-61EE-483D-8CB4-9847AC37569A}"/>
              </a:ext>
            </a:extLst>
          </p:cNvPr>
          <p:cNvSpPr>
            <a:spLocks xmlns:a="http://schemas.openxmlformats.org/drawingml/2006/main" noGrp="1"/>
          </p:cNvSpPr>
          <p:nvPr/>
        </p:nvSpPr>
        <p:spPr>
          <a:xfrm xmlns:a="http://schemas.openxmlformats.org/drawingml/2006/main">
            <a:off x="609600" y="2714625"/>
            <a:ext cx="2238375" cy="552450"/>
          </a:xfrm>
          <a:prstGeom xmlns:a="http://schemas.openxmlformats.org/drawingml/2006/main" prst="roundRect">
            <a:avLst>
              <a:gd name="adj" fmla="val 20690"/>
            </a:avLst>
          </a:prstGeom>
          <a:solidFill xmlns:a="http://schemas.openxmlformats.org/drawingml/2006/main">
            <a:srgbClr val="E6FFFA"/>
          </a:solidFill>
          <a:ln xmlns:a="http://schemas.openxmlformats.org/drawingml/2006/main" w="9525">
            <a:solidFill>
              <a:srgbClr val="0F766E"/>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75" b="1">
                <a:solidFill>
                  <a:srgbClr val="0F766E"/>
                </a:solidFill>
                <a:latin typeface="Arial"/>
                <a:ea typeface="Arial"/>
                <a:cs typeface="Arial"/>
              </a:defRPr>
            </a:pPr>
            <a:r>
              <a:rPr sz="1275" b="1">
                <a:solidFill>
                  <a:srgbClr val="0F766E"/>
                </a:solidFill>
                <a:latin typeface="Arial"/>
                <a:ea typeface="Arial"/>
                <a:cs typeface="Arial"/>
              </a:rPr>
              <a:t>Single ownership</a:t>
            </a:r>
          </a:p>
        </p:txBody>
      </p:sp>
      <p:sp>
        <p:nvSpPr>
          <p:cNvPr id="8" name="">
            <a:extLst xmlns:a="http://schemas.openxmlformats.org/drawingml/2006/main">
              <a:ext uri="{FF2B5EF4-FFF2-40B4-BE49-F238E27FC236}">
                <a16:creationId xmlns:a16="http://schemas.microsoft.com/office/drawing/2014/main" id="{536079CB-9ACD-42F3-AB85-3C45A3231B72}"/>
              </a:ext>
            </a:extLst>
          </p:cNvPr>
          <p:cNvSpPr>
            <a:spLocks xmlns:a="http://schemas.openxmlformats.org/drawingml/2006/main" noGrp="1"/>
          </p:cNvSpPr>
          <p:nvPr/>
        </p:nvSpPr>
        <p:spPr>
          <a:xfrm xmlns:a="http://schemas.openxmlformats.org/drawingml/2006/main">
            <a:off x="3095625" y="2714625"/>
            <a:ext cx="8286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l">
              <a:lnSpc>
                <a:spcPct val="105000"/>
              </a:lnSpc>
              <a:buNone/>
              <a:defRPr sz="1275" b="0">
                <a:solidFill>
                  <a:srgbClr val="142735"/>
                </a:solidFill>
                <a:latin typeface="Arial"/>
                <a:ea typeface="Arial"/>
                <a:cs typeface="Arial"/>
              </a:defRPr>
            </a:pPr>
            <a:r>
              <a:rPr sz="1275" b="0">
                <a:solidFill>
                  <a:srgbClr val="142735"/>
                </a:solidFill>
                <a:latin typeface="Arial"/>
                <a:ea typeface="Arial"/>
                <a:cs typeface="Arial"/>
              </a:rPr>
              <a:t>One publisher for each command and TF boundary; mode-dependent map → odom</a:t>
            </a:r>
          </a:p>
        </p:txBody>
      </p:sp>
      <p:sp>
        <p:nvSpPr>
          <p:cNvPr id="9" name="">
            <a:extLst xmlns:a="http://schemas.openxmlformats.org/drawingml/2006/main">
              <a:ext uri="{FF2B5EF4-FFF2-40B4-BE49-F238E27FC236}">
                <a16:creationId xmlns:a16="http://schemas.microsoft.com/office/drawing/2014/main" id="{73DC6859-4998-4CD4-85D5-49E44A574400}"/>
              </a:ext>
            </a:extLst>
          </p:cNvPr>
          <p:cNvSpPr>
            <a:spLocks xmlns:a="http://schemas.openxmlformats.org/drawingml/2006/main" noGrp="1"/>
          </p:cNvSpPr>
          <p:nvPr/>
        </p:nvSpPr>
        <p:spPr>
          <a:xfrm xmlns:a="http://schemas.openxmlformats.org/drawingml/2006/main">
            <a:off x="609600" y="3457575"/>
            <a:ext cx="2238375" cy="552450"/>
          </a:xfrm>
          <a:prstGeom xmlns:a="http://schemas.openxmlformats.org/drawingml/2006/main" prst="roundRect">
            <a:avLst>
              <a:gd name="adj" fmla="val 20690"/>
            </a:avLst>
          </a:prstGeom>
          <a:solidFill xmlns:a="http://schemas.openxmlformats.org/drawingml/2006/main">
            <a:srgbClr val="FFF1E8"/>
          </a:solidFill>
          <a:ln xmlns:a="http://schemas.openxmlformats.org/drawingml/2006/main" w="9525">
            <a:solidFill>
              <a:srgbClr val="C2410C"/>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75" b="1">
                <a:solidFill>
                  <a:srgbClr val="C2410C"/>
                </a:solidFill>
                <a:latin typeface="Arial"/>
                <a:ea typeface="Arial"/>
                <a:cs typeface="Arial"/>
              </a:defRPr>
            </a:pPr>
            <a:r>
              <a:rPr sz="1275" b="1">
                <a:solidFill>
                  <a:srgbClr val="C2410C"/>
                </a:solidFill>
                <a:latin typeface="Arial"/>
                <a:ea typeface="Arial"/>
                <a:cs typeface="Arial"/>
              </a:rPr>
              <a:t>Geometry and collision</a:t>
            </a:r>
          </a:p>
        </p:txBody>
      </p:sp>
      <p:sp>
        <p:nvSpPr>
          <p:cNvPr id="10" name="">
            <a:extLst xmlns:a="http://schemas.openxmlformats.org/drawingml/2006/main">
              <a:ext uri="{FF2B5EF4-FFF2-40B4-BE49-F238E27FC236}">
                <a16:creationId xmlns:a16="http://schemas.microsoft.com/office/drawing/2014/main" id="{2AF5418E-251D-4F02-931C-D638AD6FDA1B}"/>
              </a:ext>
            </a:extLst>
          </p:cNvPr>
          <p:cNvSpPr>
            <a:spLocks xmlns:a="http://schemas.openxmlformats.org/drawingml/2006/main" noGrp="1"/>
          </p:cNvSpPr>
          <p:nvPr/>
        </p:nvSpPr>
        <p:spPr>
          <a:xfrm xmlns:a="http://schemas.openxmlformats.org/drawingml/2006/main">
            <a:off x="3095625" y="3457575"/>
            <a:ext cx="8286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l">
              <a:lnSpc>
                <a:spcPct val="105000"/>
              </a:lnSpc>
              <a:buNone/>
              <a:defRPr sz="1275" b="0">
                <a:solidFill>
                  <a:srgbClr val="142735"/>
                </a:solidFill>
                <a:latin typeface="Arial"/>
                <a:ea typeface="Arial"/>
                <a:cs typeface="Arial"/>
              </a:defRPr>
            </a:pPr>
            <a:r>
              <a:rPr sz="1275" b="0">
                <a:solidFill>
                  <a:srgbClr val="142735"/>
                </a:solidFill>
                <a:latin typeface="Arial"/>
                <a:ea typeface="Arial"/>
                <a:cs typeface="Arial"/>
              </a:rPr>
              <a:t>Full rectangular footprint, docking endpoints, inflation and sensor self-visibility</a:t>
            </a:r>
          </a:p>
        </p:txBody>
      </p:sp>
      <p:sp>
        <p:nvSpPr>
          <p:cNvPr id="11" name="">
            <a:extLst xmlns:a="http://schemas.openxmlformats.org/drawingml/2006/main">
              <a:ext uri="{FF2B5EF4-FFF2-40B4-BE49-F238E27FC236}">
                <a16:creationId xmlns:a16="http://schemas.microsoft.com/office/drawing/2014/main" id="{A8E68E29-066A-45C7-ACED-F882AAACD46F}"/>
              </a:ext>
            </a:extLst>
          </p:cNvPr>
          <p:cNvSpPr>
            <a:spLocks xmlns:a="http://schemas.openxmlformats.org/drawingml/2006/main" noGrp="1"/>
          </p:cNvSpPr>
          <p:nvPr/>
        </p:nvSpPr>
        <p:spPr>
          <a:xfrm xmlns:a="http://schemas.openxmlformats.org/drawingml/2006/main">
            <a:off x="609600" y="4200525"/>
            <a:ext cx="2238375" cy="552450"/>
          </a:xfrm>
          <a:prstGeom xmlns:a="http://schemas.openxmlformats.org/drawingml/2006/main" prst="roundRect">
            <a:avLst>
              <a:gd name="adj" fmla="val 20690"/>
            </a:avLst>
          </a:prstGeom>
          <a:solidFill xmlns:a="http://schemas.openxmlformats.org/drawingml/2006/main">
            <a:srgbClr val="F1EAFE"/>
          </a:solidFill>
          <a:ln xmlns:a="http://schemas.openxmlformats.org/drawingml/2006/main" w="9525">
            <a:solidFill>
              <a:srgbClr val="6D28D9"/>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75" b="1">
                <a:solidFill>
                  <a:srgbClr val="6D28D9"/>
                </a:solidFill>
                <a:latin typeface="Arial"/>
                <a:ea typeface="Arial"/>
                <a:cs typeface="Arial"/>
              </a:defRPr>
            </a:pPr>
            <a:r>
              <a:rPr sz="1275" b="1">
                <a:solidFill>
                  <a:srgbClr val="6D28D9"/>
                </a:solidFill>
                <a:latin typeface="Arial"/>
                <a:ea typeface="Arial"/>
                <a:cs typeface="Arial"/>
              </a:rPr>
              <a:t>Startup and lifecycle</a:t>
            </a:r>
          </a:p>
        </p:txBody>
      </p:sp>
      <p:sp>
        <p:nvSpPr>
          <p:cNvPr id="12" name="">
            <a:extLst xmlns:a="http://schemas.openxmlformats.org/drawingml/2006/main">
              <a:ext uri="{FF2B5EF4-FFF2-40B4-BE49-F238E27FC236}">
                <a16:creationId xmlns:a16="http://schemas.microsoft.com/office/drawing/2014/main" id="{0BA88CC1-ACD2-4703-BD6D-FE9953ABB63F}"/>
              </a:ext>
            </a:extLst>
          </p:cNvPr>
          <p:cNvSpPr>
            <a:spLocks xmlns:a="http://schemas.openxmlformats.org/drawingml/2006/main" noGrp="1"/>
          </p:cNvSpPr>
          <p:nvPr/>
        </p:nvSpPr>
        <p:spPr>
          <a:xfrm xmlns:a="http://schemas.openxmlformats.org/drawingml/2006/main">
            <a:off x="3095625" y="4200525"/>
            <a:ext cx="8286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l">
              <a:lnSpc>
                <a:spcPct val="105000"/>
              </a:lnSpc>
              <a:buNone/>
              <a:defRPr sz="1275" b="0">
                <a:solidFill>
                  <a:srgbClr val="142735"/>
                </a:solidFill>
                <a:latin typeface="Arial"/>
                <a:ea typeface="Arial"/>
                <a:cs typeface="Arial"/>
              </a:defRPr>
            </a:pPr>
            <a:r>
              <a:rPr sz="1275" b="0">
                <a:solidFill>
                  <a:srgbClr val="142735"/>
                </a:solidFill>
                <a:latin typeface="Arial"/>
                <a:ea typeface="Arial"/>
                <a:cs typeface="Arial"/>
              </a:rPr>
              <a:t>Gazebo, adapters, Nav2, AMCL / SLAM and MoveIt must reach a usable state in order</a:t>
            </a:r>
          </a:p>
        </p:txBody>
      </p:sp>
      <p:sp>
        <p:nvSpPr>
          <p:cNvPr id="13" name="">
            <a:extLst xmlns:a="http://schemas.openxmlformats.org/drawingml/2006/main">
              <a:ext uri="{FF2B5EF4-FFF2-40B4-BE49-F238E27FC236}">
                <a16:creationId xmlns:a16="http://schemas.microsoft.com/office/drawing/2014/main" id="{13E50C7C-9286-4105-AB6C-E9A9B6513DD4}"/>
              </a:ext>
            </a:extLst>
          </p:cNvPr>
          <p:cNvSpPr>
            <a:spLocks xmlns:a="http://schemas.openxmlformats.org/drawingml/2006/main" noGrp="1"/>
          </p:cNvSpPr>
          <p:nvPr/>
        </p:nvSpPr>
        <p:spPr>
          <a:xfrm xmlns:a="http://schemas.openxmlformats.org/drawingml/2006/main">
            <a:off x="609600" y="4943475"/>
            <a:ext cx="2238375" cy="552450"/>
          </a:xfrm>
          <a:prstGeom xmlns:a="http://schemas.openxmlformats.org/drawingml/2006/main" prst="roundRect">
            <a:avLst>
              <a:gd name="adj" fmla="val 20690"/>
            </a:avLst>
          </a:prstGeom>
          <a:solidFill xmlns:a="http://schemas.openxmlformats.org/drawingml/2006/main">
            <a:srgbClr val="FEECEC"/>
          </a:solidFill>
          <a:ln xmlns:a="http://schemas.openxmlformats.org/drawingml/2006/main" w="9525">
            <a:solidFill>
              <a:srgbClr val="B91C1C"/>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275" b="1">
                <a:solidFill>
                  <a:srgbClr val="B91C1C"/>
                </a:solidFill>
                <a:latin typeface="Arial"/>
                <a:ea typeface="Arial"/>
                <a:cs typeface="Arial"/>
              </a:defRPr>
            </a:pPr>
            <a:r>
              <a:rPr sz="1275" b="1">
                <a:solidFill>
                  <a:srgbClr val="B91C1C"/>
                </a:solidFill>
                <a:latin typeface="Arial"/>
                <a:ea typeface="Arial"/>
                <a:cs typeface="Arial"/>
              </a:rPr>
              <a:t>Cancellation and proof</a:t>
            </a:r>
          </a:p>
        </p:txBody>
      </p:sp>
      <p:sp>
        <p:nvSpPr>
          <p:cNvPr id="14" name="">
            <a:extLst xmlns:a="http://schemas.openxmlformats.org/drawingml/2006/main">
              <a:ext uri="{FF2B5EF4-FFF2-40B4-BE49-F238E27FC236}">
                <a16:creationId xmlns:a16="http://schemas.microsoft.com/office/drawing/2014/main" id="{5823B3B8-AEB5-460B-9C87-11AA7D1060CB}"/>
              </a:ext>
            </a:extLst>
          </p:cNvPr>
          <p:cNvSpPr>
            <a:spLocks xmlns:a="http://schemas.openxmlformats.org/drawingml/2006/main" noGrp="1"/>
          </p:cNvSpPr>
          <p:nvPr/>
        </p:nvSpPr>
        <p:spPr>
          <a:xfrm xmlns:a="http://schemas.openxmlformats.org/drawingml/2006/main">
            <a:off x="3095625" y="4943475"/>
            <a:ext cx="8286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l">
              <a:lnSpc>
                <a:spcPct val="105000"/>
              </a:lnSpc>
              <a:buNone/>
              <a:defRPr sz="1275" b="0">
                <a:solidFill>
                  <a:srgbClr val="142735"/>
                </a:solidFill>
                <a:latin typeface="Arial"/>
                <a:ea typeface="Arial"/>
                <a:cs typeface="Arial"/>
              </a:defRPr>
            </a:pPr>
            <a:r>
              <a:rPr sz="1275" b="0">
                <a:solidFill>
                  <a:srgbClr val="142735"/>
                </a:solidFill>
                <a:latin typeface="Arial"/>
                <a:ea typeface="Arial"/>
                <a:cs typeface="Arial"/>
              </a:rPr>
              <a:t>Stop, cancel, retreat, attachment, home permission and terminal status need evidence</a:t>
            </a:r>
          </a:p>
        </p:txBody>
      </p:sp>
      <p:sp>
        <p:nvSpPr>
          <p:cNvPr id="15" name="">
            <a:extLst xmlns:a="http://schemas.openxmlformats.org/drawingml/2006/main">
              <a:ext uri="{FF2B5EF4-FFF2-40B4-BE49-F238E27FC236}">
                <a16:creationId xmlns:a16="http://schemas.microsoft.com/office/drawing/2014/main" id="{F443951B-484B-4A26-BF74-0E8769B516B5}"/>
              </a:ext>
            </a:extLst>
          </p:cNvPr>
          <p:cNvSpPr>
            <a:spLocks xmlns:a="http://schemas.openxmlformats.org/drawingml/2006/main" noGrp="1"/>
          </p:cNvSpPr>
          <p:nvPr/>
        </p:nvSpPr>
        <p:spPr>
          <a:xfrm xmlns:a="http://schemas.openxmlformats.org/drawingml/2006/main">
            <a:off x="609600" y="5781675"/>
            <a:ext cx="10848975" cy="457200"/>
          </a:xfrm>
          <a:prstGeom xmlns:a="http://schemas.openxmlformats.org/drawingml/2006/main" prst="roundRect">
            <a:avLst>
              <a:gd name="adj" fmla="val 25000"/>
            </a:avLst>
          </a:prstGeom>
          <a:solidFill xmlns:a="http://schemas.openxmlformats.org/drawingml/2006/main">
            <a:srgbClr val="0F172A"/>
          </a:solidFill>
          <a:ln xmlns:a="http://schemas.openxmlformats.org/drawingml/2006/main" w="0">
            <a:solidFill>
              <a:srgbClr val="0F172A"/>
            </a:solidFill>
            <a:prstDash val="solid"/>
          </a:ln>
        </p:spPr>
        <p:txBody>
          <a:bodyPr xmlns:a="http://schemas.openxmlformats.org/drawingml/2006/main" lIns="114300" tIns="76200" rIns="114300" bIns="76200" anchor="ctr">
            <a:normAutofit fontScale="79691"/>
          </a:bodyPr>
          <a:lstStyle xmlns:a="http://schemas.openxmlformats.org/drawingml/2006/main"/>
          <a:p xmlns:a="http://schemas.openxmlformats.org/drawingml/2006/main">
            <a:pPr algn="ctr">
              <a:lnSpc>
                <a:spcPct val="105000"/>
              </a:lnSpc>
              <a:buNone/>
              <a:defRPr sz="1200" b="1">
                <a:solidFill>
                  <a:srgbClr val="FFFFFF"/>
                </a:solidFill>
                <a:latin typeface="Arial"/>
                <a:ea typeface="Arial"/>
                <a:cs typeface="Arial"/>
              </a:defRPr>
            </a:pPr>
            <a:r>
              <a:rPr sz="1200" b="1">
                <a:solidFill>
                  <a:srgbClr val="FFFFFF"/>
                </a:solidFill>
                <a:latin typeface="Arial"/>
                <a:ea typeface="Arial"/>
                <a:cs typeface="Arial"/>
              </a:rPr>
              <a:t>Build and unit tests are necessary, but they do not prove simulation runtime acceptance. Runtime gates must observe fresh topics, TF ownership, collision behavior and terminal state.</a:t>
            </a:r>
          </a:p>
        </p:txBody>
      </p:sp>
      <p:sp>
        <p:nvSpPr>
          <p:cNvPr id="16" name="">
            <a:extLst xmlns:a="http://schemas.openxmlformats.org/drawingml/2006/main">
              <a:ext uri="{FF2B5EF4-FFF2-40B4-BE49-F238E27FC236}">
                <a16:creationId xmlns:a16="http://schemas.microsoft.com/office/drawing/2014/main" id="{61A32683-19B0-4305-8CAD-7909E21082A8}"/>
              </a:ext>
            </a:extLst>
          </p:cNvPr>
          <p:cNvSpPr>
            <a:spLocks xmlns:a="http://schemas.openxmlformats.org/drawingml/2006/main" noGrp="1"/>
          </p:cNvSpPr>
          <p:nvPr/>
        </p:nvSpPr>
        <p:spPr>
          <a:xfrm xmlns:a="http://schemas.openxmlformats.org/drawingml/2006/main">
            <a:off x="533400" y="6543675"/>
            <a:ext cx="1009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94A3B8"/>
                </a:solidFill>
                <a:latin typeface="Arial"/>
                <a:ea typeface="Arial"/>
                <a:cs typeface="Arial"/>
              </a:defRPr>
            </a:pPr>
            <a:r>
              <a:rPr sz="750" b="0">
                <a:solidFill>
                  <a:srgbClr val="94A3B8"/>
                </a:solidFill>
                <a:latin typeface="Arial"/>
                <a:ea typeface="Arial"/>
                <a:cs typeface="Arial"/>
              </a:rPr>
              <a:t>Sources: AGENTS.md; .codex/DEBUG_PLAYBOOK.md; SESSION_HANDOFF.md; current runtime contracts</a:t>
            </a:r>
          </a:p>
        </p:txBody>
      </p:sp>
      <p:sp>
        <p:nvSpPr>
          <p:cNvPr id="17" name="">
            <a:extLst xmlns:a="http://schemas.openxmlformats.org/drawingml/2006/main">
              <a:ext uri="{FF2B5EF4-FFF2-40B4-BE49-F238E27FC236}">
                <a16:creationId xmlns:a16="http://schemas.microsoft.com/office/drawing/2014/main" id="{3EC7069F-91D0-4DB8-97F8-828111077EED}"/>
              </a:ext>
            </a:extLst>
          </p:cNvPr>
          <p:cNvSpPr>
            <a:spLocks xmlns:a="http://schemas.openxmlformats.org/drawingml/2006/main" noGrp="1"/>
          </p:cNvSpPr>
          <p:nvPr/>
        </p:nvSpPr>
        <p:spPr>
          <a:xfrm xmlns:a="http://schemas.openxmlformats.org/drawingml/2006/main">
            <a:off x="11191875" y="65151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18</a:t>
            </a:r>
          </a:p>
        </p:txBody>
      </p:sp>
    </p:spTree>
    <p:extLst>
      <p:ext uri="{BB962C8B-B14F-4D97-AF65-F5344CB8AC3E}">
        <p14:creationId xmlns:p14="http://schemas.microsoft.com/office/powerpoint/2010/main" val="289526306"/>
      </p:ext>
    </p:extLst>
  </p:cSld>
</p:sld>
</file>

<file path=ppt/slides/slide1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BBAE6F8-E7EE-45F5-A398-15B2DAD19239}"/>
              </a:ext>
            </a:extLst>
          </p:cNvPr>
          <p:cNvSpPr>
            <a:spLocks xmlns:a="http://schemas.openxmlformats.org/drawingml/2006/main" noGrp="1"/>
          </p:cNvSpPr>
          <p:nvPr/>
        </p:nvSpPr>
        <p:spPr>
          <a:xfrm xmlns:a="http://schemas.openxmlformats.org/drawingml/2006/main">
            <a:off x="552450" y="2286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AMR ROS 2 SOFTWARE ARCHITECTURE</a:t>
            </a:r>
          </a:p>
        </p:txBody>
      </p:sp>
      <p:sp>
        <p:nvSpPr>
          <p:cNvPr id="2" name="">
            <a:extLst xmlns:a="http://schemas.openxmlformats.org/drawingml/2006/main">
              <a:ext uri="{FF2B5EF4-FFF2-40B4-BE49-F238E27FC236}">
                <a16:creationId xmlns:a16="http://schemas.microsoft.com/office/drawing/2014/main" id="{CDF08B4C-8D40-412F-BAED-9434E1B72939}"/>
              </a:ext>
            </a:extLst>
          </p:cNvPr>
          <p:cNvSpPr>
            <a:spLocks xmlns:a="http://schemas.openxmlformats.org/drawingml/2006/main" noGrp="1"/>
          </p:cNvSpPr>
          <p:nvPr/>
        </p:nvSpPr>
        <p:spPr>
          <a:xfrm xmlns:a="http://schemas.openxmlformats.org/drawingml/2006/main">
            <a:off x="533400" y="4095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2325" b="1">
                <a:solidFill>
                  <a:srgbClr val="142735"/>
                </a:solidFill>
                <a:latin typeface="Arial"/>
                <a:ea typeface="Arial"/>
                <a:cs typeface="Arial"/>
              </a:defRPr>
            </a:pPr>
            <a:r>
              <a:rPr sz="2325" b="1">
                <a:solidFill>
                  <a:srgbClr val="142735"/>
                </a:solidFill>
                <a:latin typeface="Arial"/>
                <a:ea typeface="Arial"/>
                <a:cs typeface="Arial"/>
              </a:rPr>
              <a:t>Current status and presentation guardrails</a:t>
            </a:r>
          </a:p>
        </p:txBody>
      </p:sp>
      <p:sp>
        <p:nvSpPr>
          <p:cNvPr id="3" name="">
            <a:extLst xmlns:a="http://schemas.openxmlformats.org/drawingml/2006/main">
              <a:ext uri="{FF2B5EF4-FFF2-40B4-BE49-F238E27FC236}">
                <a16:creationId xmlns:a16="http://schemas.microsoft.com/office/drawing/2014/main" id="{7F1A004C-9079-46D7-95B3-B18AE410B8F8}"/>
              </a:ext>
            </a:extLst>
          </p:cNvPr>
          <p:cNvSpPr>
            <a:spLocks xmlns:a="http://schemas.openxmlformats.org/drawingml/2006/main" noGrp="1"/>
          </p:cNvSpPr>
          <p:nvPr/>
        </p:nvSpPr>
        <p:spPr>
          <a:xfrm xmlns:a="http://schemas.openxmlformats.org/drawingml/2006/main">
            <a:off x="533400" y="933450"/>
            <a:ext cx="111252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F4238658-6501-4FD2-8FCA-2BE8F0FBBD17}"/>
              </a:ext>
            </a:extLst>
          </p:cNvPr>
          <p:cNvSpPr>
            <a:spLocks xmlns:a="http://schemas.openxmlformats.org/drawingml/2006/main" noGrp="1"/>
          </p:cNvSpPr>
          <p:nvPr/>
        </p:nvSpPr>
        <p:spPr>
          <a:xfrm xmlns:a="http://schemas.openxmlformats.org/drawingml/2006/main">
            <a:off x="609600" y="11620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14300" tIns="76200" rIns="114300" bIns="76200" anchor="t">
            <a:normAutofit fontScale="79365"/>
          </a:bodyPr>
          <a:lstStyle xmlns:a="http://schemas.openxmlformats.org/drawingml/2006/main"/>
          <a:p xmlns:a="http://schemas.openxmlformats.org/drawingml/2006/main">
            <a:pPr algn="l">
              <a:lnSpc>
                <a:spcPct val="105000"/>
              </a:lnSpc>
              <a:buNone/>
              <a:defRPr sz="1350" b="0">
                <a:solidFill>
                  <a:srgbClr val="52606D"/>
                </a:solidFill>
                <a:latin typeface="Arial"/>
                <a:ea typeface="Arial"/>
                <a:cs typeface="Arial"/>
              </a:defRPr>
            </a:pPr>
            <a:r>
              <a:rPr sz="1350" b="0">
                <a:solidFill>
                  <a:srgbClr val="52606D"/>
                </a:solidFill>
                <a:latin typeface="Arial"/>
                <a:ea typeface="Arial"/>
                <a:cs typeface="Arial"/>
              </a:rPr>
              <a:t>This deck describes the current source tree. Runtime acceptance remains a separate, dated evidence question</a:t>
            </a:r>
          </a:p>
        </p:txBody>
      </p:sp>
      <p:sp>
        <p:nvSpPr>
          <p:cNvPr id="5" name="">
            <a:extLst xmlns:a="http://schemas.openxmlformats.org/drawingml/2006/main">
              <a:ext uri="{FF2B5EF4-FFF2-40B4-BE49-F238E27FC236}">
                <a16:creationId xmlns:a16="http://schemas.microsoft.com/office/drawing/2014/main" id="{926CD9CE-2413-40B6-A57F-639C5A0F65A8}"/>
              </a:ext>
            </a:extLst>
          </p:cNvPr>
          <p:cNvSpPr>
            <a:spLocks xmlns:a="http://schemas.openxmlformats.org/drawingml/2006/main" noGrp="1"/>
          </p:cNvSpPr>
          <p:nvPr/>
        </p:nvSpPr>
        <p:spPr>
          <a:xfrm xmlns:a="http://schemas.openxmlformats.org/drawingml/2006/main">
            <a:off x="609600" y="1885950"/>
            <a:ext cx="2857500" cy="304800"/>
          </a:xfrm>
          <a:prstGeom xmlns:a="http://schemas.openxmlformats.org/drawingml/2006/main" prst="roundRect">
            <a:avLst>
              <a:gd name="adj" fmla="val 37500"/>
            </a:avLst>
          </a:prstGeom>
          <a:solidFill xmlns:a="http://schemas.openxmlformats.org/drawingml/2006/main">
            <a:srgbClr val="FFF1E8"/>
          </a:solidFill>
          <a:ln xmlns:a="http://schemas.openxmlformats.org/drawingml/2006/main" w="9525">
            <a:solidFill>
              <a:srgbClr val="C2410C"/>
            </a:solidFill>
            <a:prstDash val="solid"/>
          </a:ln>
        </p:spPr>
        <p:txBody>
          <a:bodyPr xmlns:a="http://schemas.openxmlformats.org/drawingml/2006/main" lIns="76200" tIns="38100" rIns="76200" bIns="38100" anchor="ctr">
            <a:normAutofit fontScale="96205"/>
          </a:bodyPr>
          <a:lstStyle xmlns:a="http://schemas.openxmlformats.org/drawingml/2006/main"/>
          <a:p xmlns:a="http://schemas.openxmlformats.org/drawingml/2006/main">
            <a:pPr algn="ctr">
              <a:lnSpc>
                <a:spcPct val="105000"/>
              </a:lnSpc>
              <a:buNone/>
              <a:defRPr sz="1050" b="1">
                <a:solidFill>
                  <a:srgbClr val="C2410C"/>
                </a:solidFill>
                <a:latin typeface="Arial"/>
                <a:ea typeface="Arial"/>
                <a:cs typeface="Arial"/>
              </a:defRPr>
            </a:pPr>
            <a:r>
              <a:rPr sz="1050" b="1">
                <a:solidFill>
                  <a:srgbClr val="C2410C"/>
                </a:solidFill>
                <a:latin typeface="Arial"/>
                <a:ea typeface="Arial"/>
                <a:cs typeface="Arial"/>
              </a:rPr>
              <a:t>LATEST HANDOFF STATUS</a:t>
            </a:r>
          </a:p>
        </p:txBody>
      </p:sp>
      <p:sp>
        <p:nvSpPr>
          <p:cNvPr id="6" name="">
            <a:extLst xmlns:a="http://schemas.openxmlformats.org/drawingml/2006/main">
              <a:ext uri="{FF2B5EF4-FFF2-40B4-BE49-F238E27FC236}">
                <a16:creationId xmlns:a16="http://schemas.microsoft.com/office/drawing/2014/main" id="{0CE3119C-A1F8-4F37-855D-06F7F40B0BC1}"/>
              </a:ext>
            </a:extLst>
          </p:cNvPr>
          <p:cNvSpPr>
            <a:spLocks xmlns:a="http://schemas.openxmlformats.org/drawingml/2006/main" noGrp="1"/>
          </p:cNvSpPr>
          <p:nvPr/>
        </p:nvSpPr>
        <p:spPr>
          <a:xfrm xmlns:a="http://schemas.openxmlformats.org/drawingml/2006/main">
            <a:off x="723900" y="2333625"/>
            <a:ext cx="5143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marL="228600" indent="-114300" algn="l">
              <a:lnSpc>
                <a:spcPct val="108000"/>
              </a:lnSpc>
              <a:spcAft>
                <a:spcPts val="600"/>
              </a:spcAft>
              <a:buNone/>
              <a:defRPr sz="1275" b="0">
                <a:solidFill>
                  <a:srgbClr val="142735"/>
                </a:solidFill>
                <a:latin typeface="Arial"/>
                <a:ea typeface="Arial"/>
                <a:cs typeface="Arial"/>
              </a:defRPr>
            </a:pPr>
            <a:r>
              <a:rPr sz="1275" b="0">
                <a:solidFill>
                  <a:srgbClr val="142735"/>
                </a:solidFill>
                <a:latin typeface="Arial"/>
                <a:ea typeface="Arial"/>
                <a:cs typeface="Arial"/>
              </a:rPr>
              <a:t>Native41 AMCL private Product A proof is recorded as passed</a:t>
            </a:r>
          </a:p>
          <a:p xmlns:a="http://schemas.openxmlformats.org/drawingml/2006/main">
            <a:pPr marL="228600" indent="-114300" algn="l">
              <a:lnSpc>
                <a:spcPct val="108000"/>
              </a:lnSpc>
              <a:spcAft>
                <a:spcPts val="600"/>
              </a:spcAft>
              <a:buNone/>
              <a:defRPr sz="1275" b="0">
                <a:solidFill>
                  <a:srgbClr val="142735"/>
                </a:solidFill>
                <a:latin typeface="Arial"/>
                <a:ea typeface="Arial"/>
                <a:cs typeface="Arial"/>
              </a:defRPr>
            </a:pPr>
            <a:r>
              <a:rPr sz="1275" b="0">
                <a:solidFill>
                  <a:srgbClr val="142735"/>
                </a:solidFill>
                <a:latin typeface="Arial"/>
                <a:ea typeface="Arial"/>
                <a:cs typeface="Arial"/>
              </a:rPr>
              <a:t>Product B, return-home, strict/final acceptance and teardown remain pending</a:t>
            </a:r>
          </a:p>
          <a:p xmlns:a="http://schemas.openxmlformats.org/drawingml/2006/main">
            <a:pPr marL="228600" indent="-114300" algn="l">
              <a:lnSpc>
                <a:spcPct val="108000"/>
              </a:lnSpc>
              <a:spcAft>
                <a:spcPts val="600"/>
              </a:spcAft>
              <a:buNone/>
              <a:defRPr sz="1275" b="0">
                <a:solidFill>
                  <a:srgbClr val="142735"/>
                </a:solidFill>
                <a:latin typeface="Arial"/>
                <a:ea typeface="Arial"/>
                <a:cs typeface="Arial"/>
              </a:defRPr>
            </a:pPr>
            <a:r>
              <a:rPr sz="1275" b="0">
                <a:solidFill>
                  <a:srgbClr val="142735"/>
                </a:solidFill>
                <a:latin typeface="Arial"/>
                <a:ea typeface="Arial"/>
                <a:cs typeface="Arial"/>
              </a:rPr>
              <a:t>Functional recovery comes before later stability tuning</a:t>
            </a:r>
          </a:p>
          <a:p xmlns:a="http://schemas.openxmlformats.org/drawingml/2006/main">
            <a:pPr marL="228600" indent="-114300" algn="l">
              <a:lnSpc>
                <a:spcPct val="108000"/>
              </a:lnSpc>
              <a:spcAft>
                <a:spcPts val="600"/>
              </a:spcAft>
              <a:buNone/>
              <a:defRPr sz="1275" b="0">
                <a:solidFill>
                  <a:srgbClr val="142735"/>
                </a:solidFill>
                <a:latin typeface="Arial"/>
                <a:ea typeface="Arial"/>
                <a:cs typeface="Arial"/>
              </a:defRPr>
            </a:pPr>
            <a:r>
              <a:rPr sz="1275" b="0">
                <a:solidFill>
                  <a:srgbClr val="142735"/>
                </a:solidFill>
                <a:latin typeface="Arial"/>
                <a:ea typeface="Arial"/>
                <a:cs typeface="Arial"/>
              </a:rPr>
              <a:t>Product 103, Gate 7, hardware and functional-safety acceptance remain excluded</a:t>
            </a:r>
          </a:p>
        </p:txBody>
      </p:sp>
      <p:sp>
        <p:nvSpPr>
          <p:cNvPr id="7" name="">
            <a:extLst xmlns:a="http://schemas.openxmlformats.org/drawingml/2006/main">
              <a:ext uri="{FF2B5EF4-FFF2-40B4-BE49-F238E27FC236}">
                <a16:creationId xmlns:a16="http://schemas.microsoft.com/office/drawing/2014/main" id="{477B8378-33D0-4B64-9F14-45EF2C1179EC}"/>
              </a:ext>
            </a:extLst>
          </p:cNvPr>
          <p:cNvSpPr>
            <a:spLocks xmlns:a="http://schemas.openxmlformats.org/drawingml/2006/main" noGrp="1"/>
          </p:cNvSpPr>
          <p:nvPr/>
        </p:nvSpPr>
        <p:spPr>
          <a:xfrm xmlns:a="http://schemas.openxmlformats.org/drawingml/2006/main">
            <a:off x="6477000" y="1885950"/>
            <a:ext cx="2857500" cy="304800"/>
          </a:xfrm>
          <a:prstGeom xmlns:a="http://schemas.openxmlformats.org/drawingml/2006/main" prst="roundRect">
            <a:avLst>
              <a:gd name="adj" fmla="val 37500"/>
            </a:avLst>
          </a:prstGeom>
          <a:solidFill xmlns:a="http://schemas.openxmlformats.org/drawingml/2006/main">
            <a:srgbClr val="EAF2FF"/>
          </a:solidFill>
          <a:ln xmlns:a="http://schemas.openxmlformats.org/drawingml/2006/main" w="9525">
            <a:solidFill>
              <a:srgbClr val="1D4ED8"/>
            </a:solidFill>
            <a:prstDash val="solid"/>
          </a:ln>
        </p:spPr>
        <p:txBody>
          <a:bodyPr xmlns:a="http://schemas.openxmlformats.org/drawingml/2006/main" lIns="76200" tIns="38100" rIns="76200" bIns="38100" anchor="ctr">
            <a:normAutofit fontScale="96205"/>
          </a:bodyPr>
          <a:lstStyle xmlns:a="http://schemas.openxmlformats.org/drawingml/2006/main"/>
          <a:p xmlns:a="http://schemas.openxmlformats.org/drawingml/2006/main">
            <a:pPr algn="ctr">
              <a:lnSpc>
                <a:spcPct val="105000"/>
              </a:lnSpc>
              <a:buNone/>
              <a:defRPr sz="1050" b="1">
                <a:solidFill>
                  <a:srgbClr val="1D4ED8"/>
                </a:solidFill>
                <a:latin typeface="Arial"/>
                <a:ea typeface="Arial"/>
                <a:cs typeface="Arial"/>
              </a:defRPr>
            </a:pPr>
            <a:r>
              <a:rPr sz="1050" b="1">
                <a:solidFill>
                  <a:srgbClr val="1D4ED8"/>
                </a:solidFill>
                <a:latin typeface="Arial"/>
                <a:ea typeface="Arial"/>
                <a:cs typeface="Arial"/>
              </a:rPr>
              <a:t>FACTS USED IN THIS DECK</a:t>
            </a:r>
          </a:p>
        </p:txBody>
      </p:sp>
      <p:sp>
        <p:nvSpPr>
          <p:cNvPr id="8" name="">
            <a:extLst xmlns:a="http://schemas.openxmlformats.org/drawingml/2006/main">
              <a:ext uri="{FF2B5EF4-FFF2-40B4-BE49-F238E27FC236}">
                <a16:creationId xmlns:a16="http://schemas.microsoft.com/office/drawing/2014/main" id="{C0310D0E-8020-4C6B-BE39-70AEBF796D61}"/>
              </a:ext>
            </a:extLst>
          </p:cNvPr>
          <p:cNvSpPr>
            <a:spLocks xmlns:a="http://schemas.openxmlformats.org/drawingml/2006/main" noGrp="1"/>
          </p:cNvSpPr>
          <p:nvPr/>
        </p:nvSpPr>
        <p:spPr>
          <a:xfrm xmlns:a="http://schemas.openxmlformats.org/drawingml/2006/main">
            <a:off x="6591300" y="2333625"/>
            <a:ext cx="47625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Current planner config: SmacPlannerLattice plus project precision plugins</a:t>
            </a:r>
          </a:p>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Current inflation radius: 0.75 m in planner and controller costmaps</a:t>
            </a:r>
          </a:p>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Historical report values such as NavFn and 0.55 m are labeled historical</a:t>
            </a:r>
          </a:p>
          <a:p xmlns:a="http://schemas.openxmlformats.org/drawingml/2006/main">
            <a:pPr marL="228600" indent="-114300" algn="l">
              <a:lnSpc>
                <a:spcPct val="108000"/>
              </a:lnSpc>
              <a:spcAft>
                <a:spcPts val="600"/>
              </a:spcAft>
              <a:buNone/>
              <a:defRPr sz="1200" b="0">
                <a:solidFill>
                  <a:srgbClr val="142735"/>
                </a:solidFill>
                <a:latin typeface="Arial"/>
                <a:ea typeface="Arial"/>
                <a:cs typeface="Arial"/>
              </a:defRPr>
            </a:pPr>
            <a:r>
              <a:rPr sz="1200" b="0">
                <a:solidFill>
                  <a:srgbClr val="142735"/>
                </a:solidFill>
                <a:latin typeface="Arial"/>
                <a:ea typeface="Arial"/>
                <a:cs typeface="Arial"/>
              </a:rPr>
              <a:t>This presentation is a separate artifact, not an operator authority document</a:t>
            </a:r>
          </a:p>
        </p:txBody>
      </p:sp>
      <p:sp>
        <p:nvSpPr>
          <p:cNvPr id="9" name="">
            <a:extLst xmlns:a="http://schemas.openxmlformats.org/drawingml/2006/main">
              <a:ext uri="{FF2B5EF4-FFF2-40B4-BE49-F238E27FC236}">
                <a16:creationId xmlns:a16="http://schemas.microsoft.com/office/drawing/2014/main" id="{E9AC2D89-E0BD-432C-8924-BF128423880B}"/>
              </a:ext>
            </a:extLst>
          </p:cNvPr>
          <p:cNvSpPr>
            <a:spLocks xmlns:a="http://schemas.openxmlformats.org/drawingml/2006/main" noGrp="1"/>
          </p:cNvSpPr>
          <p:nvPr/>
        </p:nvSpPr>
        <p:spPr>
          <a:xfrm xmlns:a="http://schemas.openxmlformats.org/drawingml/2006/main">
            <a:off x="609600" y="4686300"/>
            <a:ext cx="51435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114300" tIns="76200" rIns="114300" bIns="76200" anchor="t">
            <a:normAutofit fontScale="96094"/>
          </a:bodyPr>
          <a:lstStyle xmlns:a="http://schemas.openxmlformats.org/drawingml/2006/main"/>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Verified anchors</a:t>
            </a:r>
          </a:p>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src/amr_navigation/config/planner.yaml</a:t>
            </a:r>
          </a:p>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src/amr_mpc_controller/config/controller.yaml</a:t>
            </a:r>
          </a:p>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src/amr_slam/config/mapper.yaml</a:t>
            </a:r>
          </a:p>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src/amr_localization/config/ekf.yaml</a:t>
            </a:r>
          </a:p>
          <a:p xmlns:a="http://schemas.openxmlformats.org/drawingml/2006/main">
            <a:pPr algn="l">
              <a:lnSpc>
                <a:spcPct val="105000"/>
              </a:lnSpc>
              <a:buNone/>
              <a:defRPr sz="1125" b="1">
                <a:solidFill>
                  <a:srgbClr val="142735"/>
                </a:solidFill>
                <a:latin typeface="Arial"/>
                <a:ea typeface="Arial"/>
                <a:cs typeface="Arial"/>
              </a:defRPr>
            </a:pPr>
            <a:r>
              <a:rPr sz="1125" b="1">
                <a:solidFill>
                  <a:srgbClr val="142735"/>
                </a:solidFill>
                <a:latin typeface="Arial"/>
                <a:ea typeface="Arial"/>
                <a:cs typeface="Arial"/>
              </a:rPr>
              <a:t>src/amr_bringup/config/interface_ownership.yaml</a:t>
            </a:r>
          </a:p>
        </p:txBody>
      </p:sp>
      <p:sp>
        <p:nvSpPr>
          <p:cNvPr id="10" name="">
            <a:extLst xmlns:a="http://schemas.openxmlformats.org/drawingml/2006/main">
              <a:ext uri="{FF2B5EF4-FFF2-40B4-BE49-F238E27FC236}">
                <a16:creationId xmlns:a16="http://schemas.microsoft.com/office/drawing/2014/main" id="{1973A413-0007-40EA-9CA7-DE7F146FFA7D}"/>
              </a:ext>
            </a:extLst>
          </p:cNvPr>
          <p:cNvSpPr>
            <a:spLocks xmlns:a="http://schemas.openxmlformats.org/drawingml/2006/main" noGrp="1"/>
          </p:cNvSpPr>
          <p:nvPr/>
        </p:nvSpPr>
        <p:spPr>
          <a:xfrm xmlns:a="http://schemas.openxmlformats.org/drawingml/2006/main">
            <a:off x="6477000" y="4686300"/>
            <a:ext cx="4953000" cy="1257300"/>
          </a:xfrm>
          <a:prstGeom xmlns:a="http://schemas.openxmlformats.org/drawingml/2006/main" prst="roundRect">
            <a:avLst>
              <a:gd name="adj" fmla="val 9091"/>
            </a:avLst>
          </a:prstGeom>
          <a:solidFill xmlns:a="http://schemas.openxmlformats.org/drawingml/2006/main">
            <a:srgbClr val="0F172A"/>
          </a:solidFill>
          <a:ln xmlns:a="http://schemas.openxmlformats.org/drawingml/2006/main" w="0">
            <a:solidFill>
              <a:srgbClr val="0F172A"/>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5000"/>
              </a:lnSpc>
              <a:buNone/>
              <a:defRPr sz="1425" b="1">
                <a:solidFill>
                  <a:srgbClr val="FFFFFF"/>
                </a:solidFill>
                <a:latin typeface="Arial"/>
                <a:ea typeface="Arial"/>
                <a:cs typeface="Arial"/>
              </a:defRPr>
            </a:pPr>
            <a:r>
              <a:rPr sz="1425" b="1">
                <a:solidFill>
                  <a:srgbClr val="FFFFFF"/>
                </a:solidFill>
                <a:latin typeface="Arial"/>
                <a:ea typeface="Arial"/>
                <a:cs typeface="Arial"/>
              </a:rPr>
              <a:t>Use the dated SESSION_HANDOFF and live runtime evidence for acceptance claims.</a:t>
            </a:r>
          </a:p>
          <a:p xmlns:a="http://schemas.openxmlformats.org/drawingml/2006/main">
            <a:pPr algn="ctr">
              <a:lnSpc>
                <a:spcPct val="105000"/>
              </a:lnSpc>
              <a:buNone/>
              <a:defRPr sz="1425" b="1">
                <a:solidFill>
                  <a:srgbClr val="FFFFFF"/>
                </a:solidFill>
                <a:latin typeface="Arial"/>
                <a:ea typeface="Arial"/>
                <a:cs typeface="Arial"/>
              </a:defRPr>
            </a:pPr>
            <a:r>
              <a:rPr sz="1425" b="1">
                <a:solidFill>
                  <a:srgbClr val="FFFFFF"/>
                </a:solidFill>
                <a:latin typeface="Arial"/>
                <a:ea typeface="Arial"/>
                <a:cs typeface="Arial"/>
              </a:rPr>
              <a:t>Use this deck for architecture, interfaces and current implementation behavior.</a:t>
            </a:r>
          </a:p>
        </p:txBody>
      </p:sp>
      <p:sp>
        <p:nvSpPr>
          <p:cNvPr id="11" name="">
            <a:extLst xmlns:a="http://schemas.openxmlformats.org/drawingml/2006/main">
              <a:ext uri="{FF2B5EF4-FFF2-40B4-BE49-F238E27FC236}">
                <a16:creationId xmlns:a16="http://schemas.microsoft.com/office/drawing/2014/main" id="{605F257B-983C-4921-86AD-6FFFCE7DF99C}"/>
              </a:ext>
            </a:extLst>
          </p:cNvPr>
          <p:cNvSpPr>
            <a:spLocks xmlns:a="http://schemas.openxmlformats.org/drawingml/2006/main" noGrp="1"/>
          </p:cNvSpPr>
          <p:nvPr/>
        </p:nvSpPr>
        <p:spPr>
          <a:xfrm xmlns:a="http://schemas.openxmlformats.org/drawingml/2006/main">
            <a:off x="533400" y="6543675"/>
            <a:ext cx="1009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94A3B8"/>
                </a:solidFill>
                <a:latin typeface="Arial"/>
                <a:ea typeface="Arial"/>
                <a:cs typeface="Arial"/>
              </a:defRPr>
            </a:pPr>
            <a:r>
              <a:rPr sz="750" b="0">
                <a:solidFill>
                  <a:srgbClr val="94A3B8"/>
                </a:solidFill>
                <a:latin typeface="Arial"/>
                <a:ea typeface="Arial"/>
                <a:cs typeface="Arial"/>
              </a:rPr>
              <a:t>Source: SESSION_HANDOFF.md (2026-10-04); current source configuration files; prior presentation audit</a:t>
            </a:r>
          </a:p>
        </p:txBody>
      </p:sp>
      <p:sp>
        <p:nvSpPr>
          <p:cNvPr id="12" name="">
            <a:extLst xmlns:a="http://schemas.openxmlformats.org/drawingml/2006/main">
              <a:ext uri="{FF2B5EF4-FFF2-40B4-BE49-F238E27FC236}">
                <a16:creationId xmlns:a16="http://schemas.microsoft.com/office/drawing/2014/main" id="{014FCF04-6B99-476A-9360-5C826D8058A5}"/>
              </a:ext>
            </a:extLst>
          </p:cNvPr>
          <p:cNvSpPr>
            <a:spLocks xmlns:a="http://schemas.openxmlformats.org/drawingml/2006/main" noGrp="1"/>
          </p:cNvSpPr>
          <p:nvPr/>
        </p:nvSpPr>
        <p:spPr>
          <a:xfrm xmlns:a="http://schemas.openxmlformats.org/drawingml/2006/main">
            <a:off x="11191875" y="65151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1">
                <a:solidFill>
                  <a:srgbClr val="1D4ED8"/>
                </a:solidFill>
                <a:latin typeface="Arial"/>
                <a:ea typeface="Arial"/>
                <a:cs typeface="Arial"/>
              </a:defRPr>
            </a:pPr>
            <a:r>
              <a:rPr sz="825" b="1">
                <a:solidFill>
                  <a:srgbClr val="1D4ED8"/>
                </a:solidFill>
                <a:latin typeface="Arial"/>
                <a:ea typeface="Arial"/>
                <a:cs typeface="Arial"/>
              </a:rPr>
              <a:t>19</a:t>
            </a:r>
          </a:p>
        </p:txBody>
      </p:sp>
    </p:spTree>
    <p:extLst>
      <p:ext uri="{BB962C8B-B14F-4D97-AF65-F5344CB8AC3E}">
        <p14:creationId xmlns:p14="http://schemas.microsoft.com/office/powerpoint/2010/main" val="11257977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2026-10-04T12:24:43.7450000Z</dcterms:created>
  <dcterms:modified xsi:type="dcterms:W3CDTF">2026-10-04T12:24:43.7450000Z</dcterms:modified>
</coreProperties>
</file>